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g38b4a324912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g38b4a324912_0_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g38b4a324912_0_2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b4a324912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8b4a324912_0_2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8b4a324912_0_2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8b4a32491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8b4a32491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8b4a32491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8b4a324912_0_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38b4a324912_0_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g38b4a324912_0_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8b4a324912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g38b4a324912_0_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g38b4a324912_0_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jpg"/><Relationship Id="rId4"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5" name="Shape 15"/>
        <p:cNvGrpSpPr/>
        <p:nvPr/>
      </p:nvGrpSpPr>
      <p:grpSpPr>
        <a:xfrm>
          <a:off x="0" y="0"/>
          <a:ext cx="0" cy="0"/>
          <a:chOff x="0" y="0"/>
          <a:chExt cx="0" cy="0"/>
        </a:xfrm>
      </p:grpSpPr>
      <p:pic>
        <p:nvPicPr>
          <p:cNvPr descr="/home/claude/logo.png" id="16" name="Google Shape;16;p3"/>
          <p:cNvPicPr preferRelativeResize="0"/>
          <p:nvPr/>
        </p:nvPicPr>
        <p:blipFill rotWithShape="1">
          <a:blip r:embed="rId3">
            <a:alphaModFix/>
          </a:blip>
          <a:srcRect b="0" l="0" r="0" t="0"/>
          <a:stretch/>
        </p:blipFill>
        <p:spPr>
          <a:xfrm>
            <a:off x="3429000" y="457200"/>
            <a:ext cx="2286000" cy="2212848"/>
          </a:xfrm>
          <a:prstGeom prst="rect">
            <a:avLst/>
          </a:prstGeom>
          <a:noFill/>
          <a:ln>
            <a:noFill/>
          </a:ln>
        </p:spPr>
      </p:pic>
      <p:sp>
        <p:nvSpPr>
          <p:cNvPr id="17" name="Google Shape;17;p3"/>
          <p:cNvSpPr/>
          <p:nvPr/>
        </p:nvSpPr>
        <p:spPr>
          <a:xfrm>
            <a:off x="457200" y="2834640"/>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Georgia"/>
              <a:buNone/>
            </a:pPr>
            <a:r>
              <a:rPr b="1" lang="en-US" sz="4200">
                <a:solidFill>
                  <a:srgbClr val="FFFFFF"/>
                </a:solidFill>
                <a:latin typeface="Georgia"/>
                <a:ea typeface="Georgia"/>
                <a:cs typeface="Georgia"/>
                <a:sym typeface="Georgia"/>
              </a:rPr>
              <a:t>Cygnus Med </a:t>
            </a:r>
            <a:r>
              <a:rPr b="1" i="0" lang="en-US" sz="4200" u="none" cap="none" strike="noStrike">
                <a:solidFill>
                  <a:srgbClr val="FFFFFF"/>
                </a:solidFill>
                <a:latin typeface="Georgia"/>
                <a:ea typeface="Georgia"/>
                <a:cs typeface="Georgia"/>
                <a:sym typeface="Georgia"/>
              </a:rPr>
              <a:t>AI Internship</a:t>
            </a:r>
            <a:endParaRPr b="0" i="0" sz="4200" u="none" cap="none" strike="noStrike">
              <a:solidFill>
                <a:schemeClr val="dk1"/>
              </a:solidFill>
              <a:latin typeface="Calibri"/>
              <a:ea typeface="Calibri"/>
              <a:cs typeface="Calibri"/>
              <a:sym typeface="Calibri"/>
            </a:endParaRPr>
          </a:p>
        </p:txBody>
      </p:sp>
      <p:sp>
        <p:nvSpPr>
          <p:cNvPr id="18" name="Google Shape;18;p3"/>
          <p:cNvSpPr/>
          <p:nvPr/>
        </p:nvSpPr>
        <p:spPr>
          <a:xfrm>
            <a:off x="457200" y="3657600"/>
            <a:ext cx="82296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Internship Roadmap &amp; System Architecture</a:t>
            </a:r>
            <a:endParaRPr b="0" i="0" sz="1800" u="none" cap="none" strike="noStrike">
              <a:solidFill>
                <a:schemeClr val="dk1"/>
              </a:solidFill>
              <a:latin typeface="Calibri"/>
              <a:ea typeface="Calibri"/>
              <a:cs typeface="Calibri"/>
              <a:sym typeface="Calibri"/>
            </a:endParaRPr>
          </a:p>
        </p:txBody>
      </p:sp>
      <p:sp>
        <p:nvSpPr>
          <p:cNvPr id="19" name="Google Shape;19;p3"/>
          <p:cNvSpPr/>
          <p:nvPr/>
        </p:nvSpPr>
        <p:spPr>
          <a:xfrm>
            <a:off x="0" y="4572000"/>
            <a:ext cx="9144000" cy="571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4" name="Shape 24"/>
        <p:cNvGrpSpPr/>
        <p:nvPr/>
      </p:nvGrpSpPr>
      <p:grpSpPr>
        <a:xfrm>
          <a:off x="0" y="0"/>
          <a:ext cx="0" cy="0"/>
          <a:chOff x="0" y="0"/>
          <a:chExt cx="0" cy="0"/>
        </a:xfrm>
      </p:grpSpPr>
      <p:sp>
        <p:nvSpPr>
          <p:cNvPr id="25" name="Google Shape;25;p4"/>
          <p:cNvSpPr/>
          <p:nvPr/>
        </p:nvSpPr>
        <p:spPr>
          <a:xfrm>
            <a:off x="365760" y="320040"/>
            <a:ext cx="73200" cy="5028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548640" y="274320"/>
            <a:ext cx="7772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lang="en-US" sz="2600">
                <a:solidFill>
                  <a:srgbClr val="990000"/>
                </a:solidFill>
                <a:latin typeface="Georgia"/>
                <a:ea typeface="Georgia"/>
                <a:cs typeface="Georgia"/>
                <a:sym typeface="Georgia"/>
              </a:rPr>
              <a:t>Introduction</a:t>
            </a:r>
            <a:endParaRPr b="0" i="0" sz="2600" u="none" cap="none" strike="noStrike">
              <a:solidFill>
                <a:schemeClr val="dk1"/>
              </a:solidFill>
              <a:latin typeface="Calibri"/>
              <a:ea typeface="Calibri"/>
              <a:cs typeface="Calibri"/>
              <a:sym typeface="Calibri"/>
            </a:endParaRPr>
          </a:p>
        </p:txBody>
      </p:sp>
      <p:sp>
        <p:nvSpPr>
          <p:cNvPr id="27" name="Google Shape;27;p4"/>
          <p:cNvSpPr/>
          <p:nvPr/>
        </p:nvSpPr>
        <p:spPr>
          <a:xfrm>
            <a:off x="0" y="4709160"/>
            <a:ext cx="9144000" cy="434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457200" y="4709160"/>
            <a:ext cx="4572000" cy="43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29" name="Google Shape;29;p4"/>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30" name="Google Shape;30;p4"/>
          <p:cNvSpPr/>
          <p:nvPr/>
        </p:nvSpPr>
        <p:spPr>
          <a:xfrm>
            <a:off x="365750" y="937500"/>
            <a:ext cx="6086400" cy="36987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457200" y="1034775"/>
            <a:ext cx="5954400" cy="3256500"/>
          </a:xfrm>
          <a:prstGeom prst="rect">
            <a:avLst/>
          </a:prstGeom>
          <a:noFill/>
          <a:ln>
            <a:noFill/>
          </a:ln>
        </p:spPr>
        <p:txBody>
          <a:bodyPr anchorCtr="0" anchor="t" bIns="0" lIns="0" spcFirstLastPara="1" rIns="0" wrap="square" tIns="0">
            <a:noAutofit/>
          </a:bodyPr>
          <a:lstStyle/>
          <a:p>
            <a:pPr indent="0" lvl="0" marL="0" marR="0" rtl="0" algn="l">
              <a:spcBef>
                <a:spcPts val="600"/>
              </a:spcBef>
              <a:spcAft>
                <a:spcPts val="0"/>
              </a:spcAft>
              <a:buNone/>
            </a:pPr>
            <a:r>
              <a:rPr b="1" lang="en-US" sz="1050">
                <a:solidFill>
                  <a:srgbClr val="333333"/>
                </a:solidFill>
              </a:rPr>
              <a:t>Academics :</a:t>
            </a:r>
            <a:endParaRPr b="1" sz="1050">
              <a:solidFill>
                <a:srgbClr val="333333"/>
              </a:solidFill>
            </a:endParaRPr>
          </a:p>
          <a:p>
            <a:pPr indent="-295275" lvl="0" marL="457200" marR="0" rtl="0" algn="l">
              <a:spcBef>
                <a:spcPts val="600"/>
              </a:spcBef>
              <a:spcAft>
                <a:spcPts val="0"/>
              </a:spcAft>
              <a:buClr>
                <a:srgbClr val="333333"/>
              </a:buClr>
              <a:buSzPts val="1050"/>
              <a:buChar char="-"/>
            </a:pPr>
            <a:r>
              <a:rPr lang="en-US" sz="1050">
                <a:solidFill>
                  <a:srgbClr val="333333"/>
                </a:solidFill>
              </a:rPr>
              <a:t>Masters in AI Systems From NUS-ISS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Bachelors</a:t>
            </a:r>
            <a:r>
              <a:rPr lang="en-US" sz="1050">
                <a:solidFill>
                  <a:srgbClr val="333333"/>
                </a:solidFill>
              </a:rPr>
              <a:t> in Data Science from IIT Madras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Bachelors in Mechanical Engineering and Robotics from BITS Pilani</a:t>
            </a:r>
            <a:endParaRPr sz="1050">
              <a:solidFill>
                <a:srgbClr val="333333"/>
              </a:solidFill>
            </a:endParaRPr>
          </a:p>
          <a:p>
            <a:pPr indent="0" lvl="0" marL="0" marR="0" rtl="0" algn="l">
              <a:spcBef>
                <a:spcPts val="600"/>
              </a:spcBef>
              <a:spcAft>
                <a:spcPts val="0"/>
              </a:spcAft>
              <a:buNone/>
            </a:pPr>
            <a:r>
              <a:rPr b="1" lang="en-US" sz="1050">
                <a:solidFill>
                  <a:srgbClr val="333333"/>
                </a:solidFill>
              </a:rPr>
              <a:t>Job Experience :</a:t>
            </a:r>
            <a:endParaRPr b="1" sz="1050">
              <a:solidFill>
                <a:srgbClr val="333333"/>
              </a:solidFill>
            </a:endParaRPr>
          </a:p>
          <a:p>
            <a:pPr indent="-295275" lvl="0" marL="457200" marR="0" rtl="0" algn="l">
              <a:spcBef>
                <a:spcPts val="600"/>
              </a:spcBef>
              <a:spcAft>
                <a:spcPts val="0"/>
              </a:spcAft>
              <a:buClr>
                <a:srgbClr val="333333"/>
              </a:buClr>
              <a:buSzPts val="1050"/>
              <a:buChar char="-"/>
            </a:pPr>
            <a:r>
              <a:rPr lang="en-US" sz="1050">
                <a:solidFill>
                  <a:srgbClr val="333333"/>
                </a:solidFill>
              </a:rPr>
              <a:t>Computer Vision Engineer Intern at Hertztech (6 months)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Data Science Intern at Uber (8 Months)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AI Engineer at Deloitte (2.5 years)</a:t>
            </a:r>
            <a:endParaRPr sz="1050">
              <a:solidFill>
                <a:srgbClr val="333333"/>
              </a:solidFill>
            </a:endParaRPr>
          </a:p>
          <a:p>
            <a:pPr indent="0" lvl="0" marL="0" marR="0" rtl="0" algn="l">
              <a:spcBef>
                <a:spcPts val="600"/>
              </a:spcBef>
              <a:spcAft>
                <a:spcPts val="0"/>
              </a:spcAft>
              <a:buNone/>
            </a:pPr>
            <a:r>
              <a:rPr b="1" lang="en-US" sz="1050">
                <a:solidFill>
                  <a:srgbClr val="333333"/>
                </a:solidFill>
              </a:rPr>
              <a:t>Relevant</a:t>
            </a:r>
            <a:r>
              <a:rPr b="1" lang="en-US" sz="1050">
                <a:solidFill>
                  <a:srgbClr val="333333"/>
                </a:solidFill>
              </a:rPr>
              <a:t> Projects :</a:t>
            </a:r>
            <a:endParaRPr b="1" sz="1050">
              <a:solidFill>
                <a:srgbClr val="333333"/>
              </a:solidFill>
            </a:endParaRPr>
          </a:p>
          <a:p>
            <a:pPr indent="-295275" lvl="0" marL="457200" marR="0" rtl="0" algn="l">
              <a:spcBef>
                <a:spcPts val="600"/>
              </a:spcBef>
              <a:spcAft>
                <a:spcPts val="0"/>
              </a:spcAft>
              <a:buClr>
                <a:srgbClr val="333333"/>
              </a:buClr>
              <a:buSzPts val="1050"/>
              <a:buChar char="-"/>
            </a:pPr>
            <a:r>
              <a:rPr lang="en-US" sz="1050">
                <a:solidFill>
                  <a:srgbClr val="333333"/>
                </a:solidFill>
              </a:rPr>
              <a:t>Heart Disease Detection from ECG using Deep Learning and Signal Processing.</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Surgical Assistant assisting surgeons live during surgery, analysing video frames using computer vision and deep learning to identify different phases of surgery,tools used, organs involved etc and then using LLM to analyse the details, find any </a:t>
            </a:r>
            <a:r>
              <a:rPr lang="en-US" sz="1050">
                <a:solidFill>
                  <a:srgbClr val="333333"/>
                </a:solidFill>
              </a:rPr>
              <a:t>anomalies</a:t>
            </a:r>
            <a:r>
              <a:rPr lang="en-US" sz="1050">
                <a:solidFill>
                  <a:srgbClr val="333333"/>
                </a:solidFill>
              </a:rPr>
              <a:t> and then provide live </a:t>
            </a:r>
            <a:r>
              <a:rPr lang="en-US" sz="1050">
                <a:solidFill>
                  <a:srgbClr val="333333"/>
                </a:solidFill>
              </a:rPr>
              <a:t>assistance</a:t>
            </a:r>
            <a:r>
              <a:rPr lang="en-US" sz="1050">
                <a:solidFill>
                  <a:srgbClr val="333333"/>
                </a:solidFill>
              </a:rPr>
              <a:t> to the surgeons.</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Built a system to assist customer care agents live during call with customer using AWS Bedrock LLMs and AWS Transcribe and Depolyed solution on AWS Cloud.</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Customer Churn Analysis and Formulating Reengagement Strategies using ML at Uber.</a:t>
            </a:r>
            <a:endParaRPr sz="1050">
              <a:solidFill>
                <a:srgbClr val="333333"/>
              </a:solidFill>
            </a:endParaRPr>
          </a:p>
          <a:p>
            <a:pPr indent="-295275" lvl="0" marL="457200" marR="0" rtl="0" algn="l">
              <a:spcBef>
                <a:spcPts val="0"/>
              </a:spcBef>
              <a:spcAft>
                <a:spcPts val="0"/>
              </a:spcAft>
              <a:buClr>
                <a:srgbClr val="333333"/>
              </a:buClr>
              <a:buSzPts val="1050"/>
              <a:buChar char="-"/>
            </a:pPr>
            <a:r>
              <a:rPr lang="en-US" sz="1050">
                <a:solidFill>
                  <a:srgbClr val="333333"/>
                </a:solidFill>
              </a:rPr>
              <a:t>Identifying Fraudulent Refund Requests from customers using Advanced ML Techniques at Uber Eats. </a:t>
            </a:r>
            <a:endParaRPr sz="1050">
              <a:solidFill>
                <a:srgbClr val="333333"/>
              </a:solidFill>
            </a:endParaRPr>
          </a:p>
          <a:p>
            <a:pPr indent="0" lvl="0" marL="0" marR="0" rtl="0" algn="l">
              <a:spcBef>
                <a:spcPts val="600"/>
              </a:spcBef>
              <a:spcAft>
                <a:spcPts val="0"/>
              </a:spcAft>
              <a:buNone/>
            </a:pPr>
            <a:r>
              <a:t/>
            </a:r>
            <a:endParaRPr sz="1050">
              <a:solidFill>
                <a:srgbClr val="333333"/>
              </a:solidFill>
            </a:endParaRPr>
          </a:p>
        </p:txBody>
      </p:sp>
      <p:pic>
        <p:nvPicPr>
          <p:cNvPr id="32" name="Google Shape;32;p4" title="Screenshot 2026-04-10 at 10.33.16 AM.png"/>
          <p:cNvPicPr preferRelativeResize="0"/>
          <p:nvPr/>
        </p:nvPicPr>
        <p:blipFill>
          <a:blip r:embed="rId4">
            <a:alphaModFix/>
          </a:blip>
          <a:stretch>
            <a:fillRect/>
          </a:stretch>
        </p:blipFill>
        <p:spPr>
          <a:xfrm>
            <a:off x="6868150" y="274325"/>
            <a:ext cx="1715300" cy="1719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37" name="Shape 37"/>
        <p:cNvGrpSpPr/>
        <p:nvPr/>
      </p:nvGrpSpPr>
      <p:grpSpPr>
        <a:xfrm>
          <a:off x="0" y="0"/>
          <a:ext cx="0" cy="0"/>
          <a:chOff x="0" y="0"/>
          <a:chExt cx="0" cy="0"/>
        </a:xfrm>
      </p:grpSpPr>
      <p:sp>
        <p:nvSpPr>
          <p:cNvPr id="38" name="Google Shape;38;p5"/>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Four Core Tasks</a:t>
            </a:r>
            <a:endParaRPr b="0" i="0" sz="2600" u="none" cap="none" strike="noStrike">
              <a:solidFill>
                <a:schemeClr val="dk1"/>
              </a:solidFill>
              <a:latin typeface="Calibri"/>
              <a:ea typeface="Calibri"/>
              <a:cs typeface="Calibri"/>
              <a:sym typeface="Calibri"/>
            </a:endParaRPr>
          </a:p>
        </p:txBody>
      </p:sp>
      <p:sp>
        <p:nvSpPr>
          <p:cNvPr id="40" name="Google Shape;40;p5"/>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42" name="Google Shape;42;p5"/>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43" name="Google Shape;43;p5"/>
          <p:cNvSpPr/>
          <p:nvPr/>
        </p:nvSpPr>
        <p:spPr>
          <a:xfrm>
            <a:off x="457200" y="1051560"/>
            <a:ext cx="3886200" cy="16459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594360" y="1188720"/>
            <a:ext cx="411480" cy="41148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594360" y="11887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Calibri"/>
              <a:ea typeface="Calibri"/>
              <a:cs typeface="Calibri"/>
              <a:sym typeface="Calibri"/>
            </a:endParaRPr>
          </a:p>
        </p:txBody>
      </p:sp>
      <p:sp>
        <p:nvSpPr>
          <p:cNvPr id="46" name="Google Shape;46;p5"/>
          <p:cNvSpPr/>
          <p:nvPr/>
        </p:nvSpPr>
        <p:spPr>
          <a:xfrm>
            <a:off x="1097280" y="1161288"/>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LLM + RAG for Shunt Classification</a:t>
            </a:r>
            <a:endParaRPr b="0" i="0" sz="1300" u="none" cap="none" strike="noStrike">
              <a:solidFill>
                <a:schemeClr val="dk1"/>
              </a:solidFill>
              <a:latin typeface="Calibri"/>
              <a:ea typeface="Calibri"/>
              <a:cs typeface="Calibri"/>
              <a:sym typeface="Calibri"/>
            </a:endParaRPr>
          </a:p>
        </p:txBody>
      </p:sp>
      <p:sp>
        <p:nvSpPr>
          <p:cNvPr id="47" name="Google Shape;47;p5"/>
          <p:cNvSpPr/>
          <p:nvPr/>
        </p:nvSpPr>
        <p:spPr>
          <a:xfrm>
            <a:off x="685800" y="1600200"/>
            <a:ext cx="342900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Classify shunt types based on escape/re-entry points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Ground decisions based on CHIVA literature</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Generate structured clinical reports</a:t>
            </a:r>
            <a:endParaRPr b="0" i="0" sz="1000" u="none" cap="none" strike="noStrike">
              <a:solidFill>
                <a:schemeClr val="dk1"/>
              </a:solidFill>
              <a:latin typeface="Calibri"/>
              <a:ea typeface="Calibri"/>
              <a:cs typeface="Calibri"/>
              <a:sym typeface="Calibri"/>
            </a:endParaRPr>
          </a:p>
        </p:txBody>
      </p:sp>
      <p:sp>
        <p:nvSpPr>
          <p:cNvPr id="48" name="Google Shape;48;p5"/>
          <p:cNvSpPr/>
          <p:nvPr/>
        </p:nvSpPr>
        <p:spPr>
          <a:xfrm>
            <a:off x="4800600" y="1051560"/>
            <a:ext cx="3886200" cy="16459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4937760" y="1188720"/>
            <a:ext cx="411480" cy="41148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4937760" y="11887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sp>
        <p:nvSpPr>
          <p:cNvPr id="51" name="Google Shape;51;p5"/>
          <p:cNvSpPr/>
          <p:nvPr/>
        </p:nvSpPr>
        <p:spPr>
          <a:xfrm>
            <a:off x="5440680" y="1161288"/>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LLM for Active Scanning Guidance</a:t>
            </a:r>
            <a:endParaRPr b="0" i="0" sz="1300" u="none" cap="none" strike="noStrike">
              <a:solidFill>
                <a:schemeClr val="dk1"/>
              </a:solidFill>
              <a:latin typeface="Calibri"/>
              <a:ea typeface="Calibri"/>
              <a:cs typeface="Calibri"/>
              <a:sym typeface="Calibri"/>
            </a:endParaRPr>
          </a:p>
        </p:txBody>
      </p:sp>
      <p:sp>
        <p:nvSpPr>
          <p:cNvPr id="52" name="Google Shape;52;p5"/>
          <p:cNvSpPr/>
          <p:nvPr/>
        </p:nvSpPr>
        <p:spPr>
          <a:xfrm>
            <a:off x="5029200" y="1600200"/>
            <a:ext cx="342900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Real-time probe positioning recommendations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Update guidance using real-time session findings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Maintain low latency (&lt;500ms target)</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Learn from captured findings to improve guidance</a:t>
            </a:r>
            <a:endParaRPr b="0" i="0" sz="1000" u="none" cap="none" strike="noStrike">
              <a:solidFill>
                <a:schemeClr val="dk1"/>
              </a:solidFill>
              <a:latin typeface="Calibri"/>
              <a:ea typeface="Calibri"/>
              <a:cs typeface="Calibri"/>
              <a:sym typeface="Calibri"/>
            </a:endParaRPr>
          </a:p>
        </p:txBody>
      </p:sp>
      <p:sp>
        <p:nvSpPr>
          <p:cNvPr id="53" name="Google Shape;53;p5"/>
          <p:cNvSpPr/>
          <p:nvPr/>
        </p:nvSpPr>
        <p:spPr>
          <a:xfrm>
            <a:off x="457200" y="2880360"/>
            <a:ext cx="3886200" cy="16459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594360" y="3017520"/>
            <a:ext cx="411480" cy="41148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594360" y="3017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sp>
        <p:nvSpPr>
          <p:cNvPr id="56" name="Google Shape;56;p5"/>
          <p:cNvSpPr/>
          <p:nvPr/>
        </p:nvSpPr>
        <p:spPr>
          <a:xfrm>
            <a:off x="1097280" y="2990088"/>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LLM-based Vein Identification</a:t>
            </a:r>
            <a:endParaRPr b="0" i="0" sz="1300" u="none" cap="none" strike="noStrike">
              <a:solidFill>
                <a:schemeClr val="dk1"/>
              </a:solidFill>
              <a:latin typeface="Calibri"/>
              <a:ea typeface="Calibri"/>
              <a:cs typeface="Calibri"/>
              <a:sym typeface="Calibri"/>
            </a:endParaRPr>
          </a:p>
        </p:txBody>
      </p:sp>
      <p:sp>
        <p:nvSpPr>
          <p:cNvPr id="57" name="Google Shape;57;p5"/>
          <p:cNvSpPr/>
          <p:nvPr/>
        </p:nvSpPr>
        <p:spPr>
          <a:xfrm>
            <a:off x="685800" y="3429000"/>
            <a:ext cx="342900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Real-time vein detection and segmentation</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Low-latency processing (&lt;33ms per frame)</a:t>
            </a:r>
            <a:endParaRPr b="0" i="0" sz="1000" u="none" cap="none" strike="noStrike">
              <a:solidFill>
                <a:schemeClr val="dk1"/>
              </a:solidFill>
              <a:latin typeface="Calibri"/>
              <a:ea typeface="Calibri"/>
              <a:cs typeface="Calibri"/>
              <a:sym typeface="Calibri"/>
            </a:endParaRPr>
          </a:p>
        </p:txBody>
      </p:sp>
      <p:sp>
        <p:nvSpPr>
          <p:cNvPr id="58" name="Google Shape;58;p5"/>
          <p:cNvSpPr/>
          <p:nvPr/>
        </p:nvSpPr>
        <p:spPr>
          <a:xfrm>
            <a:off x="4800600" y="2880360"/>
            <a:ext cx="3886200" cy="16459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4937760" y="3017520"/>
            <a:ext cx="411480" cy="411480"/>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4937760" y="3017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4</a:t>
            </a:r>
            <a:endParaRPr b="0" i="0" sz="1800" u="none" cap="none" strike="noStrike">
              <a:solidFill>
                <a:schemeClr val="dk1"/>
              </a:solidFill>
              <a:latin typeface="Calibri"/>
              <a:ea typeface="Calibri"/>
              <a:cs typeface="Calibri"/>
              <a:sym typeface="Calibri"/>
            </a:endParaRPr>
          </a:p>
        </p:txBody>
      </p:sp>
      <p:sp>
        <p:nvSpPr>
          <p:cNvPr id="61" name="Google Shape;61;p5"/>
          <p:cNvSpPr/>
          <p:nvPr/>
        </p:nvSpPr>
        <p:spPr>
          <a:xfrm>
            <a:off x="5440680" y="2990088"/>
            <a:ext cx="3063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VLM Approach</a:t>
            </a:r>
            <a:endParaRPr b="0" i="0" sz="1300" u="none" cap="none" strike="noStrike">
              <a:solidFill>
                <a:schemeClr val="dk1"/>
              </a:solidFill>
              <a:latin typeface="Calibri"/>
              <a:ea typeface="Calibri"/>
              <a:cs typeface="Calibri"/>
              <a:sym typeface="Calibri"/>
            </a:endParaRPr>
          </a:p>
        </p:txBody>
      </p:sp>
      <p:sp>
        <p:nvSpPr>
          <p:cNvPr id="62" name="Google Shape;62;p5"/>
          <p:cNvSpPr/>
          <p:nvPr/>
        </p:nvSpPr>
        <p:spPr>
          <a:xfrm>
            <a:off x="5029200" y="3429000"/>
            <a:ext cx="342900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VLM approach for task 2 and task 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7" name="Shape 67"/>
        <p:cNvGrpSpPr/>
        <p:nvPr/>
      </p:nvGrpSpPr>
      <p:grpSpPr>
        <a:xfrm>
          <a:off x="0" y="0"/>
          <a:ext cx="0" cy="0"/>
          <a:chOff x="0" y="0"/>
          <a:chExt cx="0" cy="0"/>
        </a:xfrm>
      </p:grpSpPr>
      <p:sp>
        <p:nvSpPr>
          <p:cNvPr id="68" name="Google Shape;68;p6"/>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1: LLM + RAG for Shunt Classification</a:t>
            </a:r>
            <a:endParaRPr b="0" i="0" sz="2600" u="none" cap="none" strike="noStrike">
              <a:solidFill>
                <a:schemeClr val="dk1"/>
              </a:solidFill>
              <a:latin typeface="Calibri"/>
              <a:ea typeface="Calibri"/>
              <a:cs typeface="Calibri"/>
              <a:sym typeface="Calibri"/>
            </a:endParaRPr>
          </a:p>
        </p:txBody>
      </p:sp>
      <p:sp>
        <p:nvSpPr>
          <p:cNvPr id="70" name="Google Shape;70;p6"/>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72" name="Google Shape;72;p6"/>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73" name="Google Shape;73;p6"/>
          <p:cNvSpPr/>
          <p:nvPr/>
        </p:nvSpPr>
        <p:spPr>
          <a:xfrm>
            <a:off x="457200" y="96012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Goals: </a:t>
            </a:r>
            <a:r>
              <a:rPr b="0" i="0" lang="en-US" sz="1100" u="none" cap="none" strike="noStrike">
                <a:solidFill>
                  <a:srgbClr val="333333"/>
                </a:solidFill>
                <a:latin typeface="Arial"/>
                <a:ea typeface="Arial"/>
                <a:cs typeface="Arial"/>
                <a:sym typeface="Arial"/>
              </a:rPr>
              <a:t>Automated shunt type identification after the assessment (not live)     </a:t>
            </a:r>
            <a:endParaRPr b="0" i="0" sz="1100" u="none" cap="none" strike="noStrike">
              <a:solidFill>
                <a:srgbClr val="333333"/>
              </a:solidFill>
              <a:latin typeface="Arial"/>
              <a:ea typeface="Arial"/>
              <a:cs typeface="Arial"/>
              <a:sym typeface="Arial"/>
            </a:endParaRPr>
          </a:p>
          <a:p>
            <a:pPr indent="0" lvl="0" marL="0" marR="0" rtl="0" algn="l">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Assumption: </a:t>
            </a:r>
            <a:r>
              <a:rPr b="0" i="0" lang="en-US" sz="1100" u="none" cap="none" strike="noStrike">
                <a:solidFill>
                  <a:srgbClr val="333333"/>
                </a:solidFill>
                <a:latin typeface="Arial"/>
                <a:ea typeface="Arial"/>
                <a:cs typeface="Arial"/>
                <a:sym typeface="Arial"/>
              </a:rPr>
              <a:t>Assume all </a:t>
            </a:r>
            <a:r>
              <a:rPr lang="en-US" sz="1100">
                <a:solidFill>
                  <a:srgbClr val="333333"/>
                </a:solidFill>
              </a:rPr>
              <a:t>EP and RP</a:t>
            </a:r>
            <a:r>
              <a:rPr b="0" i="0" lang="en-US" sz="1100" u="none" cap="none" strike="noStrike">
                <a:solidFill>
                  <a:srgbClr val="333333"/>
                </a:solidFill>
                <a:latin typeface="Arial"/>
                <a:ea typeface="Arial"/>
                <a:cs typeface="Arial"/>
                <a:sym typeface="Arial"/>
              </a:rPr>
              <a:t> points are already ready</a:t>
            </a:r>
            <a:endParaRPr b="0" i="0" sz="1100" u="none" cap="none" strike="noStrike">
              <a:solidFill>
                <a:srgbClr val="333333"/>
              </a:solidFill>
              <a:latin typeface="Arial"/>
              <a:ea typeface="Arial"/>
              <a:cs typeface="Arial"/>
              <a:sym typeface="Arial"/>
            </a:endParaRPr>
          </a:p>
          <a:p>
            <a:pPr indent="0" lvl="0" marL="0" rtl="0" algn="l">
              <a:spcBef>
                <a:spcPts val="0"/>
              </a:spcBef>
              <a:spcAft>
                <a:spcPts val="0"/>
              </a:spcAft>
              <a:buClr>
                <a:srgbClr val="990000"/>
              </a:buClr>
              <a:buSzPts val="1100"/>
              <a:buFont typeface="Arial"/>
              <a:buNone/>
            </a:pPr>
            <a:r>
              <a:rPr b="1" lang="en-US" sz="1100">
                <a:solidFill>
                  <a:srgbClr val="990000"/>
                </a:solidFill>
              </a:rPr>
              <a:t>Context: </a:t>
            </a:r>
            <a:endParaRPr sz="1100">
              <a:solidFill>
                <a:srgbClr val="333333"/>
              </a:solidFill>
            </a:endParaRPr>
          </a:p>
        </p:txBody>
      </p:sp>
      <p:sp>
        <p:nvSpPr>
          <p:cNvPr id="74" name="Google Shape;74;p6"/>
          <p:cNvSpPr/>
          <p:nvPr/>
        </p:nvSpPr>
        <p:spPr>
          <a:xfrm>
            <a:off x="457200" y="1554480"/>
            <a:ext cx="8229600" cy="29260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640080" y="16459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1 Approach</a:t>
            </a:r>
            <a:endParaRPr b="0" i="0" sz="1400" u="none" cap="none" strike="noStrike">
              <a:solidFill>
                <a:schemeClr val="dk1"/>
              </a:solidFill>
              <a:latin typeface="Calibri"/>
              <a:ea typeface="Calibri"/>
              <a:cs typeface="Calibri"/>
              <a:sym typeface="Calibri"/>
            </a:endParaRPr>
          </a:p>
        </p:txBody>
      </p:sp>
      <p:sp>
        <p:nvSpPr>
          <p:cNvPr id="76" name="Google Shape;76;p6"/>
          <p:cNvSpPr/>
          <p:nvPr/>
        </p:nvSpPr>
        <p:spPr>
          <a:xfrm>
            <a:off x="731520" y="2011680"/>
            <a:ext cx="768096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LLM Integration: Local Ollama Models like Mistral or Llama 1B/GPT-4/Claude for zero-shot classification. Identify suitable LLM for the usecase through literature review of LLMs. Also compute the rough licensing and cost for these services.</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RAG Pipeline: CHIVA literature + hemodynamic rules as context stored in Qdrant DB.</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Structured Output: JSON schema for consistent results</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Prompt Engineering: Multi-shot examples + chain-of-thought reasoning</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Work with Jeffry to collect some ground truth examples and use it to validate the LLM responses.</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Prototype app sent to surgeons so that they can provide review and suggestions which can be used to improve LLM's precision.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81" name="Shape 81"/>
        <p:cNvGrpSpPr/>
        <p:nvPr/>
      </p:nvGrpSpPr>
      <p:grpSpPr>
        <a:xfrm>
          <a:off x="0" y="0"/>
          <a:ext cx="0" cy="0"/>
          <a:chOff x="0" y="0"/>
          <a:chExt cx="0" cy="0"/>
        </a:xfrm>
      </p:grpSpPr>
      <p:sp>
        <p:nvSpPr>
          <p:cNvPr id="82" name="Google Shape;82;p7"/>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1: LLM + RAG for Shunt Classification</a:t>
            </a:r>
            <a:endParaRPr b="0" i="0" sz="2600" u="none" cap="none" strike="noStrike">
              <a:solidFill>
                <a:schemeClr val="dk1"/>
              </a:solidFill>
              <a:latin typeface="Calibri"/>
              <a:ea typeface="Calibri"/>
              <a:cs typeface="Calibri"/>
              <a:sym typeface="Calibri"/>
            </a:endParaRPr>
          </a:p>
        </p:txBody>
      </p:sp>
      <p:sp>
        <p:nvSpPr>
          <p:cNvPr id="84" name="Google Shape;84;p7"/>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86" name="Google Shape;86;p7"/>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87" name="Google Shape;87;p7"/>
          <p:cNvSpPr/>
          <p:nvPr/>
        </p:nvSpPr>
        <p:spPr>
          <a:xfrm>
            <a:off x="457200" y="1005840"/>
            <a:ext cx="8229600" cy="22860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640080" y="10972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2 (evaluation and </a:t>
            </a:r>
            <a:r>
              <a:rPr b="1" lang="en-US">
                <a:solidFill>
                  <a:srgbClr val="990000"/>
                </a:solidFill>
                <a:latin typeface="Georgia"/>
                <a:ea typeface="Georgia"/>
                <a:cs typeface="Georgia"/>
                <a:sym typeface="Georgia"/>
              </a:rPr>
              <a:t>improvement</a:t>
            </a:r>
            <a:r>
              <a:rPr b="1" i="0" lang="en-US" sz="1400" u="none" cap="none" strike="noStrike">
                <a:solidFill>
                  <a:srgbClr val="990000"/>
                </a:solidFill>
                <a:latin typeface="Georgia"/>
                <a:ea typeface="Georgia"/>
                <a:cs typeface="Georgia"/>
                <a:sym typeface="Georgia"/>
              </a:rPr>
              <a:t>)</a:t>
            </a:r>
            <a:endParaRPr b="0" i="0" sz="1400" u="none" cap="none" strike="noStrike">
              <a:solidFill>
                <a:schemeClr val="dk1"/>
              </a:solidFill>
              <a:latin typeface="Calibri"/>
              <a:ea typeface="Calibri"/>
              <a:cs typeface="Calibri"/>
              <a:sym typeface="Calibri"/>
            </a:endParaRPr>
          </a:p>
        </p:txBody>
      </p:sp>
      <p:sp>
        <p:nvSpPr>
          <p:cNvPr id="89" name="Google Shape;89;p7"/>
          <p:cNvSpPr/>
          <p:nvPr/>
        </p:nvSpPr>
        <p:spPr>
          <a:xfrm>
            <a:off x="731520" y="1463040"/>
            <a:ext cx="7680960" cy="16459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Confidence scoring &amp; Uncertainty quantification</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Fine-tuning LLM on labeled datasets of input flow data and shunt classification output with ligation suggestions based on CHIVA literature data</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Use more relevant CHIVA literature books to improve the quality of responses</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Retrieval optimization with semantic chunking</a:t>
            </a:r>
            <a:endParaRPr b="0" i="0" sz="10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Reduce hallucination with better prompting and schema relevant RAG retrieval</a:t>
            </a:r>
            <a:endParaRPr b="0" i="0" sz="1050" u="none" cap="none" strike="noStrike">
              <a:solidFill>
                <a:schemeClr val="dk1"/>
              </a:solidFill>
              <a:latin typeface="Calibri"/>
              <a:ea typeface="Calibri"/>
              <a:cs typeface="Calibri"/>
              <a:sym typeface="Calibri"/>
            </a:endParaRPr>
          </a:p>
        </p:txBody>
      </p:sp>
      <p:sp>
        <p:nvSpPr>
          <p:cNvPr id="90" name="Google Shape;90;p7"/>
          <p:cNvSpPr/>
          <p:nvPr/>
        </p:nvSpPr>
        <p:spPr>
          <a:xfrm>
            <a:off x="457200" y="3520440"/>
            <a:ext cx="8229600" cy="457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640080" y="352044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Tech Stack: </a:t>
            </a:r>
            <a:r>
              <a:rPr b="0" i="0" lang="en-US" sz="1100" u="none" cap="none" strike="noStrike">
                <a:solidFill>
                  <a:srgbClr val="FFFFFF"/>
                </a:solidFill>
                <a:latin typeface="Arial"/>
                <a:ea typeface="Arial"/>
                <a:cs typeface="Arial"/>
                <a:sym typeface="Arial"/>
              </a:rPr>
              <a:t>Ollama, OpenAI/Claude/Groq API, LangChain, FAISS, ChromaDB, Pydantic</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96" name="Shape 96"/>
        <p:cNvGrpSpPr/>
        <p:nvPr/>
      </p:nvGrpSpPr>
      <p:grpSpPr>
        <a:xfrm>
          <a:off x="0" y="0"/>
          <a:ext cx="0" cy="0"/>
          <a:chOff x="0" y="0"/>
          <a:chExt cx="0" cy="0"/>
        </a:xfrm>
      </p:grpSpPr>
      <p:sp>
        <p:nvSpPr>
          <p:cNvPr id="97" name="Google Shape;97;p8"/>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1: Potential Improvements</a:t>
            </a:r>
            <a:endParaRPr b="0" i="0" sz="2600" u="none" cap="none" strike="noStrike">
              <a:solidFill>
                <a:schemeClr val="dk1"/>
              </a:solidFill>
              <a:latin typeface="Calibri"/>
              <a:ea typeface="Calibri"/>
              <a:cs typeface="Calibri"/>
              <a:sym typeface="Calibri"/>
            </a:endParaRPr>
          </a:p>
        </p:txBody>
      </p:sp>
      <p:sp>
        <p:nvSpPr>
          <p:cNvPr id="99" name="Google Shape;99;p8"/>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01" name="Google Shape;101;p8"/>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02" name="Google Shape;102;p8"/>
          <p:cNvSpPr/>
          <p:nvPr/>
        </p:nvSpPr>
        <p:spPr>
          <a:xfrm>
            <a:off x="4572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4572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a:off x="6400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Accuracy Enhancement</a:t>
            </a:r>
            <a:endParaRPr b="0" i="0" sz="1300" u="none" cap="none" strike="noStrike">
              <a:solidFill>
                <a:schemeClr val="dk1"/>
              </a:solidFill>
              <a:latin typeface="Calibri"/>
              <a:ea typeface="Calibri"/>
              <a:cs typeface="Calibri"/>
              <a:sym typeface="Calibri"/>
            </a:endParaRPr>
          </a:p>
        </p:txBody>
      </p:sp>
      <p:sp>
        <p:nvSpPr>
          <p:cNvPr id="105" name="Google Shape;105;p8"/>
          <p:cNvSpPr/>
          <p:nvPr/>
        </p:nvSpPr>
        <p:spPr>
          <a:xfrm>
            <a:off x="6858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Confidence scoring</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Uncertainty quantification</a:t>
            </a:r>
            <a:endParaRPr b="0" i="0" sz="1050" u="none" cap="none" strike="noStrike">
              <a:solidFill>
                <a:schemeClr val="dk1"/>
              </a:solidFill>
              <a:latin typeface="Calibri"/>
              <a:ea typeface="Calibri"/>
              <a:cs typeface="Calibri"/>
              <a:sym typeface="Calibri"/>
            </a:endParaRPr>
          </a:p>
        </p:txBody>
      </p:sp>
      <p:sp>
        <p:nvSpPr>
          <p:cNvPr id="106" name="Google Shape;106;p8"/>
          <p:cNvSpPr/>
          <p:nvPr/>
        </p:nvSpPr>
        <p:spPr>
          <a:xfrm>
            <a:off x="48006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48006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49834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Latency Optimization</a:t>
            </a:r>
            <a:endParaRPr b="0" i="0" sz="1300" u="none" cap="none" strike="noStrike">
              <a:solidFill>
                <a:schemeClr val="dk1"/>
              </a:solidFill>
              <a:latin typeface="Calibri"/>
              <a:ea typeface="Calibri"/>
              <a:cs typeface="Calibri"/>
              <a:sym typeface="Calibri"/>
            </a:endParaRPr>
          </a:p>
        </p:txBody>
      </p:sp>
      <p:sp>
        <p:nvSpPr>
          <p:cNvPr id="109" name="Google Shape;109;p8"/>
          <p:cNvSpPr/>
          <p:nvPr/>
        </p:nvSpPr>
        <p:spPr>
          <a:xfrm>
            <a:off x="50292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Model Distillation</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Local model deployment</a:t>
            </a:r>
            <a:endParaRPr b="0" i="0" sz="1050" u="none" cap="none" strike="noStrike">
              <a:solidFill>
                <a:schemeClr val="dk1"/>
              </a:solidFill>
              <a:latin typeface="Calibri"/>
              <a:ea typeface="Calibri"/>
              <a:cs typeface="Calibri"/>
              <a:sym typeface="Calibri"/>
            </a:endParaRPr>
          </a:p>
        </p:txBody>
      </p:sp>
      <p:sp>
        <p:nvSpPr>
          <p:cNvPr id="110" name="Google Shape;110;p8"/>
          <p:cNvSpPr/>
          <p:nvPr/>
        </p:nvSpPr>
        <p:spPr>
          <a:xfrm>
            <a:off x="4572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4572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p:nvPr/>
        </p:nvSpPr>
        <p:spPr>
          <a:xfrm>
            <a:off x="6400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Clinical Integration &amp; Compliance</a:t>
            </a:r>
            <a:endParaRPr b="0" i="0" sz="1300" u="none" cap="none" strike="noStrike">
              <a:solidFill>
                <a:schemeClr val="dk1"/>
              </a:solidFill>
              <a:latin typeface="Calibri"/>
              <a:ea typeface="Calibri"/>
              <a:cs typeface="Calibri"/>
              <a:sym typeface="Calibri"/>
            </a:endParaRPr>
          </a:p>
        </p:txBody>
      </p:sp>
      <p:sp>
        <p:nvSpPr>
          <p:cNvPr id="113" name="Google Shape;113;p8"/>
          <p:cNvSpPr/>
          <p:nvPr/>
        </p:nvSpPr>
        <p:spPr>
          <a:xfrm>
            <a:off x="6858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Clinician feedback loops</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HIPAA-compliant handling</a:t>
            </a:r>
            <a:endParaRPr b="0" i="0" sz="1050" u="none" cap="none" strike="noStrike">
              <a:solidFill>
                <a:schemeClr val="dk1"/>
              </a:solidFill>
              <a:latin typeface="Calibri"/>
              <a:ea typeface="Calibri"/>
              <a:cs typeface="Calibri"/>
              <a:sym typeface="Calibri"/>
            </a:endParaRPr>
          </a:p>
        </p:txBody>
      </p:sp>
      <p:sp>
        <p:nvSpPr>
          <p:cNvPr id="114" name="Google Shape;114;p8"/>
          <p:cNvSpPr/>
          <p:nvPr/>
        </p:nvSpPr>
        <p:spPr>
          <a:xfrm>
            <a:off x="48006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48006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49834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Robustness</a:t>
            </a:r>
            <a:endParaRPr b="0" i="0" sz="1300" u="none" cap="none" strike="noStrike">
              <a:solidFill>
                <a:schemeClr val="dk1"/>
              </a:solidFill>
              <a:latin typeface="Calibri"/>
              <a:ea typeface="Calibri"/>
              <a:cs typeface="Calibri"/>
              <a:sym typeface="Calibri"/>
            </a:endParaRPr>
          </a:p>
        </p:txBody>
      </p:sp>
      <p:sp>
        <p:nvSpPr>
          <p:cNvPr id="117" name="Google Shape;117;p8"/>
          <p:cNvSpPr/>
          <p:nvPr/>
        </p:nvSpPr>
        <p:spPr>
          <a:xfrm>
            <a:off x="50292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Adversarial testing</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Edge case handling and testing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22" name="Shape 122"/>
        <p:cNvGrpSpPr/>
        <p:nvPr/>
      </p:nvGrpSpPr>
      <p:grpSpPr>
        <a:xfrm>
          <a:off x="0" y="0"/>
          <a:ext cx="0" cy="0"/>
          <a:chOff x="0" y="0"/>
          <a:chExt cx="0" cy="0"/>
        </a:xfrm>
      </p:grpSpPr>
      <p:sp>
        <p:nvSpPr>
          <p:cNvPr id="123" name="Google Shape;123;p9"/>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2: Active Scanning Guidance</a:t>
            </a:r>
            <a:endParaRPr b="0" i="0" sz="2600" u="none" cap="none" strike="noStrike">
              <a:solidFill>
                <a:schemeClr val="dk1"/>
              </a:solidFill>
              <a:latin typeface="Calibri"/>
              <a:ea typeface="Calibri"/>
              <a:cs typeface="Calibri"/>
              <a:sym typeface="Calibri"/>
            </a:endParaRPr>
          </a:p>
        </p:txBody>
      </p:sp>
      <p:sp>
        <p:nvSpPr>
          <p:cNvPr id="125" name="Google Shape;125;p9"/>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27" name="Google Shape;127;p9"/>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28" name="Google Shape;128;p9"/>
          <p:cNvSpPr/>
          <p:nvPr/>
        </p:nvSpPr>
        <p:spPr>
          <a:xfrm>
            <a:off x="457200" y="10058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200"/>
              <a:buFont typeface="Arial"/>
              <a:buNone/>
            </a:pPr>
            <a:r>
              <a:rPr b="1" i="0" lang="en-US" sz="1200" u="none" cap="none" strike="noStrike">
                <a:solidFill>
                  <a:srgbClr val="990000"/>
                </a:solidFill>
                <a:latin typeface="Arial"/>
                <a:ea typeface="Arial"/>
                <a:cs typeface="Arial"/>
                <a:sym typeface="Arial"/>
              </a:rPr>
              <a:t>Goal: </a:t>
            </a:r>
            <a:r>
              <a:rPr b="0" i="0" lang="en-US" sz="1200" u="none" cap="none" strike="noStrike">
                <a:solidFill>
                  <a:srgbClr val="333333"/>
                </a:solidFill>
                <a:latin typeface="Arial"/>
                <a:ea typeface="Arial"/>
                <a:cs typeface="Arial"/>
                <a:sym typeface="Arial"/>
              </a:rPr>
              <a:t>Real-time AI co-pilot for ultrasound operators</a:t>
            </a:r>
            <a:endParaRPr b="0" i="0" sz="1200" u="none" cap="none" strike="noStrike">
              <a:solidFill>
                <a:srgbClr val="333333"/>
              </a:solidFill>
              <a:latin typeface="Arial"/>
              <a:ea typeface="Arial"/>
              <a:cs typeface="Arial"/>
              <a:sym typeface="Arial"/>
            </a:endParaRPr>
          </a:p>
          <a:p>
            <a:pPr indent="0" lvl="0" marL="0" marR="0" rtl="0" algn="l">
              <a:spcBef>
                <a:spcPts val="0"/>
              </a:spcBef>
              <a:spcAft>
                <a:spcPts val="0"/>
              </a:spcAft>
              <a:buClr>
                <a:srgbClr val="990000"/>
              </a:buClr>
              <a:buSzPts val="1200"/>
              <a:buFont typeface="Arial"/>
              <a:buNone/>
            </a:pPr>
            <a:r>
              <a:rPr lang="en-US" sz="1200">
                <a:solidFill>
                  <a:srgbClr val="333333"/>
                </a:solidFill>
              </a:rPr>
              <a:t>Context: Passive guidance -&gt;</a:t>
            </a:r>
            <a:endParaRPr sz="1200">
              <a:solidFill>
                <a:srgbClr val="333333"/>
              </a:solidFill>
            </a:endParaRPr>
          </a:p>
        </p:txBody>
      </p:sp>
      <p:sp>
        <p:nvSpPr>
          <p:cNvPr id="129" name="Google Shape;129;p9"/>
          <p:cNvSpPr/>
          <p:nvPr/>
        </p:nvSpPr>
        <p:spPr>
          <a:xfrm>
            <a:off x="457200" y="1463040"/>
            <a:ext cx="8229600" cy="29260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a:off x="640080" y="15544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1 Approach</a:t>
            </a:r>
            <a:endParaRPr b="0" i="0" sz="1400" u="none" cap="none" strike="noStrike">
              <a:solidFill>
                <a:schemeClr val="dk1"/>
              </a:solidFill>
              <a:latin typeface="Calibri"/>
              <a:ea typeface="Calibri"/>
              <a:cs typeface="Calibri"/>
              <a:sym typeface="Calibri"/>
            </a:endParaRPr>
          </a:p>
        </p:txBody>
      </p:sp>
      <p:sp>
        <p:nvSpPr>
          <p:cNvPr id="131" name="Google Shape;131;p9"/>
          <p:cNvSpPr/>
          <p:nvPr/>
        </p:nvSpPr>
        <p:spPr>
          <a:xfrm>
            <a:off x="731520" y="1920240"/>
            <a:ext cx="768096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LLM Agent: Few-shot prompting</a:t>
            </a:r>
            <a:endParaRPr b="0" i="0" sz="1100" u="none" cap="none" strike="noStrike">
              <a:solidFill>
                <a:srgbClr val="333333"/>
              </a:solidFill>
              <a:latin typeface="Arial"/>
              <a:ea typeface="Arial"/>
              <a:cs typeface="Arial"/>
              <a:sym typeface="Arial"/>
            </a:endParaRPr>
          </a:p>
          <a:p>
            <a:pPr indent="-342900" lvl="0" marL="342900" marR="0" rtl="0" algn="l">
              <a:spcBef>
                <a:spcPts val="0"/>
              </a:spcBef>
              <a:spcAft>
                <a:spcPts val="0"/>
              </a:spcAft>
              <a:buClr>
                <a:srgbClr val="333333"/>
              </a:buClr>
              <a:buSzPts val="1100"/>
              <a:buChar char="•"/>
            </a:pPr>
            <a:r>
              <a:rPr lang="en-US" sz="1100">
                <a:solidFill>
                  <a:srgbClr val="333333"/>
                </a:solidFill>
              </a:rPr>
              <a:t>lateny</a:t>
            </a:r>
            <a:endParaRPr sz="1100">
              <a:solidFill>
                <a:srgbClr val="333333"/>
              </a:solidFill>
            </a:endParaRPr>
          </a:p>
          <a:p>
            <a:pPr indent="-342900" lvl="0" marL="342900" marR="0" rtl="0" algn="l">
              <a:spcBef>
                <a:spcPts val="80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Context Management: Session state + captured findings</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Spatial Reasoning: Rule-based probe guidance logic with rules formulated by the LLM based on the RAG context it has from the medical literature</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VLM Survey: Explore the benchmark Vision Transformers for ultrasound images and use them for probe guidance</a:t>
            </a:r>
            <a:endParaRPr b="0" i="0" sz="1100" u="none" cap="none" strike="noStrike">
              <a:solidFill>
                <a:srgbClr val="333333"/>
              </a:solidFill>
              <a:latin typeface="Arial"/>
              <a:ea typeface="Arial"/>
              <a:cs typeface="Arial"/>
              <a:sym typeface="Arial"/>
            </a:endParaRPr>
          </a:p>
          <a:p>
            <a:pPr indent="-342900" lvl="0" marL="342900" marR="0" rtl="0" algn="l">
              <a:spcBef>
                <a:spcPts val="800"/>
              </a:spcBef>
              <a:spcAft>
                <a:spcPts val="0"/>
              </a:spcAft>
              <a:buClr>
                <a:srgbClr val="333333"/>
              </a:buClr>
              <a:buSzPts val="1100"/>
              <a:buChar char="•"/>
            </a:pPr>
            <a:r>
              <a:rPr lang="en-US" sz="1100">
                <a:solidFill>
                  <a:srgbClr val="333333"/>
                </a:solidFill>
              </a:rPr>
              <a:t>(Task4)</a:t>
            </a:r>
            <a:endParaRPr sz="1100">
              <a:solidFill>
                <a:srgbClr val="33333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36" name="Shape 136"/>
        <p:cNvGrpSpPr/>
        <p:nvPr/>
      </p:nvGrpSpPr>
      <p:grpSpPr>
        <a:xfrm>
          <a:off x="0" y="0"/>
          <a:ext cx="0" cy="0"/>
          <a:chOff x="0" y="0"/>
          <a:chExt cx="0" cy="0"/>
        </a:xfrm>
      </p:grpSpPr>
      <p:sp>
        <p:nvSpPr>
          <p:cNvPr id="137" name="Google Shape;137;p10"/>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2: Active Scanning Guidance</a:t>
            </a:r>
            <a:endParaRPr b="0" i="0" sz="2600" u="none" cap="none" strike="noStrike">
              <a:solidFill>
                <a:schemeClr val="dk1"/>
              </a:solidFill>
              <a:latin typeface="Calibri"/>
              <a:ea typeface="Calibri"/>
              <a:cs typeface="Calibri"/>
              <a:sym typeface="Calibri"/>
            </a:endParaRPr>
          </a:p>
        </p:txBody>
      </p:sp>
      <p:sp>
        <p:nvSpPr>
          <p:cNvPr id="139" name="Google Shape;139;p10"/>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41" name="Google Shape;141;p10"/>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42" name="Google Shape;142;p10"/>
          <p:cNvSpPr/>
          <p:nvPr/>
        </p:nvSpPr>
        <p:spPr>
          <a:xfrm>
            <a:off x="457200" y="1005840"/>
            <a:ext cx="8229600" cy="20116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
          <p:cNvSpPr/>
          <p:nvPr/>
        </p:nvSpPr>
        <p:spPr>
          <a:xfrm>
            <a:off x="640080" y="10972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2 (if needed)</a:t>
            </a:r>
            <a:endParaRPr b="0" i="0" sz="1400" u="none" cap="none" strike="noStrike">
              <a:solidFill>
                <a:schemeClr val="dk1"/>
              </a:solidFill>
              <a:latin typeface="Calibri"/>
              <a:ea typeface="Calibri"/>
              <a:cs typeface="Calibri"/>
              <a:sym typeface="Calibri"/>
            </a:endParaRPr>
          </a:p>
        </p:txBody>
      </p:sp>
      <p:sp>
        <p:nvSpPr>
          <p:cNvPr id="144" name="Google Shape;144;p10"/>
          <p:cNvSpPr/>
          <p:nvPr/>
        </p:nvSpPr>
        <p:spPr>
          <a:xfrm>
            <a:off x="731520" y="1463040"/>
            <a:ext cx="7680960" cy="13716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VLM fine-tuning on ultrasound medical images XXX</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Multi-modal fusion of image + text inputs for probe guidance</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Latency-optimized model serving</a:t>
            </a:r>
            <a:endParaRPr b="0" i="0" sz="1100" u="none" cap="none" strike="noStrike">
              <a:solidFill>
                <a:srgbClr val="333333"/>
              </a:solidFill>
              <a:latin typeface="Arial"/>
              <a:ea typeface="Arial"/>
              <a:cs typeface="Arial"/>
              <a:sym typeface="Arial"/>
            </a:endParaRPr>
          </a:p>
          <a:p>
            <a:pPr indent="-342900" lvl="0" marL="342900" marR="0" rtl="0" algn="l">
              <a:spcBef>
                <a:spcPts val="800"/>
              </a:spcBef>
              <a:spcAft>
                <a:spcPts val="0"/>
              </a:spcAft>
              <a:buClr>
                <a:srgbClr val="333333"/>
              </a:buClr>
              <a:buSzPts val="1100"/>
              <a:buChar char="•"/>
            </a:pPr>
            <a:r>
              <a:rPr lang="en-US" sz="1100">
                <a:solidFill>
                  <a:srgbClr val="333333"/>
                </a:solidFill>
              </a:rPr>
              <a:t>Digital Twin ( scan for screening vs treatment) </a:t>
            </a:r>
            <a:endParaRPr sz="1100">
              <a:solidFill>
                <a:srgbClr val="333333"/>
              </a:solidFill>
            </a:endParaRPr>
          </a:p>
          <a:p>
            <a:pPr indent="-342900" lvl="0" marL="342900" marR="0" rtl="0" algn="l">
              <a:spcBef>
                <a:spcPts val="800"/>
              </a:spcBef>
              <a:spcAft>
                <a:spcPts val="0"/>
              </a:spcAft>
              <a:buClr>
                <a:srgbClr val="333333"/>
              </a:buClr>
              <a:buSzPts val="1100"/>
              <a:buChar char="•"/>
            </a:pPr>
            <a:r>
              <a:rPr lang="en-US" sz="1100">
                <a:solidFill>
                  <a:srgbClr val="333333"/>
                </a:solidFill>
              </a:rPr>
              <a:t>what is the metric  for accuracy and how to ask the surgeon</a:t>
            </a:r>
            <a:endParaRPr sz="1100">
              <a:solidFill>
                <a:srgbClr val="333333"/>
              </a:solidFill>
            </a:endParaRPr>
          </a:p>
        </p:txBody>
      </p:sp>
      <p:sp>
        <p:nvSpPr>
          <p:cNvPr id="145" name="Google Shape;145;p10"/>
          <p:cNvSpPr/>
          <p:nvPr/>
        </p:nvSpPr>
        <p:spPr>
          <a:xfrm>
            <a:off x="457200" y="3246120"/>
            <a:ext cx="8229600" cy="457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
          <p:cNvSpPr/>
          <p:nvPr/>
        </p:nvSpPr>
        <p:spPr>
          <a:xfrm>
            <a:off x="640080" y="324612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Tech Stack: </a:t>
            </a:r>
            <a:r>
              <a:rPr b="0" i="0" lang="en-US" sz="1100" u="none" cap="none" strike="noStrike">
                <a:solidFill>
                  <a:srgbClr val="FFFFFF"/>
                </a:solidFill>
                <a:latin typeface="Arial"/>
                <a:ea typeface="Arial"/>
                <a:cs typeface="Arial"/>
                <a:sym typeface="Arial"/>
              </a:rPr>
              <a:t>Ollama, Crew-AI/LangChain Agents, CLIP, Redis, FastAPI, vLLM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51" name="Shape 151"/>
        <p:cNvGrpSpPr/>
        <p:nvPr/>
      </p:nvGrpSpPr>
      <p:grpSpPr>
        <a:xfrm>
          <a:off x="0" y="0"/>
          <a:ext cx="0" cy="0"/>
          <a:chOff x="0" y="0"/>
          <a:chExt cx="0" cy="0"/>
        </a:xfrm>
      </p:grpSpPr>
      <p:sp>
        <p:nvSpPr>
          <p:cNvPr id="152" name="Google Shape;152;p11"/>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2: Potential Improvements</a:t>
            </a:r>
            <a:endParaRPr b="0" i="0" sz="2600" u="none" cap="none" strike="noStrike">
              <a:solidFill>
                <a:schemeClr val="dk1"/>
              </a:solidFill>
              <a:latin typeface="Calibri"/>
              <a:ea typeface="Calibri"/>
              <a:cs typeface="Calibri"/>
              <a:sym typeface="Calibri"/>
            </a:endParaRPr>
          </a:p>
        </p:txBody>
      </p:sp>
      <p:sp>
        <p:nvSpPr>
          <p:cNvPr id="154" name="Google Shape;154;p11"/>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56" name="Google Shape;156;p11"/>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57" name="Google Shape;157;p11"/>
          <p:cNvSpPr/>
          <p:nvPr/>
        </p:nvSpPr>
        <p:spPr>
          <a:xfrm>
            <a:off x="4572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a:off x="4572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p:nvPr/>
        </p:nvSpPr>
        <p:spPr>
          <a:xfrm>
            <a:off x="6400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Real-Time Performance</a:t>
            </a:r>
            <a:endParaRPr b="0" i="0" sz="1300" u="none" cap="none" strike="noStrike">
              <a:solidFill>
                <a:schemeClr val="dk1"/>
              </a:solidFill>
              <a:latin typeface="Calibri"/>
              <a:ea typeface="Calibri"/>
              <a:cs typeface="Calibri"/>
              <a:sym typeface="Calibri"/>
            </a:endParaRPr>
          </a:p>
        </p:txBody>
      </p:sp>
      <p:sp>
        <p:nvSpPr>
          <p:cNvPr id="160" name="Google Shape;160;p11"/>
          <p:cNvSpPr/>
          <p:nvPr/>
        </p:nvSpPr>
        <p:spPr>
          <a:xfrm>
            <a:off x="6858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Edge inference with Low Latency and Memory Usages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Batch optimization</a:t>
            </a:r>
            <a:endParaRPr b="0" i="0" sz="1000" u="none" cap="none" strike="noStrike">
              <a:solidFill>
                <a:schemeClr val="dk1"/>
              </a:solidFill>
              <a:latin typeface="Calibri"/>
              <a:ea typeface="Calibri"/>
              <a:cs typeface="Calibri"/>
              <a:sym typeface="Calibri"/>
            </a:endParaRPr>
          </a:p>
        </p:txBody>
      </p:sp>
      <p:sp>
        <p:nvSpPr>
          <p:cNvPr id="161" name="Google Shape;161;p11"/>
          <p:cNvSpPr/>
          <p:nvPr/>
        </p:nvSpPr>
        <p:spPr>
          <a:xfrm>
            <a:off x="48006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48006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a:off x="49834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Multi-Modal Integration</a:t>
            </a:r>
            <a:endParaRPr b="0" i="0" sz="1300" u="none" cap="none" strike="noStrike">
              <a:solidFill>
                <a:schemeClr val="dk1"/>
              </a:solidFill>
              <a:latin typeface="Calibri"/>
              <a:ea typeface="Calibri"/>
              <a:cs typeface="Calibri"/>
              <a:sym typeface="Calibri"/>
            </a:endParaRPr>
          </a:p>
        </p:txBody>
      </p:sp>
      <p:sp>
        <p:nvSpPr>
          <p:cNvPr id="164" name="Google Shape;164;p11"/>
          <p:cNvSpPr/>
          <p:nvPr/>
        </p:nvSpPr>
        <p:spPr>
          <a:xfrm>
            <a:off x="50292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CV aided Image feature extraction</a:t>
            </a:r>
            <a:endParaRPr b="0" i="0" sz="1000" u="none" cap="none" strike="noStrike">
              <a:solidFill>
                <a:schemeClr val="dk1"/>
              </a:solidFill>
              <a:latin typeface="Calibri"/>
              <a:ea typeface="Calibri"/>
              <a:cs typeface="Calibri"/>
              <a:sym typeface="Calibri"/>
            </a:endParaRPr>
          </a:p>
        </p:txBody>
      </p:sp>
      <p:sp>
        <p:nvSpPr>
          <p:cNvPr id="165" name="Google Shape;165;p11"/>
          <p:cNvSpPr/>
          <p:nvPr/>
        </p:nvSpPr>
        <p:spPr>
          <a:xfrm>
            <a:off x="4572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a:off x="4572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a:off x="6400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Operator Experience</a:t>
            </a:r>
            <a:endParaRPr b="0" i="0" sz="1300" u="none" cap="none" strike="noStrike">
              <a:solidFill>
                <a:schemeClr val="dk1"/>
              </a:solidFill>
              <a:latin typeface="Calibri"/>
              <a:ea typeface="Calibri"/>
              <a:cs typeface="Calibri"/>
              <a:sym typeface="Calibri"/>
            </a:endParaRPr>
          </a:p>
        </p:txBody>
      </p:sp>
      <p:sp>
        <p:nvSpPr>
          <p:cNvPr id="168" name="Google Shape;168;p11"/>
          <p:cNvSpPr/>
          <p:nvPr/>
        </p:nvSpPr>
        <p:spPr>
          <a:xfrm>
            <a:off x="6858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Confidence-ranked suggestions and reduce dismissible recommendations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Preference learning (a subfield of ML that models and predicts user preferences based on observed data)</a:t>
            </a:r>
            <a:endParaRPr b="0" i="0" sz="1000" u="none" cap="none" strike="noStrike">
              <a:solidFill>
                <a:schemeClr val="dk1"/>
              </a:solidFill>
              <a:latin typeface="Calibri"/>
              <a:ea typeface="Calibri"/>
              <a:cs typeface="Calibri"/>
              <a:sym typeface="Calibri"/>
            </a:endParaRPr>
          </a:p>
        </p:txBody>
      </p:sp>
      <p:sp>
        <p:nvSpPr>
          <p:cNvPr id="169" name="Google Shape;169;p11"/>
          <p:cNvSpPr/>
          <p:nvPr/>
        </p:nvSpPr>
        <p:spPr>
          <a:xfrm>
            <a:off x="48006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p:nvPr/>
        </p:nvSpPr>
        <p:spPr>
          <a:xfrm>
            <a:off x="48006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a:off x="49834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Quality Assurance</a:t>
            </a:r>
            <a:endParaRPr b="0" i="0" sz="1300" u="none" cap="none" strike="noStrike">
              <a:solidFill>
                <a:schemeClr val="dk1"/>
              </a:solidFill>
              <a:latin typeface="Calibri"/>
              <a:ea typeface="Calibri"/>
              <a:cs typeface="Calibri"/>
              <a:sym typeface="Calibri"/>
            </a:endParaRPr>
          </a:p>
        </p:txBody>
      </p:sp>
      <p:sp>
        <p:nvSpPr>
          <p:cNvPr id="172" name="Google Shape;172;p11"/>
          <p:cNvSpPr/>
          <p:nvPr/>
        </p:nvSpPr>
        <p:spPr>
          <a:xfrm>
            <a:off x="50292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Maintaining guidance quality consistency by quality scoring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77" name="Shape 177"/>
        <p:cNvGrpSpPr/>
        <p:nvPr/>
      </p:nvGrpSpPr>
      <p:grpSpPr>
        <a:xfrm>
          <a:off x="0" y="0"/>
          <a:ext cx="0" cy="0"/>
          <a:chOff x="0" y="0"/>
          <a:chExt cx="0" cy="0"/>
        </a:xfrm>
      </p:grpSpPr>
      <p:sp>
        <p:nvSpPr>
          <p:cNvPr id="178" name="Google Shape;178;p12"/>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2"/>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3: Vein Identification &amp; Segmentation</a:t>
            </a:r>
            <a:endParaRPr b="0" i="0" sz="2600" u="none" cap="none" strike="noStrike">
              <a:solidFill>
                <a:schemeClr val="dk1"/>
              </a:solidFill>
              <a:latin typeface="Calibri"/>
              <a:ea typeface="Calibri"/>
              <a:cs typeface="Calibri"/>
              <a:sym typeface="Calibri"/>
            </a:endParaRPr>
          </a:p>
        </p:txBody>
      </p:sp>
      <p:sp>
        <p:nvSpPr>
          <p:cNvPr id="180" name="Google Shape;180;p12"/>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82" name="Google Shape;182;p12"/>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83" name="Google Shape;183;p12"/>
          <p:cNvSpPr/>
          <p:nvPr/>
        </p:nvSpPr>
        <p:spPr>
          <a:xfrm>
            <a:off x="457200" y="10058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Goal: </a:t>
            </a:r>
            <a:r>
              <a:rPr b="0" i="0" lang="en-US" sz="1100" u="none" cap="none" strike="noStrike">
                <a:solidFill>
                  <a:srgbClr val="333333"/>
                </a:solidFill>
                <a:latin typeface="Arial"/>
                <a:ea typeface="Arial"/>
                <a:cs typeface="Arial"/>
                <a:sym typeface="Arial"/>
              </a:rPr>
              <a:t>Automated vision-based vein detection     </a:t>
            </a:r>
            <a:endParaRPr b="0" i="0" sz="1100" u="none" cap="none" strike="noStrike">
              <a:solidFill>
                <a:srgbClr val="333333"/>
              </a:solidFill>
              <a:latin typeface="Arial"/>
              <a:ea typeface="Arial"/>
              <a:cs typeface="Arial"/>
              <a:sym typeface="Arial"/>
            </a:endParaRPr>
          </a:p>
          <a:p>
            <a:pPr indent="0" lvl="0" marL="0" marR="0" rtl="0" algn="l">
              <a:spcBef>
                <a:spcPts val="0"/>
              </a:spcBef>
              <a:spcAft>
                <a:spcPts val="0"/>
              </a:spcAft>
              <a:buClr>
                <a:srgbClr val="990000"/>
              </a:buClr>
              <a:buSzPts val="1100"/>
              <a:buFont typeface="Arial"/>
              <a:buNone/>
            </a:pPr>
            <a:r>
              <a:rPr b="1" i="0" lang="en-US" sz="1100" u="none" cap="none" strike="noStrike">
                <a:solidFill>
                  <a:srgbClr val="990000"/>
                </a:solidFill>
                <a:latin typeface="Arial"/>
                <a:ea typeface="Arial"/>
                <a:cs typeface="Arial"/>
                <a:sym typeface="Arial"/>
              </a:rPr>
              <a:t>Input: prompt from </a:t>
            </a:r>
            <a:r>
              <a:rPr b="0" i="0" lang="en-US" sz="1100" u="none" cap="none" strike="noStrike">
                <a:solidFill>
                  <a:srgbClr val="333333"/>
                </a:solidFill>
                <a:latin typeface="Arial"/>
                <a:ea typeface="Arial"/>
                <a:cs typeface="Arial"/>
                <a:sym typeface="Arial"/>
              </a:rPr>
              <a:t>An annotated image with fascia and vein annotations</a:t>
            </a:r>
            <a:endParaRPr b="0" i="0" sz="1100" u="none" cap="none" strike="noStrike">
              <a:solidFill>
                <a:srgbClr val="333333"/>
              </a:solidFill>
              <a:latin typeface="Arial"/>
              <a:ea typeface="Arial"/>
              <a:cs typeface="Arial"/>
              <a:sym typeface="Arial"/>
            </a:endParaRPr>
          </a:p>
          <a:p>
            <a:pPr indent="0" lvl="0" marL="0" marR="0" rtl="0" algn="l">
              <a:spcBef>
                <a:spcPts val="0"/>
              </a:spcBef>
              <a:spcAft>
                <a:spcPts val="0"/>
              </a:spcAft>
              <a:buClr>
                <a:srgbClr val="990000"/>
              </a:buClr>
              <a:buSzPts val="1100"/>
              <a:buFont typeface="Arial"/>
              <a:buNone/>
            </a:pPr>
            <a:r>
              <a:rPr lang="en-US" sz="1100">
                <a:solidFill>
                  <a:srgbClr val="333333"/>
                </a:solidFill>
              </a:rPr>
              <a:t>Context: </a:t>
            </a:r>
            <a:endParaRPr sz="1100">
              <a:solidFill>
                <a:srgbClr val="333333"/>
              </a:solidFill>
            </a:endParaRPr>
          </a:p>
        </p:txBody>
      </p:sp>
      <p:sp>
        <p:nvSpPr>
          <p:cNvPr id="184" name="Google Shape;184;p12"/>
          <p:cNvSpPr/>
          <p:nvPr/>
        </p:nvSpPr>
        <p:spPr>
          <a:xfrm>
            <a:off x="457200" y="1463040"/>
            <a:ext cx="8229600" cy="29260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
          <p:cNvSpPr/>
          <p:nvPr/>
        </p:nvSpPr>
        <p:spPr>
          <a:xfrm>
            <a:off x="640080" y="15544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1 Approach</a:t>
            </a:r>
            <a:endParaRPr b="0" i="0" sz="1400" u="none" cap="none" strike="noStrike">
              <a:solidFill>
                <a:schemeClr val="dk1"/>
              </a:solidFill>
              <a:latin typeface="Calibri"/>
              <a:ea typeface="Calibri"/>
              <a:cs typeface="Calibri"/>
              <a:sym typeface="Calibri"/>
            </a:endParaRPr>
          </a:p>
        </p:txBody>
      </p:sp>
      <p:sp>
        <p:nvSpPr>
          <p:cNvPr id="186" name="Google Shape;186;p12"/>
          <p:cNvSpPr/>
          <p:nvPr/>
        </p:nvSpPr>
        <p:spPr>
          <a:xfrm>
            <a:off x="731520" y="1920240"/>
            <a:ext cx="768096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100"/>
              <a:buFont typeface="Arial"/>
              <a:buChar char="•"/>
            </a:pPr>
            <a:r>
              <a:rPr lang="en-US" sz="1100">
                <a:solidFill>
                  <a:srgbClr val="333333"/>
                </a:solidFill>
              </a:rPr>
              <a:t>v1 v2 fascia -&gt; prompt </a:t>
            </a:r>
            <a:r>
              <a:rPr lang="en-US" sz="1100">
                <a:solidFill>
                  <a:srgbClr val="333333"/>
                </a:solidFill>
              </a:rPr>
              <a:t>engineering</a:t>
            </a:r>
            <a:r>
              <a:rPr lang="en-US" sz="1100">
                <a:solidFill>
                  <a:srgbClr val="333333"/>
                </a:solidFill>
              </a:rPr>
              <a:t> -&gt; </a:t>
            </a:r>
            <a:endParaRPr sz="1100">
              <a:solidFill>
                <a:srgbClr val="333333"/>
              </a:solidFill>
            </a:endParaRPr>
          </a:p>
          <a:p>
            <a:pPr indent="-342900" lvl="0" marL="342900" marR="0" rtl="0" algn="l">
              <a:spcBef>
                <a:spcPts val="0"/>
              </a:spcBef>
              <a:spcAft>
                <a:spcPts val="0"/>
              </a:spcAft>
              <a:buClr>
                <a:srgbClr val="333333"/>
              </a:buClr>
              <a:buSzPts val="1100"/>
              <a:buChar char="•"/>
            </a:pPr>
            <a:r>
              <a:rPr lang="en-US" sz="1100">
                <a:solidFill>
                  <a:srgbClr val="333333"/>
                </a:solidFill>
              </a:rPr>
              <a:t>Scrap from figures book or internet</a:t>
            </a:r>
            <a:endParaRPr sz="1100">
              <a:solidFill>
                <a:srgbClr val="333333"/>
              </a:solidFill>
            </a:endParaRPr>
          </a:p>
          <a:p>
            <a:pPr indent="-342900" lvl="0" marL="342900" marR="0" rtl="0" algn="l">
              <a:spcBef>
                <a:spcPts val="0"/>
              </a:spcBef>
              <a:spcAft>
                <a:spcPts val="0"/>
              </a:spcAft>
              <a:buClr>
                <a:srgbClr val="333333"/>
              </a:buClr>
              <a:buSzPts val="1100"/>
              <a:buFont typeface="Arial"/>
              <a:buChar char="•"/>
            </a:pPr>
            <a:r>
              <a:rPr lang="en-US" sz="1100">
                <a:solidFill>
                  <a:srgbClr val="333333"/>
                </a:solidFill>
              </a:rPr>
              <a:t>To get sample data from lucas.</a:t>
            </a:r>
            <a:endParaRPr sz="1100">
              <a:solidFill>
                <a:srgbClr val="333333"/>
              </a:solidFill>
            </a:endParaRPr>
          </a:p>
          <a:p>
            <a:pPr indent="-342900" lvl="0" marL="342900" marR="0" rtl="0" algn="l">
              <a:spcBef>
                <a:spcPts val="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Real-time vein classification in annotated ultrasound streams using LLMs</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Integration of RAG database grounded on CHIVA medical literature and inferencing this knowledge as context to the LLM to help</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Inferencing RAG knowledge as context to the LLM to help the model make high quality and high precision classifications</a:t>
            </a:r>
            <a:endParaRPr b="0" i="0" sz="11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Achieve Low-latency processing (&lt;33ms for 30fps)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91" name="Shape 191"/>
        <p:cNvGrpSpPr/>
        <p:nvPr/>
      </p:nvGrpSpPr>
      <p:grpSpPr>
        <a:xfrm>
          <a:off x="0" y="0"/>
          <a:ext cx="0" cy="0"/>
          <a:chOff x="0" y="0"/>
          <a:chExt cx="0" cy="0"/>
        </a:xfrm>
      </p:grpSpPr>
      <p:sp>
        <p:nvSpPr>
          <p:cNvPr id="192" name="Google Shape;192;p13"/>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3"/>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3: Vein </a:t>
            </a:r>
            <a:r>
              <a:rPr b="1" lang="en-US" sz="2600">
                <a:solidFill>
                  <a:srgbClr val="990000"/>
                </a:solidFill>
                <a:latin typeface="Georgia"/>
                <a:ea typeface="Georgia"/>
                <a:cs typeface="Georgia"/>
                <a:sym typeface="Georgia"/>
              </a:rPr>
              <a:t>classification with LLM</a:t>
            </a:r>
            <a:endParaRPr b="0" i="0" sz="2600" u="none" cap="none" strike="noStrike">
              <a:solidFill>
                <a:schemeClr val="dk1"/>
              </a:solidFill>
              <a:latin typeface="Calibri"/>
              <a:ea typeface="Calibri"/>
              <a:cs typeface="Calibri"/>
              <a:sym typeface="Calibri"/>
            </a:endParaRPr>
          </a:p>
        </p:txBody>
      </p:sp>
      <p:sp>
        <p:nvSpPr>
          <p:cNvPr id="194" name="Google Shape;194;p13"/>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3"/>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196" name="Google Shape;196;p13"/>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197" name="Google Shape;197;p13"/>
          <p:cNvSpPr/>
          <p:nvPr/>
        </p:nvSpPr>
        <p:spPr>
          <a:xfrm>
            <a:off x="457200" y="1005840"/>
            <a:ext cx="8229600" cy="13716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p:nvPr/>
        </p:nvSpPr>
        <p:spPr>
          <a:xfrm>
            <a:off x="640080" y="10972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2 (if needed)</a:t>
            </a:r>
            <a:endParaRPr b="0" i="0" sz="1400" u="none" cap="none" strike="noStrike">
              <a:solidFill>
                <a:schemeClr val="dk1"/>
              </a:solidFill>
              <a:latin typeface="Calibri"/>
              <a:ea typeface="Calibri"/>
              <a:cs typeface="Calibri"/>
              <a:sym typeface="Calibri"/>
            </a:endParaRPr>
          </a:p>
        </p:txBody>
      </p:sp>
      <p:sp>
        <p:nvSpPr>
          <p:cNvPr id="199" name="Google Shape;199;p13"/>
          <p:cNvSpPr/>
          <p:nvPr/>
        </p:nvSpPr>
        <p:spPr>
          <a:xfrm>
            <a:off x="731520" y="1463040"/>
            <a:ext cx="7680960" cy="7315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100"/>
              <a:buFont typeface="Arial"/>
              <a:buChar char="•"/>
            </a:pPr>
            <a:r>
              <a:rPr b="0" i="0" lang="en-US" sz="1100" u="none" cap="none" strike="noStrike">
                <a:solidFill>
                  <a:srgbClr val="333333"/>
                </a:solidFill>
                <a:latin typeface="Arial"/>
                <a:ea typeface="Arial"/>
                <a:cs typeface="Arial"/>
                <a:sym typeface="Arial"/>
              </a:rPr>
              <a:t>Fine-tune Vision LLM on labeled ultrasound datasets</a:t>
            </a:r>
            <a:endParaRPr b="0" i="0" sz="1100" u="none" cap="none" strike="noStrike">
              <a:solidFill>
                <a:srgbClr val="333333"/>
              </a:solidFill>
              <a:latin typeface="Arial"/>
              <a:ea typeface="Arial"/>
              <a:cs typeface="Arial"/>
              <a:sym typeface="Arial"/>
            </a:endParaRPr>
          </a:p>
          <a:p>
            <a:pPr indent="-342900" lvl="0" marL="342900" marR="0" rtl="0" algn="l">
              <a:spcBef>
                <a:spcPts val="0"/>
              </a:spcBef>
              <a:spcAft>
                <a:spcPts val="0"/>
              </a:spcAft>
              <a:buClr>
                <a:srgbClr val="333333"/>
              </a:buClr>
              <a:buSzPts val="1100"/>
              <a:buChar char="•"/>
            </a:pPr>
            <a:r>
              <a:rPr lang="en-US" sz="1100">
                <a:solidFill>
                  <a:srgbClr val="333333"/>
                </a:solidFill>
              </a:rPr>
              <a:t>Metric</a:t>
            </a:r>
            <a:endParaRPr sz="1100">
              <a:solidFill>
                <a:srgbClr val="333333"/>
              </a:solidFill>
            </a:endParaRPr>
          </a:p>
        </p:txBody>
      </p:sp>
      <p:sp>
        <p:nvSpPr>
          <p:cNvPr id="200" name="Google Shape;200;p13"/>
          <p:cNvSpPr/>
          <p:nvPr/>
        </p:nvSpPr>
        <p:spPr>
          <a:xfrm>
            <a:off x="457200" y="2606040"/>
            <a:ext cx="8229600" cy="457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3"/>
          <p:cNvSpPr/>
          <p:nvPr/>
        </p:nvSpPr>
        <p:spPr>
          <a:xfrm>
            <a:off x="640080" y="260604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Tech Stack: </a:t>
            </a:r>
            <a:r>
              <a:rPr b="0" i="0" lang="en-US" sz="1100" u="none" cap="none" strike="noStrike">
                <a:solidFill>
                  <a:srgbClr val="FFFFFF"/>
                </a:solidFill>
                <a:latin typeface="Arial"/>
                <a:ea typeface="Arial"/>
                <a:cs typeface="Arial"/>
                <a:sym typeface="Arial"/>
              </a:rPr>
              <a:t>OpenCV, Claude/OpenAI Vision LLM APIs, Hugging Face Vision LLMs, Ollama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06" name="Shape 206"/>
        <p:cNvGrpSpPr/>
        <p:nvPr/>
      </p:nvGrpSpPr>
      <p:grpSpPr>
        <a:xfrm>
          <a:off x="0" y="0"/>
          <a:ext cx="0" cy="0"/>
          <a:chOff x="0" y="0"/>
          <a:chExt cx="0" cy="0"/>
        </a:xfrm>
      </p:grpSpPr>
      <p:sp>
        <p:nvSpPr>
          <p:cNvPr id="207" name="Google Shape;207;p14"/>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3: Potential Improvements</a:t>
            </a:r>
            <a:endParaRPr b="0" i="0" sz="2600" u="none" cap="none" strike="noStrike">
              <a:solidFill>
                <a:schemeClr val="dk1"/>
              </a:solidFill>
              <a:latin typeface="Calibri"/>
              <a:ea typeface="Calibri"/>
              <a:cs typeface="Calibri"/>
              <a:sym typeface="Calibri"/>
            </a:endParaRPr>
          </a:p>
        </p:txBody>
      </p:sp>
      <p:sp>
        <p:nvSpPr>
          <p:cNvPr id="209" name="Google Shape;209;p14"/>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4"/>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211" name="Google Shape;211;p14"/>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212" name="Google Shape;212;p14"/>
          <p:cNvSpPr/>
          <p:nvPr/>
        </p:nvSpPr>
        <p:spPr>
          <a:xfrm>
            <a:off x="4572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4572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6400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Detection Accuracy</a:t>
            </a:r>
            <a:endParaRPr b="0" i="0" sz="1300" u="none" cap="none" strike="noStrike">
              <a:solidFill>
                <a:schemeClr val="dk1"/>
              </a:solidFill>
              <a:latin typeface="Calibri"/>
              <a:ea typeface="Calibri"/>
              <a:cs typeface="Calibri"/>
              <a:sym typeface="Calibri"/>
            </a:endParaRPr>
          </a:p>
        </p:txBody>
      </p:sp>
      <p:sp>
        <p:nvSpPr>
          <p:cNvPr id="215" name="Google Shape;215;p14"/>
          <p:cNvSpPr/>
          <p:nvPr/>
        </p:nvSpPr>
        <p:spPr>
          <a:xfrm>
            <a:off x="6858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Fine-tune on ultrasound datasets</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Attention mechanisms adaptations</a:t>
            </a:r>
            <a:endParaRPr b="0" i="0" sz="1050" u="none" cap="none" strike="noStrike">
              <a:solidFill>
                <a:schemeClr val="dk1"/>
              </a:solidFill>
              <a:latin typeface="Calibri"/>
              <a:ea typeface="Calibri"/>
              <a:cs typeface="Calibri"/>
              <a:sym typeface="Calibri"/>
            </a:endParaRPr>
          </a:p>
        </p:txBody>
      </p:sp>
      <p:sp>
        <p:nvSpPr>
          <p:cNvPr id="216" name="Google Shape;216;p14"/>
          <p:cNvSpPr/>
          <p:nvPr/>
        </p:nvSpPr>
        <p:spPr>
          <a:xfrm>
            <a:off x="4800600" y="109728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4800600" y="109728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4983480" y="118872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Speed &amp; Efficiency</a:t>
            </a:r>
            <a:endParaRPr b="0" i="0" sz="1300" u="none" cap="none" strike="noStrike">
              <a:solidFill>
                <a:schemeClr val="dk1"/>
              </a:solidFill>
              <a:latin typeface="Calibri"/>
              <a:ea typeface="Calibri"/>
              <a:cs typeface="Calibri"/>
              <a:sym typeface="Calibri"/>
            </a:endParaRPr>
          </a:p>
        </p:txBody>
      </p:sp>
      <p:sp>
        <p:nvSpPr>
          <p:cNvPr id="219" name="Google Shape;219;p14"/>
          <p:cNvSpPr/>
          <p:nvPr/>
        </p:nvSpPr>
        <p:spPr>
          <a:xfrm>
            <a:off x="5029200" y="155448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Model distillation</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ONNX optimization</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GPU acceleration</a:t>
            </a:r>
            <a:endParaRPr b="0" i="0" sz="1050" u="none" cap="none" strike="noStrike">
              <a:solidFill>
                <a:schemeClr val="dk1"/>
              </a:solidFill>
              <a:latin typeface="Calibri"/>
              <a:ea typeface="Calibri"/>
              <a:cs typeface="Calibri"/>
              <a:sym typeface="Calibri"/>
            </a:endParaRPr>
          </a:p>
        </p:txBody>
      </p:sp>
      <p:sp>
        <p:nvSpPr>
          <p:cNvPr id="220" name="Google Shape;220;p14"/>
          <p:cNvSpPr/>
          <p:nvPr/>
        </p:nvSpPr>
        <p:spPr>
          <a:xfrm>
            <a:off x="4572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p:nvPr/>
        </p:nvSpPr>
        <p:spPr>
          <a:xfrm>
            <a:off x="4572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6400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Temporal Coherence</a:t>
            </a:r>
            <a:endParaRPr b="0" i="0" sz="1300" u="none" cap="none" strike="noStrike">
              <a:solidFill>
                <a:schemeClr val="dk1"/>
              </a:solidFill>
              <a:latin typeface="Calibri"/>
              <a:ea typeface="Calibri"/>
              <a:cs typeface="Calibri"/>
              <a:sym typeface="Calibri"/>
            </a:endParaRPr>
          </a:p>
        </p:txBody>
      </p:sp>
      <p:sp>
        <p:nvSpPr>
          <p:cNvPr id="223" name="Google Shape;223;p14"/>
          <p:cNvSpPr/>
          <p:nvPr/>
        </p:nvSpPr>
        <p:spPr>
          <a:xfrm>
            <a:off x="6858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Kalman filtering</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Using better tracking algorithms using VLMs or finetuned VLMs</a:t>
            </a:r>
            <a:endParaRPr b="0" i="0" sz="1050" u="none" cap="none" strike="noStrike">
              <a:solidFill>
                <a:schemeClr val="dk1"/>
              </a:solidFill>
              <a:latin typeface="Calibri"/>
              <a:ea typeface="Calibri"/>
              <a:cs typeface="Calibri"/>
              <a:sym typeface="Calibri"/>
            </a:endParaRPr>
          </a:p>
        </p:txBody>
      </p:sp>
      <p:sp>
        <p:nvSpPr>
          <p:cNvPr id="224" name="Google Shape;224;p14"/>
          <p:cNvSpPr/>
          <p:nvPr/>
        </p:nvSpPr>
        <p:spPr>
          <a:xfrm>
            <a:off x="4800600" y="2743200"/>
            <a:ext cx="3886200" cy="14630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
          <p:cNvSpPr/>
          <p:nvPr/>
        </p:nvSpPr>
        <p:spPr>
          <a:xfrm>
            <a:off x="4800600" y="2743200"/>
            <a:ext cx="54864" cy="14630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4983480" y="2834640"/>
            <a:ext cx="3520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Robustness</a:t>
            </a:r>
            <a:endParaRPr b="0" i="0" sz="1300" u="none" cap="none" strike="noStrike">
              <a:solidFill>
                <a:schemeClr val="dk1"/>
              </a:solidFill>
              <a:latin typeface="Calibri"/>
              <a:ea typeface="Calibri"/>
              <a:cs typeface="Calibri"/>
              <a:sym typeface="Calibri"/>
            </a:endParaRPr>
          </a:p>
        </p:txBody>
      </p:sp>
      <p:sp>
        <p:nvSpPr>
          <p:cNvPr id="227" name="Google Shape;227;p14"/>
          <p:cNvSpPr/>
          <p:nvPr/>
        </p:nvSpPr>
        <p:spPr>
          <a:xfrm>
            <a:off x="5029200" y="3200400"/>
            <a:ext cx="3429000" cy="914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Imaging artifact handling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32" name="Shape 232"/>
        <p:cNvGrpSpPr/>
        <p:nvPr/>
      </p:nvGrpSpPr>
      <p:grpSpPr>
        <a:xfrm>
          <a:off x="0" y="0"/>
          <a:ext cx="0" cy="0"/>
          <a:chOff x="0" y="0"/>
          <a:chExt cx="0" cy="0"/>
        </a:xfrm>
      </p:grpSpPr>
      <p:sp>
        <p:nvSpPr>
          <p:cNvPr id="233" name="Google Shape;233;p15"/>
          <p:cNvSpPr/>
          <p:nvPr/>
        </p:nvSpPr>
        <p:spPr>
          <a:xfrm>
            <a:off x="365760" y="320040"/>
            <a:ext cx="73200" cy="5028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
          <p:cNvSpPr/>
          <p:nvPr/>
        </p:nvSpPr>
        <p:spPr>
          <a:xfrm>
            <a:off x="548640" y="274320"/>
            <a:ext cx="7772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Task </a:t>
            </a:r>
            <a:r>
              <a:rPr b="1" lang="en-US" sz="2600">
                <a:solidFill>
                  <a:srgbClr val="990000"/>
                </a:solidFill>
                <a:latin typeface="Georgia"/>
                <a:ea typeface="Georgia"/>
                <a:cs typeface="Georgia"/>
                <a:sym typeface="Georgia"/>
              </a:rPr>
              <a:t>4</a:t>
            </a:r>
            <a:r>
              <a:rPr b="1" i="0" lang="en-US" sz="2600" u="none" cap="none" strike="noStrike">
                <a:solidFill>
                  <a:srgbClr val="990000"/>
                </a:solidFill>
                <a:latin typeface="Georgia"/>
                <a:ea typeface="Georgia"/>
                <a:cs typeface="Georgia"/>
                <a:sym typeface="Georgia"/>
              </a:rPr>
              <a:t>:</a:t>
            </a:r>
            <a:r>
              <a:rPr b="1" lang="en-US" sz="2600">
                <a:solidFill>
                  <a:srgbClr val="990000"/>
                </a:solidFill>
                <a:latin typeface="Georgia"/>
                <a:ea typeface="Georgia"/>
                <a:cs typeface="Georgia"/>
                <a:sym typeface="Georgia"/>
              </a:rPr>
              <a:t> VLM Approach</a:t>
            </a:r>
            <a:endParaRPr b="0" i="0" sz="2600" u="none" cap="none" strike="noStrike">
              <a:solidFill>
                <a:schemeClr val="dk1"/>
              </a:solidFill>
              <a:latin typeface="Calibri"/>
              <a:ea typeface="Calibri"/>
              <a:cs typeface="Calibri"/>
              <a:sym typeface="Calibri"/>
            </a:endParaRPr>
          </a:p>
        </p:txBody>
      </p:sp>
      <p:sp>
        <p:nvSpPr>
          <p:cNvPr id="235" name="Google Shape;235;p15"/>
          <p:cNvSpPr/>
          <p:nvPr/>
        </p:nvSpPr>
        <p:spPr>
          <a:xfrm>
            <a:off x="0" y="4709160"/>
            <a:ext cx="9144000" cy="434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a:off x="457200" y="4709160"/>
            <a:ext cx="4572000" cy="43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237" name="Google Shape;237;p15"/>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238" name="Google Shape;238;p15"/>
          <p:cNvSpPr/>
          <p:nvPr/>
        </p:nvSpPr>
        <p:spPr>
          <a:xfrm>
            <a:off x="457200" y="1005840"/>
            <a:ext cx="8229600" cy="13716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640080" y="1097280"/>
            <a:ext cx="3657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400"/>
              <a:buFont typeface="Georgia"/>
              <a:buNone/>
            </a:pPr>
            <a:r>
              <a:rPr b="1" i="0" lang="en-US" sz="1400" u="none" cap="none" strike="noStrike">
                <a:solidFill>
                  <a:srgbClr val="990000"/>
                </a:solidFill>
                <a:latin typeface="Georgia"/>
                <a:ea typeface="Georgia"/>
                <a:cs typeface="Georgia"/>
                <a:sym typeface="Georgia"/>
              </a:rPr>
              <a:t>Phase </a:t>
            </a:r>
            <a:r>
              <a:rPr b="1" lang="en-US">
                <a:solidFill>
                  <a:srgbClr val="990000"/>
                </a:solidFill>
                <a:latin typeface="Georgia"/>
                <a:ea typeface="Georgia"/>
                <a:cs typeface="Georgia"/>
                <a:sym typeface="Georgia"/>
              </a:rPr>
              <a:t>1 Approach</a:t>
            </a:r>
            <a:r>
              <a:rPr b="1" i="0" lang="en-US" sz="1400" u="none" cap="none" strike="noStrike">
                <a:solidFill>
                  <a:srgbClr val="990000"/>
                </a:solidFill>
                <a:latin typeface="Georgia"/>
                <a:ea typeface="Georgia"/>
                <a:cs typeface="Georgia"/>
                <a:sym typeface="Georgia"/>
              </a:rPr>
              <a:t> </a:t>
            </a:r>
            <a:endParaRPr b="0" i="0" sz="1400" u="none" cap="none" strike="noStrike">
              <a:solidFill>
                <a:schemeClr val="dk1"/>
              </a:solidFill>
              <a:latin typeface="Calibri"/>
              <a:ea typeface="Calibri"/>
              <a:cs typeface="Calibri"/>
              <a:sym typeface="Calibri"/>
            </a:endParaRPr>
          </a:p>
        </p:txBody>
      </p:sp>
      <p:sp>
        <p:nvSpPr>
          <p:cNvPr id="240" name="Google Shape;240;p15"/>
          <p:cNvSpPr/>
          <p:nvPr/>
        </p:nvSpPr>
        <p:spPr>
          <a:xfrm>
            <a:off x="731520" y="1463040"/>
            <a:ext cx="7680900" cy="7314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100"/>
              <a:buChar char="•"/>
            </a:pPr>
            <a:r>
              <a:rPr lang="en-US" sz="1100">
                <a:solidFill>
                  <a:srgbClr val="333333"/>
                </a:solidFill>
              </a:rPr>
              <a:t>Using VLM for Task-2 and improvising the Task-3 by providing more contextual understanding to the VLM through more data ingested in RAG and fes shot prompting. </a:t>
            </a:r>
            <a:endParaRPr sz="1100">
              <a:solidFill>
                <a:srgbClr val="333333"/>
              </a:solidFill>
            </a:endParaRPr>
          </a:p>
        </p:txBody>
      </p:sp>
      <p:sp>
        <p:nvSpPr>
          <p:cNvPr id="241" name="Google Shape;241;p15"/>
          <p:cNvSpPr/>
          <p:nvPr/>
        </p:nvSpPr>
        <p:spPr>
          <a:xfrm>
            <a:off x="457200" y="2606040"/>
            <a:ext cx="8229600" cy="457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640080" y="2606040"/>
            <a:ext cx="7863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Tech Stack: </a:t>
            </a:r>
            <a:r>
              <a:rPr b="0" i="0" lang="en-US" sz="1100" u="none" cap="none" strike="noStrike">
                <a:solidFill>
                  <a:srgbClr val="FFFFFF"/>
                </a:solidFill>
                <a:latin typeface="Arial"/>
                <a:ea typeface="Arial"/>
                <a:cs typeface="Arial"/>
                <a:sym typeface="Arial"/>
              </a:rPr>
              <a:t>OpenCV, Claude/OpenAI Vision LLM APIs, Hugging Face Vision LLMs, Ollama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47" name="Shape 247"/>
        <p:cNvGrpSpPr/>
        <p:nvPr/>
      </p:nvGrpSpPr>
      <p:grpSpPr>
        <a:xfrm>
          <a:off x="0" y="0"/>
          <a:ext cx="0" cy="0"/>
          <a:chOff x="0" y="0"/>
          <a:chExt cx="0" cy="0"/>
        </a:xfrm>
      </p:grpSpPr>
      <p:sp>
        <p:nvSpPr>
          <p:cNvPr id="248" name="Google Shape;248;p16"/>
          <p:cNvSpPr/>
          <p:nvPr/>
        </p:nvSpPr>
        <p:spPr>
          <a:xfrm>
            <a:off x="365760" y="320040"/>
            <a:ext cx="73200" cy="5028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6"/>
          <p:cNvSpPr/>
          <p:nvPr/>
        </p:nvSpPr>
        <p:spPr>
          <a:xfrm>
            <a:off x="548640" y="274320"/>
            <a:ext cx="7772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Full Weekly Plan: Weeks 1-26</a:t>
            </a:r>
            <a:endParaRPr b="0" i="0" sz="2600" u="none" cap="none" strike="noStrike">
              <a:solidFill>
                <a:schemeClr val="dk1"/>
              </a:solidFill>
              <a:latin typeface="Calibri"/>
              <a:ea typeface="Calibri"/>
              <a:cs typeface="Calibri"/>
              <a:sym typeface="Calibri"/>
            </a:endParaRPr>
          </a:p>
        </p:txBody>
      </p:sp>
      <p:sp>
        <p:nvSpPr>
          <p:cNvPr id="250" name="Google Shape;250;p16"/>
          <p:cNvSpPr/>
          <p:nvPr/>
        </p:nvSpPr>
        <p:spPr>
          <a:xfrm>
            <a:off x="0" y="4709160"/>
            <a:ext cx="9144000" cy="434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457200" y="4709160"/>
            <a:ext cx="4572000" cy="43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252" name="Google Shape;252;p16"/>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253" name="Google Shape;253;p16"/>
          <p:cNvSpPr/>
          <p:nvPr/>
        </p:nvSpPr>
        <p:spPr>
          <a:xfrm>
            <a:off x="3566160" y="960120"/>
            <a:ext cx="5486400" cy="274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a:off x="3566160"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a:t>
            </a:r>
            <a:endParaRPr b="0" i="0" sz="800" u="none" cap="none" strike="noStrike">
              <a:solidFill>
                <a:schemeClr val="dk1"/>
              </a:solidFill>
              <a:latin typeface="Calibri"/>
              <a:ea typeface="Calibri"/>
              <a:cs typeface="Calibri"/>
              <a:sym typeface="Calibri"/>
            </a:endParaRPr>
          </a:p>
        </p:txBody>
      </p:sp>
      <p:sp>
        <p:nvSpPr>
          <p:cNvPr id="255" name="Google Shape;255;p16"/>
          <p:cNvSpPr/>
          <p:nvPr/>
        </p:nvSpPr>
        <p:spPr>
          <a:xfrm>
            <a:off x="3777175"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a:t>
            </a:r>
            <a:endParaRPr b="0" i="0" sz="800" u="none" cap="none" strike="noStrike">
              <a:solidFill>
                <a:schemeClr val="dk1"/>
              </a:solidFill>
              <a:latin typeface="Calibri"/>
              <a:ea typeface="Calibri"/>
              <a:cs typeface="Calibri"/>
              <a:sym typeface="Calibri"/>
            </a:endParaRPr>
          </a:p>
        </p:txBody>
      </p:sp>
      <p:sp>
        <p:nvSpPr>
          <p:cNvPr id="256" name="Google Shape;256;p16"/>
          <p:cNvSpPr/>
          <p:nvPr/>
        </p:nvSpPr>
        <p:spPr>
          <a:xfrm>
            <a:off x="3988191"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3</a:t>
            </a:r>
            <a:endParaRPr b="0" i="0" sz="800" u="none" cap="none" strike="noStrike">
              <a:solidFill>
                <a:schemeClr val="dk1"/>
              </a:solidFill>
              <a:latin typeface="Calibri"/>
              <a:ea typeface="Calibri"/>
              <a:cs typeface="Calibri"/>
              <a:sym typeface="Calibri"/>
            </a:endParaRPr>
          </a:p>
        </p:txBody>
      </p:sp>
      <p:sp>
        <p:nvSpPr>
          <p:cNvPr id="257" name="Google Shape;257;p16"/>
          <p:cNvSpPr/>
          <p:nvPr/>
        </p:nvSpPr>
        <p:spPr>
          <a:xfrm>
            <a:off x="4199206"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4</a:t>
            </a:r>
            <a:endParaRPr b="0" i="0" sz="800" u="none" cap="none" strike="noStrike">
              <a:solidFill>
                <a:schemeClr val="dk1"/>
              </a:solidFill>
              <a:latin typeface="Calibri"/>
              <a:ea typeface="Calibri"/>
              <a:cs typeface="Calibri"/>
              <a:sym typeface="Calibri"/>
            </a:endParaRPr>
          </a:p>
        </p:txBody>
      </p:sp>
      <p:sp>
        <p:nvSpPr>
          <p:cNvPr id="258" name="Google Shape;258;p16"/>
          <p:cNvSpPr/>
          <p:nvPr/>
        </p:nvSpPr>
        <p:spPr>
          <a:xfrm>
            <a:off x="4410222"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5</a:t>
            </a:r>
            <a:endParaRPr b="0" i="0" sz="800" u="none" cap="none" strike="noStrike">
              <a:solidFill>
                <a:schemeClr val="dk1"/>
              </a:solidFill>
              <a:latin typeface="Calibri"/>
              <a:ea typeface="Calibri"/>
              <a:cs typeface="Calibri"/>
              <a:sym typeface="Calibri"/>
            </a:endParaRPr>
          </a:p>
        </p:txBody>
      </p:sp>
      <p:sp>
        <p:nvSpPr>
          <p:cNvPr id="259" name="Google Shape;259;p16"/>
          <p:cNvSpPr/>
          <p:nvPr/>
        </p:nvSpPr>
        <p:spPr>
          <a:xfrm>
            <a:off x="4621237"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6</a:t>
            </a:r>
            <a:endParaRPr b="0" i="0" sz="800" u="none" cap="none" strike="noStrike">
              <a:solidFill>
                <a:schemeClr val="dk1"/>
              </a:solidFill>
              <a:latin typeface="Calibri"/>
              <a:ea typeface="Calibri"/>
              <a:cs typeface="Calibri"/>
              <a:sym typeface="Calibri"/>
            </a:endParaRPr>
          </a:p>
        </p:txBody>
      </p:sp>
      <p:sp>
        <p:nvSpPr>
          <p:cNvPr id="260" name="Google Shape;260;p16"/>
          <p:cNvSpPr/>
          <p:nvPr/>
        </p:nvSpPr>
        <p:spPr>
          <a:xfrm>
            <a:off x="4832252"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7</a:t>
            </a:r>
            <a:endParaRPr b="0" i="0" sz="800" u="none" cap="none" strike="noStrike">
              <a:solidFill>
                <a:schemeClr val="dk1"/>
              </a:solidFill>
              <a:latin typeface="Calibri"/>
              <a:ea typeface="Calibri"/>
              <a:cs typeface="Calibri"/>
              <a:sym typeface="Calibri"/>
            </a:endParaRPr>
          </a:p>
        </p:txBody>
      </p:sp>
      <p:sp>
        <p:nvSpPr>
          <p:cNvPr id="261" name="Google Shape;261;p16"/>
          <p:cNvSpPr/>
          <p:nvPr/>
        </p:nvSpPr>
        <p:spPr>
          <a:xfrm>
            <a:off x="5043268"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8</a:t>
            </a:r>
            <a:endParaRPr b="0" i="0" sz="800" u="none" cap="none" strike="noStrike">
              <a:solidFill>
                <a:schemeClr val="dk1"/>
              </a:solidFill>
              <a:latin typeface="Calibri"/>
              <a:ea typeface="Calibri"/>
              <a:cs typeface="Calibri"/>
              <a:sym typeface="Calibri"/>
            </a:endParaRPr>
          </a:p>
        </p:txBody>
      </p:sp>
      <p:sp>
        <p:nvSpPr>
          <p:cNvPr id="262" name="Google Shape;262;p16"/>
          <p:cNvSpPr/>
          <p:nvPr/>
        </p:nvSpPr>
        <p:spPr>
          <a:xfrm>
            <a:off x="5254283"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9</a:t>
            </a:r>
            <a:endParaRPr b="0" i="0" sz="800" u="none" cap="none" strike="noStrike">
              <a:solidFill>
                <a:schemeClr val="dk1"/>
              </a:solidFill>
              <a:latin typeface="Calibri"/>
              <a:ea typeface="Calibri"/>
              <a:cs typeface="Calibri"/>
              <a:sym typeface="Calibri"/>
            </a:endParaRPr>
          </a:p>
        </p:txBody>
      </p:sp>
      <p:sp>
        <p:nvSpPr>
          <p:cNvPr id="263" name="Google Shape;263;p16"/>
          <p:cNvSpPr/>
          <p:nvPr/>
        </p:nvSpPr>
        <p:spPr>
          <a:xfrm>
            <a:off x="5465298"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10</a:t>
            </a:r>
            <a:endParaRPr b="0" i="0" sz="800" u="none" cap="none" strike="noStrike">
              <a:solidFill>
                <a:schemeClr val="dk1"/>
              </a:solidFill>
              <a:latin typeface="Calibri"/>
              <a:ea typeface="Calibri"/>
              <a:cs typeface="Calibri"/>
              <a:sym typeface="Calibri"/>
            </a:endParaRPr>
          </a:p>
        </p:txBody>
      </p:sp>
      <p:sp>
        <p:nvSpPr>
          <p:cNvPr id="264" name="Google Shape;264;p16"/>
          <p:cNvSpPr/>
          <p:nvPr/>
        </p:nvSpPr>
        <p:spPr>
          <a:xfrm>
            <a:off x="5676314"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11</a:t>
            </a:r>
            <a:endParaRPr b="0" i="0" sz="800" u="none" cap="none" strike="noStrike">
              <a:solidFill>
                <a:schemeClr val="dk1"/>
              </a:solidFill>
              <a:latin typeface="Calibri"/>
              <a:ea typeface="Calibri"/>
              <a:cs typeface="Calibri"/>
              <a:sym typeface="Calibri"/>
            </a:endParaRPr>
          </a:p>
        </p:txBody>
      </p:sp>
      <p:sp>
        <p:nvSpPr>
          <p:cNvPr id="265" name="Google Shape;265;p16"/>
          <p:cNvSpPr/>
          <p:nvPr/>
        </p:nvSpPr>
        <p:spPr>
          <a:xfrm>
            <a:off x="5887329"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12</a:t>
            </a:r>
            <a:endParaRPr b="0" i="0" sz="800" u="none" cap="none" strike="noStrike">
              <a:solidFill>
                <a:schemeClr val="dk1"/>
              </a:solidFill>
              <a:latin typeface="Calibri"/>
              <a:ea typeface="Calibri"/>
              <a:cs typeface="Calibri"/>
              <a:sym typeface="Calibri"/>
            </a:endParaRPr>
          </a:p>
        </p:txBody>
      </p:sp>
      <p:sp>
        <p:nvSpPr>
          <p:cNvPr id="266" name="Google Shape;266;p16"/>
          <p:cNvSpPr/>
          <p:nvPr/>
        </p:nvSpPr>
        <p:spPr>
          <a:xfrm>
            <a:off x="6098345"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13</a:t>
            </a:r>
            <a:endParaRPr b="0" i="0" sz="800" u="none" cap="none" strike="noStrike">
              <a:solidFill>
                <a:schemeClr val="dk1"/>
              </a:solidFill>
              <a:latin typeface="Calibri"/>
              <a:ea typeface="Calibri"/>
              <a:cs typeface="Calibri"/>
              <a:sym typeface="Calibri"/>
            </a:endParaRPr>
          </a:p>
        </p:txBody>
      </p:sp>
      <p:sp>
        <p:nvSpPr>
          <p:cNvPr id="267" name="Google Shape;267;p16"/>
          <p:cNvSpPr/>
          <p:nvPr/>
        </p:nvSpPr>
        <p:spPr>
          <a:xfrm>
            <a:off x="6309360"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14</a:t>
            </a:r>
            <a:endParaRPr b="0" i="0" sz="800" u="none" cap="none" strike="noStrike">
              <a:solidFill>
                <a:schemeClr val="dk1"/>
              </a:solidFill>
              <a:latin typeface="Calibri"/>
              <a:ea typeface="Calibri"/>
              <a:cs typeface="Calibri"/>
              <a:sym typeface="Calibri"/>
            </a:endParaRPr>
          </a:p>
        </p:txBody>
      </p:sp>
      <p:sp>
        <p:nvSpPr>
          <p:cNvPr id="268" name="Google Shape;268;p16"/>
          <p:cNvSpPr/>
          <p:nvPr/>
        </p:nvSpPr>
        <p:spPr>
          <a:xfrm>
            <a:off x="6520375"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15</a:t>
            </a:r>
            <a:endParaRPr b="0" i="0" sz="800" u="none" cap="none" strike="noStrike">
              <a:solidFill>
                <a:schemeClr val="dk1"/>
              </a:solidFill>
              <a:latin typeface="Calibri"/>
              <a:ea typeface="Calibri"/>
              <a:cs typeface="Calibri"/>
              <a:sym typeface="Calibri"/>
            </a:endParaRPr>
          </a:p>
        </p:txBody>
      </p:sp>
      <p:sp>
        <p:nvSpPr>
          <p:cNvPr id="269" name="Google Shape;269;p16"/>
          <p:cNvSpPr/>
          <p:nvPr/>
        </p:nvSpPr>
        <p:spPr>
          <a:xfrm>
            <a:off x="6731391"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16</a:t>
            </a:r>
            <a:endParaRPr b="0" i="0" sz="800" u="none" cap="none" strike="noStrike">
              <a:solidFill>
                <a:schemeClr val="dk1"/>
              </a:solidFill>
              <a:latin typeface="Calibri"/>
              <a:ea typeface="Calibri"/>
              <a:cs typeface="Calibri"/>
              <a:sym typeface="Calibri"/>
            </a:endParaRPr>
          </a:p>
        </p:txBody>
      </p:sp>
      <p:sp>
        <p:nvSpPr>
          <p:cNvPr id="270" name="Google Shape;270;p16"/>
          <p:cNvSpPr/>
          <p:nvPr/>
        </p:nvSpPr>
        <p:spPr>
          <a:xfrm>
            <a:off x="6942406"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17</a:t>
            </a:r>
            <a:endParaRPr b="0" i="0" sz="800" u="none" cap="none" strike="noStrike">
              <a:solidFill>
                <a:schemeClr val="dk1"/>
              </a:solidFill>
              <a:latin typeface="Calibri"/>
              <a:ea typeface="Calibri"/>
              <a:cs typeface="Calibri"/>
              <a:sym typeface="Calibri"/>
            </a:endParaRPr>
          </a:p>
        </p:txBody>
      </p:sp>
      <p:sp>
        <p:nvSpPr>
          <p:cNvPr id="271" name="Google Shape;271;p16"/>
          <p:cNvSpPr/>
          <p:nvPr/>
        </p:nvSpPr>
        <p:spPr>
          <a:xfrm>
            <a:off x="7153422"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18</a:t>
            </a:r>
            <a:endParaRPr b="0" i="0" sz="800" u="none" cap="none" strike="noStrike">
              <a:solidFill>
                <a:schemeClr val="dk1"/>
              </a:solidFill>
              <a:latin typeface="Calibri"/>
              <a:ea typeface="Calibri"/>
              <a:cs typeface="Calibri"/>
              <a:sym typeface="Calibri"/>
            </a:endParaRPr>
          </a:p>
        </p:txBody>
      </p:sp>
      <p:sp>
        <p:nvSpPr>
          <p:cNvPr id="272" name="Google Shape;272;p16"/>
          <p:cNvSpPr/>
          <p:nvPr/>
        </p:nvSpPr>
        <p:spPr>
          <a:xfrm>
            <a:off x="7364437"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19</a:t>
            </a:r>
            <a:endParaRPr b="0" i="0" sz="800" u="none" cap="none" strike="noStrike">
              <a:solidFill>
                <a:schemeClr val="dk1"/>
              </a:solidFill>
              <a:latin typeface="Calibri"/>
              <a:ea typeface="Calibri"/>
              <a:cs typeface="Calibri"/>
              <a:sym typeface="Calibri"/>
            </a:endParaRPr>
          </a:p>
        </p:txBody>
      </p:sp>
      <p:sp>
        <p:nvSpPr>
          <p:cNvPr id="273" name="Google Shape;273;p16"/>
          <p:cNvSpPr/>
          <p:nvPr/>
        </p:nvSpPr>
        <p:spPr>
          <a:xfrm>
            <a:off x="7575452"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20</a:t>
            </a:r>
            <a:endParaRPr b="0" i="0" sz="800" u="none" cap="none" strike="noStrike">
              <a:solidFill>
                <a:schemeClr val="dk1"/>
              </a:solidFill>
              <a:latin typeface="Calibri"/>
              <a:ea typeface="Calibri"/>
              <a:cs typeface="Calibri"/>
              <a:sym typeface="Calibri"/>
            </a:endParaRPr>
          </a:p>
        </p:txBody>
      </p:sp>
      <p:sp>
        <p:nvSpPr>
          <p:cNvPr id="274" name="Google Shape;274;p16"/>
          <p:cNvSpPr/>
          <p:nvPr/>
        </p:nvSpPr>
        <p:spPr>
          <a:xfrm>
            <a:off x="7786468"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21</a:t>
            </a:r>
            <a:endParaRPr b="0" i="0" sz="800" u="none" cap="none" strike="noStrike">
              <a:solidFill>
                <a:schemeClr val="dk1"/>
              </a:solidFill>
              <a:latin typeface="Calibri"/>
              <a:ea typeface="Calibri"/>
              <a:cs typeface="Calibri"/>
              <a:sym typeface="Calibri"/>
            </a:endParaRPr>
          </a:p>
        </p:txBody>
      </p:sp>
      <p:sp>
        <p:nvSpPr>
          <p:cNvPr id="275" name="Google Shape;275;p16"/>
          <p:cNvSpPr/>
          <p:nvPr/>
        </p:nvSpPr>
        <p:spPr>
          <a:xfrm>
            <a:off x="7997483"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22</a:t>
            </a:r>
            <a:endParaRPr b="0" i="0" sz="800" u="none" cap="none" strike="noStrike">
              <a:solidFill>
                <a:schemeClr val="dk1"/>
              </a:solidFill>
              <a:latin typeface="Calibri"/>
              <a:ea typeface="Calibri"/>
              <a:cs typeface="Calibri"/>
              <a:sym typeface="Calibri"/>
            </a:endParaRPr>
          </a:p>
        </p:txBody>
      </p:sp>
      <p:sp>
        <p:nvSpPr>
          <p:cNvPr id="276" name="Google Shape;276;p16"/>
          <p:cNvSpPr/>
          <p:nvPr/>
        </p:nvSpPr>
        <p:spPr>
          <a:xfrm>
            <a:off x="8208498"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23</a:t>
            </a:r>
            <a:endParaRPr b="0" i="0" sz="800" u="none" cap="none" strike="noStrike">
              <a:solidFill>
                <a:schemeClr val="dk1"/>
              </a:solidFill>
              <a:latin typeface="Calibri"/>
              <a:ea typeface="Calibri"/>
              <a:cs typeface="Calibri"/>
              <a:sym typeface="Calibri"/>
            </a:endParaRPr>
          </a:p>
        </p:txBody>
      </p:sp>
      <p:sp>
        <p:nvSpPr>
          <p:cNvPr id="277" name="Google Shape;277;p16"/>
          <p:cNvSpPr/>
          <p:nvPr/>
        </p:nvSpPr>
        <p:spPr>
          <a:xfrm>
            <a:off x="8419514"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24</a:t>
            </a:r>
            <a:endParaRPr b="0" i="0" sz="800" u="none" cap="none" strike="noStrike">
              <a:solidFill>
                <a:schemeClr val="dk1"/>
              </a:solidFill>
              <a:latin typeface="Calibri"/>
              <a:ea typeface="Calibri"/>
              <a:cs typeface="Calibri"/>
              <a:sym typeface="Calibri"/>
            </a:endParaRPr>
          </a:p>
        </p:txBody>
      </p:sp>
      <p:sp>
        <p:nvSpPr>
          <p:cNvPr id="278" name="Google Shape;278;p16"/>
          <p:cNvSpPr/>
          <p:nvPr/>
        </p:nvSpPr>
        <p:spPr>
          <a:xfrm>
            <a:off x="8630529"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25</a:t>
            </a:r>
            <a:endParaRPr b="0" i="0" sz="800" u="none" cap="none" strike="noStrike">
              <a:solidFill>
                <a:schemeClr val="dk1"/>
              </a:solidFill>
              <a:latin typeface="Calibri"/>
              <a:ea typeface="Calibri"/>
              <a:cs typeface="Calibri"/>
              <a:sym typeface="Calibri"/>
            </a:endParaRPr>
          </a:p>
        </p:txBody>
      </p:sp>
      <p:sp>
        <p:nvSpPr>
          <p:cNvPr id="279" name="Google Shape;279;p16"/>
          <p:cNvSpPr/>
          <p:nvPr/>
        </p:nvSpPr>
        <p:spPr>
          <a:xfrm>
            <a:off x="8841545" y="960120"/>
            <a:ext cx="210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26</a:t>
            </a:r>
            <a:endParaRPr b="0" i="0" sz="800" u="none" cap="none" strike="noStrike">
              <a:solidFill>
                <a:schemeClr val="dk1"/>
              </a:solidFill>
              <a:latin typeface="Calibri"/>
              <a:ea typeface="Calibri"/>
              <a:cs typeface="Calibri"/>
              <a:sym typeface="Calibri"/>
            </a:endParaRPr>
          </a:p>
        </p:txBody>
      </p:sp>
      <p:sp>
        <p:nvSpPr>
          <p:cNvPr id="280" name="Google Shape;280;p16"/>
          <p:cNvSpPr/>
          <p:nvPr/>
        </p:nvSpPr>
        <p:spPr>
          <a:xfrm>
            <a:off x="457200" y="960120"/>
            <a:ext cx="3108900" cy="2742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457200" y="960120"/>
            <a:ext cx="3108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Georgia"/>
              <a:buNone/>
            </a:pPr>
            <a:r>
              <a:rPr b="1" i="0" lang="en-US" sz="1000" u="none" cap="none" strike="noStrike">
                <a:solidFill>
                  <a:srgbClr val="FFFFFF"/>
                </a:solidFill>
                <a:latin typeface="Georgia"/>
                <a:ea typeface="Georgia"/>
                <a:cs typeface="Georgia"/>
                <a:sym typeface="Georgia"/>
              </a:rPr>
              <a:t>Task</a:t>
            </a:r>
            <a:endParaRPr b="0" i="0" sz="1000" u="none" cap="none" strike="noStrike">
              <a:solidFill>
                <a:schemeClr val="dk1"/>
              </a:solidFill>
              <a:latin typeface="Calibri"/>
              <a:ea typeface="Calibri"/>
              <a:cs typeface="Calibri"/>
              <a:sym typeface="Calibri"/>
            </a:endParaRPr>
          </a:p>
        </p:txBody>
      </p:sp>
      <p:sp>
        <p:nvSpPr>
          <p:cNvPr id="282" name="Google Shape;282;p16"/>
          <p:cNvSpPr/>
          <p:nvPr/>
        </p:nvSpPr>
        <p:spPr>
          <a:xfrm>
            <a:off x="457200" y="1280160"/>
            <a:ext cx="8595300" cy="5943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594360" y="1280160"/>
            <a:ext cx="2834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Arial"/>
              <a:buNone/>
            </a:pPr>
            <a:r>
              <a:rPr b="1" i="0" lang="en-US" sz="1000" u="none" cap="none" strike="noStrike">
                <a:solidFill>
                  <a:srgbClr val="333333"/>
                </a:solidFill>
                <a:latin typeface="Arial"/>
                <a:ea typeface="Arial"/>
                <a:cs typeface="Arial"/>
                <a:sym typeface="Arial"/>
              </a:rPr>
              <a:t>Task 1: LLM + RAG for Shunt Classification</a:t>
            </a:r>
            <a:endParaRPr b="0" i="0" sz="1000" u="none" cap="none" strike="noStrike">
              <a:solidFill>
                <a:schemeClr val="dk1"/>
              </a:solidFill>
              <a:latin typeface="Calibri"/>
              <a:ea typeface="Calibri"/>
              <a:cs typeface="Calibri"/>
              <a:sym typeface="Calibri"/>
            </a:endParaRPr>
          </a:p>
        </p:txBody>
      </p:sp>
      <p:cxnSp>
        <p:nvCxnSpPr>
          <p:cNvPr id="284" name="Google Shape;284;p16"/>
          <p:cNvCxnSpPr/>
          <p:nvPr/>
        </p:nvCxnSpPr>
        <p:spPr>
          <a:xfrm>
            <a:off x="3566160"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85" name="Google Shape;285;p16"/>
          <p:cNvCxnSpPr/>
          <p:nvPr/>
        </p:nvCxnSpPr>
        <p:spPr>
          <a:xfrm>
            <a:off x="3777175"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86" name="Google Shape;286;p16"/>
          <p:cNvCxnSpPr/>
          <p:nvPr/>
        </p:nvCxnSpPr>
        <p:spPr>
          <a:xfrm>
            <a:off x="3988191"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87" name="Google Shape;287;p16"/>
          <p:cNvCxnSpPr/>
          <p:nvPr/>
        </p:nvCxnSpPr>
        <p:spPr>
          <a:xfrm>
            <a:off x="4199206"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88" name="Google Shape;288;p16"/>
          <p:cNvCxnSpPr/>
          <p:nvPr/>
        </p:nvCxnSpPr>
        <p:spPr>
          <a:xfrm>
            <a:off x="4410222"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89" name="Google Shape;289;p16"/>
          <p:cNvCxnSpPr/>
          <p:nvPr/>
        </p:nvCxnSpPr>
        <p:spPr>
          <a:xfrm>
            <a:off x="4621237"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0" name="Google Shape;290;p16"/>
          <p:cNvCxnSpPr/>
          <p:nvPr/>
        </p:nvCxnSpPr>
        <p:spPr>
          <a:xfrm>
            <a:off x="4832252"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1" name="Google Shape;291;p16"/>
          <p:cNvCxnSpPr/>
          <p:nvPr/>
        </p:nvCxnSpPr>
        <p:spPr>
          <a:xfrm>
            <a:off x="5043268"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2" name="Google Shape;292;p16"/>
          <p:cNvCxnSpPr/>
          <p:nvPr/>
        </p:nvCxnSpPr>
        <p:spPr>
          <a:xfrm>
            <a:off x="5254283"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3" name="Google Shape;293;p16"/>
          <p:cNvCxnSpPr/>
          <p:nvPr/>
        </p:nvCxnSpPr>
        <p:spPr>
          <a:xfrm>
            <a:off x="5465298"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4" name="Google Shape;294;p16"/>
          <p:cNvCxnSpPr/>
          <p:nvPr/>
        </p:nvCxnSpPr>
        <p:spPr>
          <a:xfrm>
            <a:off x="5676314"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5" name="Google Shape;295;p16"/>
          <p:cNvCxnSpPr/>
          <p:nvPr/>
        </p:nvCxnSpPr>
        <p:spPr>
          <a:xfrm>
            <a:off x="5887329"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6" name="Google Shape;296;p16"/>
          <p:cNvCxnSpPr/>
          <p:nvPr/>
        </p:nvCxnSpPr>
        <p:spPr>
          <a:xfrm>
            <a:off x="6098345"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7" name="Google Shape;297;p16"/>
          <p:cNvCxnSpPr/>
          <p:nvPr/>
        </p:nvCxnSpPr>
        <p:spPr>
          <a:xfrm>
            <a:off x="6309360"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8" name="Google Shape;298;p16"/>
          <p:cNvCxnSpPr/>
          <p:nvPr/>
        </p:nvCxnSpPr>
        <p:spPr>
          <a:xfrm>
            <a:off x="6520375"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299" name="Google Shape;299;p16"/>
          <p:cNvCxnSpPr/>
          <p:nvPr/>
        </p:nvCxnSpPr>
        <p:spPr>
          <a:xfrm>
            <a:off x="6731391"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0" name="Google Shape;300;p16"/>
          <p:cNvCxnSpPr/>
          <p:nvPr/>
        </p:nvCxnSpPr>
        <p:spPr>
          <a:xfrm>
            <a:off x="6942406"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1" name="Google Shape;301;p16"/>
          <p:cNvCxnSpPr/>
          <p:nvPr/>
        </p:nvCxnSpPr>
        <p:spPr>
          <a:xfrm>
            <a:off x="7153422"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2" name="Google Shape;302;p16"/>
          <p:cNvCxnSpPr/>
          <p:nvPr/>
        </p:nvCxnSpPr>
        <p:spPr>
          <a:xfrm>
            <a:off x="7364437"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3" name="Google Shape;303;p16"/>
          <p:cNvCxnSpPr/>
          <p:nvPr/>
        </p:nvCxnSpPr>
        <p:spPr>
          <a:xfrm>
            <a:off x="7575452"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4" name="Google Shape;304;p16"/>
          <p:cNvCxnSpPr/>
          <p:nvPr/>
        </p:nvCxnSpPr>
        <p:spPr>
          <a:xfrm>
            <a:off x="7786468"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5" name="Google Shape;305;p16"/>
          <p:cNvCxnSpPr/>
          <p:nvPr/>
        </p:nvCxnSpPr>
        <p:spPr>
          <a:xfrm>
            <a:off x="7997483"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6" name="Google Shape;306;p16"/>
          <p:cNvCxnSpPr/>
          <p:nvPr/>
        </p:nvCxnSpPr>
        <p:spPr>
          <a:xfrm>
            <a:off x="8208498"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7" name="Google Shape;307;p16"/>
          <p:cNvCxnSpPr/>
          <p:nvPr/>
        </p:nvCxnSpPr>
        <p:spPr>
          <a:xfrm>
            <a:off x="8419514"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8" name="Google Shape;308;p16"/>
          <p:cNvCxnSpPr/>
          <p:nvPr/>
        </p:nvCxnSpPr>
        <p:spPr>
          <a:xfrm>
            <a:off x="8630529" y="1280160"/>
            <a:ext cx="0" cy="594300"/>
          </a:xfrm>
          <a:prstGeom prst="straightConnector1">
            <a:avLst/>
          </a:prstGeom>
          <a:noFill/>
          <a:ln cap="flat" cmpd="sng" w="9525">
            <a:solidFill>
              <a:srgbClr val="E0E0E0"/>
            </a:solidFill>
            <a:prstDash val="solid"/>
            <a:round/>
            <a:headEnd len="sm" w="sm" type="none"/>
            <a:tailEnd len="sm" w="sm" type="none"/>
          </a:ln>
        </p:spPr>
      </p:cxnSp>
      <p:cxnSp>
        <p:nvCxnSpPr>
          <p:cNvPr id="309" name="Google Shape;309;p16"/>
          <p:cNvCxnSpPr/>
          <p:nvPr/>
        </p:nvCxnSpPr>
        <p:spPr>
          <a:xfrm>
            <a:off x="8841545" y="1280160"/>
            <a:ext cx="0" cy="594300"/>
          </a:xfrm>
          <a:prstGeom prst="straightConnector1">
            <a:avLst/>
          </a:prstGeom>
          <a:noFill/>
          <a:ln cap="flat" cmpd="sng" w="9525">
            <a:solidFill>
              <a:srgbClr val="E0E0E0"/>
            </a:solidFill>
            <a:prstDash val="solid"/>
            <a:round/>
            <a:headEnd len="sm" w="sm" type="none"/>
            <a:tailEnd len="sm" w="sm" type="none"/>
          </a:ln>
        </p:spPr>
      </p:cxnSp>
      <p:sp>
        <p:nvSpPr>
          <p:cNvPr id="310" name="Google Shape;310;p16"/>
          <p:cNvSpPr/>
          <p:nvPr/>
        </p:nvSpPr>
        <p:spPr>
          <a:xfrm>
            <a:off x="3566160" y="1389888"/>
            <a:ext cx="1477200" cy="3750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6"/>
          <p:cNvSpPr/>
          <p:nvPr/>
        </p:nvSpPr>
        <p:spPr>
          <a:xfrm>
            <a:off x="3566160" y="1389888"/>
            <a:ext cx="1477200" cy="37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W1 – W7</a:t>
            </a:r>
            <a:endParaRPr b="0" i="0" sz="900" u="none" cap="none" strike="noStrike">
              <a:solidFill>
                <a:schemeClr val="dk1"/>
              </a:solidFill>
              <a:latin typeface="Calibri"/>
              <a:ea typeface="Calibri"/>
              <a:cs typeface="Calibri"/>
              <a:sym typeface="Calibri"/>
            </a:endParaRPr>
          </a:p>
        </p:txBody>
      </p:sp>
      <p:sp>
        <p:nvSpPr>
          <p:cNvPr id="312" name="Google Shape;312;p16"/>
          <p:cNvSpPr/>
          <p:nvPr/>
        </p:nvSpPr>
        <p:spPr>
          <a:xfrm>
            <a:off x="457200" y="2103120"/>
            <a:ext cx="8595300" cy="5943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6"/>
          <p:cNvSpPr/>
          <p:nvPr/>
        </p:nvSpPr>
        <p:spPr>
          <a:xfrm>
            <a:off x="594360" y="2103120"/>
            <a:ext cx="2834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Arial"/>
              <a:buNone/>
            </a:pPr>
            <a:r>
              <a:rPr b="1" i="0" lang="en-US" sz="1000" u="none" cap="none" strike="noStrike">
                <a:solidFill>
                  <a:srgbClr val="333333"/>
                </a:solidFill>
                <a:latin typeface="Arial"/>
                <a:ea typeface="Arial"/>
                <a:cs typeface="Arial"/>
                <a:sym typeface="Arial"/>
              </a:rPr>
              <a:t>Task 2: Active Scanning Guidance</a:t>
            </a:r>
            <a:endParaRPr b="0" i="0" sz="1000" u="none" cap="none" strike="noStrike">
              <a:solidFill>
                <a:schemeClr val="dk1"/>
              </a:solidFill>
              <a:latin typeface="Calibri"/>
              <a:ea typeface="Calibri"/>
              <a:cs typeface="Calibri"/>
              <a:sym typeface="Calibri"/>
            </a:endParaRPr>
          </a:p>
        </p:txBody>
      </p:sp>
      <p:cxnSp>
        <p:nvCxnSpPr>
          <p:cNvPr id="314" name="Google Shape;314;p16"/>
          <p:cNvCxnSpPr/>
          <p:nvPr/>
        </p:nvCxnSpPr>
        <p:spPr>
          <a:xfrm>
            <a:off x="3566160"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15" name="Google Shape;315;p16"/>
          <p:cNvCxnSpPr/>
          <p:nvPr/>
        </p:nvCxnSpPr>
        <p:spPr>
          <a:xfrm>
            <a:off x="3777175"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16" name="Google Shape;316;p16"/>
          <p:cNvCxnSpPr/>
          <p:nvPr/>
        </p:nvCxnSpPr>
        <p:spPr>
          <a:xfrm>
            <a:off x="3988191"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17" name="Google Shape;317;p16"/>
          <p:cNvCxnSpPr/>
          <p:nvPr/>
        </p:nvCxnSpPr>
        <p:spPr>
          <a:xfrm>
            <a:off x="4199206"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18" name="Google Shape;318;p16"/>
          <p:cNvCxnSpPr/>
          <p:nvPr/>
        </p:nvCxnSpPr>
        <p:spPr>
          <a:xfrm>
            <a:off x="4410222"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19" name="Google Shape;319;p16"/>
          <p:cNvCxnSpPr/>
          <p:nvPr/>
        </p:nvCxnSpPr>
        <p:spPr>
          <a:xfrm>
            <a:off x="4621237"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0" name="Google Shape;320;p16"/>
          <p:cNvCxnSpPr/>
          <p:nvPr/>
        </p:nvCxnSpPr>
        <p:spPr>
          <a:xfrm>
            <a:off x="4832252"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1" name="Google Shape;321;p16"/>
          <p:cNvCxnSpPr/>
          <p:nvPr/>
        </p:nvCxnSpPr>
        <p:spPr>
          <a:xfrm>
            <a:off x="5043268"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2" name="Google Shape;322;p16"/>
          <p:cNvCxnSpPr/>
          <p:nvPr/>
        </p:nvCxnSpPr>
        <p:spPr>
          <a:xfrm>
            <a:off x="5254283"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3" name="Google Shape;323;p16"/>
          <p:cNvCxnSpPr/>
          <p:nvPr/>
        </p:nvCxnSpPr>
        <p:spPr>
          <a:xfrm>
            <a:off x="5465298"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4" name="Google Shape;324;p16"/>
          <p:cNvCxnSpPr/>
          <p:nvPr/>
        </p:nvCxnSpPr>
        <p:spPr>
          <a:xfrm>
            <a:off x="5676314"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5" name="Google Shape;325;p16"/>
          <p:cNvCxnSpPr/>
          <p:nvPr/>
        </p:nvCxnSpPr>
        <p:spPr>
          <a:xfrm>
            <a:off x="5887329"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6" name="Google Shape;326;p16"/>
          <p:cNvCxnSpPr/>
          <p:nvPr/>
        </p:nvCxnSpPr>
        <p:spPr>
          <a:xfrm>
            <a:off x="6098345"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7" name="Google Shape;327;p16"/>
          <p:cNvCxnSpPr/>
          <p:nvPr/>
        </p:nvCxnSpPr>
        <p:spPr>
          <a:xfrm>
            <a:off x="6309360"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8" name="Google Shape;328;p16"/>
          <p:cNvCxnSpPr/>
          <p:nvPr/>
        </p:nvCxnSpPr>
        <p:spPr>
          <a:xfrm>
            <a:off x="6520375"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29" name="Google Shape;329;p16"/>
          <p:cNvCxnSpPr/>
          <p:nvPr/>
        </p:nvCxnSpPr>
        <p:spPr>
          <a:xfrm>
            <a:off x="6731391"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0" name="Google Shape;330;p16"/>
          <p:cNvCxnSpPr/>
          <p:nvPr/>
        </p:nvCxnSpPr>
        <p:spPr>
          <a:xfrm>
            <a:off x="6942406"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1" name="Google Shape;331;p16"/>
          <p:cNvCxnSpPr/>
          <p:nvPr/>
        </p:nvCxnSpPr>
        <p:spPr>
          <a:xfrm>
            <a:off x="7153422"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2" name="Google Shape;332;p16"/>
          <p:cNvCxnSpPr/>
          <p:nvPr/>
        </p:nvCxnSpPr>
        <p:spPr>
          <a:xfrm>
            <a:off x="7364437"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3" name="Google Shape;333;p16"/>
          <p:cNvCxnSpPr/>
          <p:nvPr/>
        </p:nvCxnSpPr>
        <p:spPr>
          <a:xfrm>
            <a:off x="7575452"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4" name="Google Shape;334;p16"/>
          <p:cNvCxnSpPr/>
          <p:nvPr/>
        </p:nvCxnSpPr>
        <p:spPr>
          <a:xfrm>
            <a:off x="7786468"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5" name="Google Shape;335;p16"/>
          <p:cNvCxnSpPr/>
          <p:nvPr/>
        </p:nvCxnSpPr>
        <p:spPr>
          <a:xfrm>
            <a:off x="7997483"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6" name="Google Shape;336;p16"/>
          <p:cNvCxnSpPr/>
          <p:nvPr/>
        </p:nvCxnSpPr>
        <p:spPr>
          <a:xfrm>
            <a:off x="8208498"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7" name="Google Shape;337;p16"/>
          <p:cNvCxnSpPr/>
          <p:nvPr/>
        </p:nvCxnSpPr>
        <p:spPr>
          <a:xfrm>
            <a:off x="8419514"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8" name="Google Shape;338;p16"/>
          <p:cNvCxnSpPr/>
          <p:nvPr/>
        </p:nvCxnSpPr>
        <p:spPr>
          <a:xfrm>
            <a:off x="8630529" y="2103120"/>
            <a:ext cx="0" cy="594300"/>
          </a:xfrm>
          <a:prstGeom prst="straightConnector1">
            <a:avLst/>
          </a:prstGeom>
          <a:noFill/>
          <a:ln cap="flat" cmpd="sng" w="9525">
            <a:solidFill>
              <a:srgbClr val="E0E0E0"/>
            </a:solidFill>
            <a:prstDash val="solid"/>
            <a:round/>
            <a:headEnd len="sm" w="sm" type="none"/>
            <a:tailEnd len="sm" w="sm" type="none"/>
          </a:ln>
        </p:spPr>
      </p:cxnSp>
      <p:cxnSp>
        <p:nvCxnSpPr>
          <p:cNvPr id="339" name="Google Shape;339;p16"/>
          <p:cNvCxnSpPr/>
          <p:nvPr/>
        </p:nvCxnSpPr>
        <p:spPr>
          <a:xfrm>
            <a:off x="8841545" y="2103120"/>
            <a:ext cx="0" cy="594300"/>
          </a:xfrm>
          <a:prstGeom prst="straightConnector1">
            <a:avLst/>
          </a:prstGeom>
          <a:noFill/>
          <a:ln cap="flat" cmpd="sng" w="9525">
            <a:solidFill>
              <a:srgbClr val="E0E0E0"/>
            </a:solidFill>
            <a:prstDash val="solid"/>
            <a:round/>
            <a:headEnd len="sm" w="sm" type="none"/>
            <a:tailEnd len="sm" w="sm" type="none"/>
          </a:ln>
        </p:spPr>
      </p:cxnSp>
      <p:sp>
        <p:nvSpPr>
          <p:cNvPr id="340" name="Google Shape;340;p16"/>
          <p:cNvSpPr/>
          <p:nvPr/>
        </p:nvSpPr>
        <p:spPr>
          <a:xfrm>
            <a:off x="5043268" y="2212848"/>
            <a:ext cx="1477200" cy="375000"/>
          </a:xfrm>
          <a:prstGeom prst="rect">
            <a:avLst/>
          </a:prstGeom>
          <a:solidFill>
            <a:srgbClr val="99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6"/>
          <p:cNvSpPr/>
          <p:nvPr/>
        </p:nvSpPr>
        <p:spPr>
          <a:xfrm>
            <a:off x="5043268" y="2212848"/>
            <a:ext cx="1477200" cy="37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W8 – W14</a:t>
            </a:r>
            <a:endParaRPr b="0" i="0" sz="900" u="none" cap="none" strike="noStrike">
              <a:solidFill>
                <a:schemeClr val="dk1"/>
              </a:solidFill>
              <a:latin typeface="Calibri"/>
              <a:ea typeface="Calibri"/>
              <a:cs typeface="Calibri"/>
              <a:sym typeface="Calibri"/>
            </a:endParaRPr>
          </a:p>
        </p:txBody>
      </p:sp>
      <p:sp>
        <p:nvSpPr>
          <p:cNvPr id="342" name="Google Shape;342;p16"/>
          <p:cNvSpPr/>
          <p:nvPr/>
        </p:nvSpPr>
        <p:spPr>
          <a:xfrm>
            <a:off x="457200" y="2926080"/>
            <a:ext cx="8595300" cy="5943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6"/>
          <p:cNvSpPr/>
          <p:nvPr/>
        </p:nvSpPr>
        <p:spPr>
          <a:xfrm>
            <a:off x="594360" y="2926080"/>
            <a:ext cx="2834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Arial"/>
              <a:buNone/>
            </a:pPr>
            <a:r>
              <a:rPr b="1" i="0" lang="en-US" sz="1000" u="none" cap="none" strike="noStrike">
                <a:solidFill>
                  <a:srgbClr val="333333"/>
                </a:solidFill>
                <a:latin typeface="Arial"/>
                <a:ea typeface="Arial"/>
                <a:cs typeface="Arial"/>
                <a:sym typeface="Arial"/>
              </a:rPr>
              <a:t>Task 3: Vein Identification &amp; Segmentation</a:t>
            </a:r>
            <a:endParaRPr b="0" i="0" sz="1000" u="none" cap="none" strike="noStrike">
              <a:solidFill>
                <a:schemeClr val="dk1"/>
              </a:solidFill>
              <a:latin typeface="Calibri"/>
              <a:ea typeface="Calibri"/>
              <a:cs typeface="Calibri"/>
              <a:sym typeface="Calibri"/>
            </a:endParaRPr>
          </a:p>
        </p:txBody>
      </p:sp>
      <p:cxnSp>
        <p:nvCxnSpPr>
          <p:cNvPr id="344" name="Google Shape;344;p16"/>
          <p:cNvCxnSpPr/>
          <p:nvPr/>
        </p:nvCxnSpPr>
        <p:spPr>
          <a:xfrm>
            <a:off x="3566160"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45" name="Google Shape;345;p16"/>
          <p:cNvCxnSpPr/>
          <p:nvPr/>
        </p:nvCxnSpPr>
        <p:spPr>
          <a:xfrm>
            <a:off x="3777175"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46" name="Google Shape;346;p16"/>
          <p:cNvCxnSpPr/>
          <p:nvPr/>
        </p:nvCxnSpPr>
        <p:spPr>
          <a:xfrm>
            <a:off x="3988191"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47" name="Google Shape;347;p16"/>
          <p:cNvCxnSpPr/>
          <p:nvPr/>
        </p:nvCxnSpPr>
        <p:spPr>
          <a:xfrm>
            <a:off x="4199206"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48" name="Google Shape;348;p16"/>
          <p:cNvCxnSpPr/>
          <p:nvPr/>
        </p:nvCxnSpPr>
        <p:spPr>
          <a:xfrm>
            <a:off x="4410222"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49" name="Google Shape;349;p16"/>
          <p:cNvCxnSpPr/>
          <p:nvPr/>
        </p:nvCxnSpPr>
        <p:spPr>
          <a:xfrm>
            <a:off x="4621237"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0" name="Google Shape;350;p16"/>
          <p:cNvCxnSpPr/>
          <p:nvPr/>
        </p:nvCxnSpPr>
        <p:spPr>
          <a:xfrm>
            <a:off x="4832252"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1" name="Google Shape;351;p16"/>
          <p:cNvCxnSpPr/>
          <p:nvPr/>
        </p:nvCxnSpPr>
        <p:spPr>
          <a:xfrm>
            <a:off x="5043268"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2" name="Google Shape;352;p16"/>
          <p:cNvCxnSpPr/>
          <p:nvPr/>
        </p:nvCxnSpPr>
        <p:spPr>
          <a:xfrm>
            <a:off x="5254283"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3" name="Google Shape;353;p16"/>
          <p:cNvCxnSpPr/>
          <p:nvPr/>
        </p:nvCxnSpPr>
        <p:spPr>
          <a:xfrm>
            <a:off x="5465298"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4" name="Google Shape;354;p16"/>
          <p:cNvCxnSpPr/>
          <p:nvPr/>
        </p:nvCxnSpPr>
        <p:spPr>
          <a:xfrm>
            <a:off x="5676314"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5" name="Google Shape;355;p16"/>
          <p:cNvCxnSpPr/>
          <p:nvPr/>
        </p:nvCxnSpPr>
        <p:spPr>
          <a:xfrm>
            <a:off x="5887329"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6" name="Google Shape;356;p16"/>
          <p:cNvCxnSpPr/>
          <p:nvPr/>
        </p:nvCxnSpPr>
        <p:spPr>
          <a:xfrm>
            <a:off x="6098345"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7" name="Google Shape;357;p16"/>
          <p:cNvCxnSpPr/>
          <p:nvPr/>
        </p:nvCxnSpPr>
        <p:spPr>
          <a:xfrm>
            <a:off x="6309360"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8" name="Google Shape;358;p16"/>
          <p:cNvCxnSpPr/>
          <p:nvPr/>
        </p:nvCxnSpPr>
        <p:spPr>
          <a:xfrm>
            <a:off x="6520375"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59" name="Google Shape;359;p16"/>
          <p:cNvCxnSpPr/>
          <p:nvPr/>
        </p:nvCxnSpPr>
        <p:spPr>
          <a:xfrm>
            <a:off x="6731391"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0" name="Google Shape;360;p16"/>
          <p:cNvCxnSpPr/>
          <p:nvPr/>
        </p:nvCxnSpPr>
        <p:spPr>
          <a:xfrm>
            <a:off x="6942406"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1" name="Google Shape;361;p16"/>
          <p:cNvCxnSpPr/>
          <p:nvPr/>
        </p:nvCxnSpPr>
        <p:spPr>
          <a:xfrm>
            <a:off x="7153422"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2" name="Google Shape;362;p16"/>
          <p:cNvCxnSpPr/>
          <p:nvPr/>
        </p:nvCxnSpPr>
        <p:spPr>
          <a:xfrm>
            <a:off x="7364437"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3" name="Google Shape;363;p16"/>
          <p:cNvCxnSpPr/>
          <p:nvPr/>
        </p:nvCxnSpPr>
        <p:spPr>
          <a:xfrm>
            <a:off x="7575452"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4" name="Google Shape;364;p16"/>
          <p:cNvCxnSpPr/>
          <p:nvPr/>
        </p:nvCxnSpPr>
        <p:spPr>
          <a:xfrm>
            <a:off x="7786468"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5" name="Google Shape;365;p16"/>
          <p:cNvCxnSpPr/>
          <p:nvPr/>
        </p:nvCxnSpPr>
        <p:spPr>
          <a:xfrm>
            <a:off x="7997483"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6" name="Google Shape;366;p16"/>
          <p:cNvCxnSpPr/>
          <p:nvPr/>
        </p:nvCxnSpPr>
        <p:spPr>
          <a:xfrm>
            <a:off x="8208498"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7" name="Google Shape;367;p16"/>
          <p:cNvCxnSpPr/>
          <p:nvPr/>
        </p:nvCxnSpPr>
        <p:spPr>
          <a:xfrm>
            <a:off x="8419514"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8" name="Google Shape;368;p16"/>
          <p:cNvCxnSpPr/>
          <p:nvPr/>
        </p:nvCxnSpPr>
        <p:spPr>
          <a:xfrm>
            <a:off x="8630529" y="2926080"/>
            <a:ext cx="0" cy="594300"/>
          </a:xfrm>
          <a:prstGeom prst="straightConnector1">
            <a:avLst/>
          </a:prstGeom>
          <a:noFill/>
          <a:ln cap="flat" cmpd="sng" w="9525">
            <a:solidFill>
              <a:srgbClr val="E0E0E0"/>
            </a:solidFill>
            <a:prstDash val="solid"/>
            <a:round/>
            <a:headEnd len="sm" w="sm" type="none"/>
            <a:tailEnd len="sm" w="sm" type="none"/>
          </a:ln>
        </p:spPr>
      </p:cxnSp>
      <p:cxnSp>
        <p:nvCxnSpPr>
          <p:cNvPr id="369" name="Google Shape;369;p16"/>
          <p:cNvCxnSpPr/>
          <p:nvPr/>
        </p:nvCxnSpPr>
        <p:spPr>
          <a:xfrm>
            <a:off x="8841545" y="2926080"/>
            <a:ext cx="0" cy="594300"/>
          </a:xfrm>
          <a:prstGeom prst="straightConnector1">
            <a:avLst/>
          </a:prstGeom>
          <a:noFill/>
          <a:ln cap="flat" cmpd="sng" w="9525">
            <a:solidFill>
              <a:srgbClr val="E0E0E0"/>
            </a:solidFill>
            <a:prstDash val="solid"/>
            <a:round/>
            <a:headEnd len="sm" w="sm" type="none"/>
            <a:tailEnd len="sm" w="sm" type="none"/>
          </a:ln>
        </p:spPr>
      </p:cxnSp>
      <p:sp>
        <p:nvSpPr>
          <p:cNvPr id="370" name="Google Shape;370;p16"/>
          <p:cNvSpPr/>
          <p:nvPr/>
        </p:nvSpPr>
        <p:spPr>
          <a:xfrm>
            <a:off x="6520375" y="3035808"/>
            <a:ext cx="1477200" cy="375000"/>
          </a:xfrm>
          <a:prstGeom prst="rect">
            <a:avLst/>
          </a:prstGeom>
          <a:solidFill>
            <a:srgbClr val="B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
          <p:cNvSpPr/>
          <p:nvPr/>
        </p:nvSpPr>
        <p:spPr>
          <a:xfrm>
            <a:off x="6520375" y="3035808"/>
            <a:ext cx="1477200" cy="37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W15 – W21</a:t>
            </a:r>
            <a:endParaRPr b="0" i="0" sz="900" u="none" cap="none" strike="noStrike">
              <a:solidFill>
                <a:schemeClr val="dk1"/>
              </a:solidFill>
              <a:latin typeface="Calibri"/>
              <a:ea typeface="Calibri"/>
              <a:cs typeface="Calibri"/>
              <a:sym typeface="Calibri"/>
            </a:endParaRPr>
          </a:p>
        </p:txBody>
      </p:sp>
      <p:sp>
        <p:nvSpPr>
          <p:cNvPr id="372" name="Google Shape;372;p16"/>
          <p:cNvSpPr/>
          <p:nvPr/>
        </p:nvSpPr>
        <p:spPr>
          <a:xfrm>
            <a:off x="457200" y="3749040"/>
            <a:ext cx="8595300" cy="5943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6"/>
          <p:cNvSpPr/>
          <p:nvPr/>
        </p:nvSpPr>
        <p:spPr>
          <a:xfrm>
            <a:off x="594360" y="3749040"/>
            <a:ext cx="28347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000"/>
              <a:buFont typeface="Arial"/>
              <a:buNone/>
            </a:pPr>
            <a:r>
              <a:rPr b="1" i="0" lang="en-US" sz="1000" u="none" cap="none" strike="noStrike">
                <a:solidFill>
                  <a:srgbClr val="333333"/>
                </a:solidFill>
                <a:latin typeface="Arial"/>
                <a:ea typeface="Arial"/>
                <a:cs typeface="Arial"/>
                <a:sym typeface="Arial"/>
              </a:rPr>
              <a:t>Task 4: VLM Approach for Task 2 &amp; 3</a:t>
            </a:r>
            <a:endParaRPr b="0" i="0" sz="1000" u="none" cap="none" strike="noStrike">
              <a:solidFill>
                <a:schemeClr val="dk1"/>
              </a:solidFill>
              <a:latin typeface="Calibri"/>
              <a:ea typeface="Calibri"/>
              <a:cs typeface="Calibri"/>
              <a:sym typeface="Calibri"/>
            </a:endParaRPr>
          </a:p>
        </p:txBody>
      </p:sp>
      <p:cxnSp>
        <p:nvCxnSpPr>
          <p:cNvPr id="374" name="Google Shape;374;p16"/>
          <p:cNvCxnSpPr/>
          <p:nvPr/>
        </p:nvCxnSpPr>
        <p:spPr>
          <a:xfrm>
            <a:off x="3566160"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75" name="Google Shape;375;p16"/>
          <p:cNvCxnSpPr/>
          <p:nvPr/>
        </p:nvCxnSpPr>
        <p:spPr>
          <a:xfrm>
            <a:off x="3777175"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76" name="Google Shape;376;p16"/>
          <p:cNvCxnSpPr/>
          <p:nvPr/>
        </p:nvCxnSpPr>
        <p:spPr>
          <a:xfrm>
            <a:off x="3988191"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77" name="Google Shape;377;p16"/>
          <p:cNvCxnSpPr/>
          <p:nvPr/>
        </p:nvCxnSpPr>
        <p:spPr>
          <a:xfrm>
            <a:off x="4199206"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78" name="Google Shape;378;p16"/>
          <p:cNvCxnSpPr/>
          <p:nvPr/>
        </p:nvCxnSpPr>
        <p:spPr>
          <a:xfrm>
            <a:off x="4410222"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79" name="Google Shape;379;p16"/>
          <p:cNvCxnSpPr/>
          <p:nvPr/>
        </p:nvCxnSpPr>
        <p:spPr>
          <a:xfrm>
            <a:off x="4621237"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0" name="Google Shape;380;p16"/>
          <p:cNvCxnSpPr/>
          <p:nvPr/>
        </p:nvCxnSpPr>
        <p:spPr>
          <a:xfrm>
            <a:off x="4832252"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1" name="Google Shape;381;p16"/>
          <p:cNvCxnSpPr/>
          <p:nvPr/>
        </p:nvCxnSpPr>
        <p:spPr>
          <a:xfrm>
            <a:off x="5043268"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2" name="Google Shape;382;p16"/>
          <p:cNvCxnSpPr/>
          <p:nvPr/>
        </p:nvCxnSpPr>
        <p:spPr>
          <a:xfrm>
            <a:off x="5254283"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3" name="Google Shape;383;p16"/>
          <p:cNvCxnSpPr/>
          <p:nvPr/>
        </p:nvCxnSpPr>
        <p:spPr>
          <a:xfrm>
            <a:off x="5465298"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4" name="Google Shape;384;p16"/>
          <p:cNvCxnSpPr/>
          <p:nvPr/>
        </p:nvCxnSpPr>
        <p:spPr>
          <a:xfrm>
            <a:off x="5676314"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5" name="Google Shape;385;p16"/>
          <p:cNvCxnSpPr/>
          <p:nvPr/>
        </p:nvCxnSpPr>
        <p:spPr>
          <a:xfrm>
            <a:off x="5887329"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6" name="Google Shape;386;p16"/>
          <p:cNvCxnSpPr/>
          <p:nvPr/>
        </p:nvCxnSpPr>
        <p:spPr>
          <a:xfrm>
            <a:off x="6098345"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7" name="Google Shape;387;p16"/>
          <p:cNvCxnSpPr/>
          <p:nvPr/>
        </p:nvCxnSpPr>
        <p:spPr>
          <a:xfrm>
            <a:off x="6309360"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8" name="Google Shape;388;p16"/>
          <p:cNvCxnSpPr/>
          <p:nvPr/>
        </p:nvCxnSpPr>
        <p:spPr>
          <a:xfrm>
            <a:off x="6520375"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89" name="Google Shape;389;p16"/>
          <p:cNvCxnSpPr/>
          <p:nvPr/>
        </p:nvCxnSpPr>
        <p:spPr>
          <a:xfrm>
            <a:off x="6731391"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0" name="Google Shape;390;p16"/>
          <p:cNvCxnSpPr/>
          <p:nvPr/>
        </p:nvCxnSpPr>
        <p:spPr>
          <a:xfrm>
            <a:off x="6942406"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1" name="Google Shape;391;p16"/>
          <p:cNvCxnSpPr/>
          <p:nvPr/>
        </p:nvCxnSpPr>
        <p:spPr>
          <a:xfrm>
            <a:off x="7153422"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2" name="Google Shape;392;p16"/>
          <p:cNvCxnSpPr/>
          <p:nvPr/>
        </p:nvCxnSpPr>
        <p:spPr>
          <a:xfrm>
            <a:off x="7364437"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3" name="Google Shape;393;p16"/>
          <p:cNvCxnSpPr/>
          <p:nvPr/>
        </p:nvCxnSpPr>
        <p:spPr>
          <a:xfrm>
            <a:off x="7575452"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4" name="Google Shape;394;p16"/>
          <p:cNvCxnSpPr/>
          <p:nvPr/>
        </p:nvCxnSpPr>
        <p:spPr>
          <a:xfrm>
            <a:off x="7786468"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5" name="Google Shape;395;p16"/>
          <p:cNvCxnSpPr/>
          <p:nvPr/>
        </p:nvCxnSpPr>
        <p:spPr>
          <a:xfrm>
            <a:off x="7997483"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6" name="Google Shape;396;p16"/>
          <p:cNvCxnSpPr/>
          <p:nvPr/>
        </p:nvCxnSpPr>
        <p:spPr>
          <a:xfrm>
            <a:off x="8208498"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7" name="Google Shape;397;p16"/>
          <p:cNvCxnSpPr/>
          <p:nvPr/>
        </p:nvCxnSpPr>
        <p:spPr>
          <a:xfrm>
            <a:off x="8419514"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8" name="Google Shape;398;p16"/>
          <p:cNvCxnSpPr/>
          <p:nvPr/>
        </p:nvCxnSpPr>
        <p:spPr>
          <a:xfrm>
            <a:off x="8630529" y="3749040"/>
            <a:ext cx="0" cy="594300"/>
          </a:xfrm>
          <a:prstGeom prst="straightConnector1">
            <a:avLst/>
          </a:prstGeom>
          <a:noFill/>
          <a:ln cap="flat" cmpd="sng" w="9525">
            <a:solidFill>
              <a:srgbClr val="E0E0E0"/>
            </a:solidFill>
            <a:prstDash val="solid"/>
            <a:round/>
            <a:headEnd len="sm" w="sm" type="none"/>
            <a:tailEnd len="sm" w="sm" type="none"/>
          </a:ln>
        </p:spPr>
      </p:cxnSp>
      <p:cxnSp>
        <p:nvCxnSpPr>
          <p:cNvPr id="399" name="Google Shape;399;p16"/>
          <p:cNvCxnSpPr/>
          <p:nvPr/>
        </p:nvCxnSpPr>
        <p:spPr>
          <a:xfrm>
            <a:off x="8841545" y="3749040"/>
            <a:ext cx="0" cy="594300"/>
          </a:xfrm>
          <a:prstGeom prst="straightConnector1">
            <a:avLst/>
          </a:prstGeom>
          <a:noFill/>
          <a:ln cap="flat" cmpd="sng" w="9525">
            <a:solidFill>
              <a:srgbClr val="E0E0E0"/>
            </a:solidFill>
            <a:prstDash val="solid"/>
            <a:round/>
            <a:headEnd len="sm" w="sm" type="none"/>
            <a:tailEnd len="sm" w="sm" type="none"/>
          </a:ln>
        </p:spPr>
      </p:cxnSp>
      <p:sp>
        <p:nvSpPr>
          <p:cNvPr id="400" name="Google Shape;400;p16"/>
          <p:cNvSpPr/>
          <p:nvPr/>
        </p:nvSpPr>
        <p:spPr>
          <a:xfrm>
            <a:off x="7997483" y="3858768"/>
            <a:ext cx="1055100" cy="375000"/>
          </a:xfrm>
          <a:prstGeom prst="rect">
            <a:avLst/>
          </a:prstGeom>
          <a:solidFill>
            <a:srgbClr val="66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p:nvPr/>
        </p:nvSpPr>
        <p:spPr>
          <a:xfrm>
            <a:off x="7997483" y="3858768"/>
            <a:ext cx="1055100" cy="37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W22 – W26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06" name="Shape 406"/>
        <p:cNvGrpSpPr/>
        <p:nvPr/>
      </p:nvGrpSpPr>
      <p:grpSpPr>
        <a:xfrm>
          <a:off x="0" y="0"/>
          <a:ext cx="0" cy="0"/>
          <a:chOff x="0" y="0"/>
          <a:chExt cx="0" cy="0"/>
        </a:xfrm>
      </p:grpSpPr>
      <p:sp>
        <p:nvSpPr>
          <p:cNvPr id="407" name="Google Shape;407;p17"/>
          <p:cNvSpPr/>
          <p:nvPr/>
        </p:nvSpPr>
        <p:spPr>
          <a:xfrm>
            <a:off x="365760" y="320040"/>
            <a:ext cx="73200" cy="5028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7"/>
          <p:cNvSpPr/>
          <p:nvPr/>
        </p:nvSpPr>
        <p:spPr>
          <a:xfrm>
            <a:off x="548640" y="274320"/>
            <a:ext cx="7772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Technology Stack Summary</a:t>
            </a:r>
            <a:endParaRPr b="0" i="0" sz="2600" u="none" cap="none" strike="noStrike">
              <a:solidFill>
                <a:schemeClr val="dk1"/>
              </a:solidFill>
              <a:latin typeface="Calibri"/>
              <a:ea typeface="Calibri"/>
              <a:cs typeface="Calibri"/>
              <a:sym typeface="Calibri"/>
            </a:endParaRPr>
          </a:p>
        </p:txBody>
      </p:sp>
      <p:sp>
        <p:nvSpPr>
          <p:cNvPr id="409" name="Google Shape;409;p17"/>
          <p:cNvSpPr/>
          <p:nvPr/>
        </p:nvSpPr>
        <p:spPr>
          <a:xfrm>
            <a:off x="0" y="4709160"/>
            <a:ext cx="9144000" cy="434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457200" y="4709160"/>
            <a:ext cx="4572000" cy="43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411" name="Google Shape;411;p17"/>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412" name="Google Shape;412;p17"/>
          <p:cNvSpPr/>
          <p:nvPr/>
        </p:nvSpPr>
        <p:spPr>
          <a:xfrm>
            <a:off x="457200" y="1051560"/>
            <a:ext cx="2651700" cy="33375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7"/>
          <p:cNvSpPr/>
          <p:nvPr/>
        </p:nvSpPr>
        <p:spPr>
          <a:xfrm>
            <a:off x="457200" y="1051560"/>
            <a:ext cx="2651700" cy="3657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p:nvPr/>
        </p:nvSpPr>
        <p:spPr>
          <a:xfrm>
            <a:off x="548640" y="10515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AI/ML Frameworks</a:t>
            </a:r>
            <a:endParaRPr b="0" i="0" sz="1200" u="none" cap="none" strike="noStrike">
              <a:solidFill>
                <a:schemeClr val="dk1"/>
              </a:solidFill>
              <a:latin typeface="Calibri"/>
              <a:ea typeface="Calibri"/>
              <a:cs typeface="Calibri"/>
              <a:sym typeface="Calibri"/>
            </a:endParaRPr>
          </a:p>
        </p:txBody>
      </p:sp>
      <p:sp>
        <p:nvSpPr>
          <p:cNvPr id="415" name="Google Shape;415;p17"/>
          <p:cNvSpPr/>
          <p:nvPr/>
        </p:nvSpPr>
        <p:spPr>
          <a:xfrm>
            <a:off x="594360" y="1508760"/>
            <a:ext cx="237750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LLMs: OpenAI GPT-4, Anthropic Claude</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VLMs: CLIP, LLaVA, DINOv2</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Frameworks: PyTorch, TensorFlow</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RAG: LangChain, ChromaDB, FAISS</a:t>
            </a:r>
            <a:endParaRPr b="0" i="0" sz="1000" u="none" cap="none" strike="noStrike">
              <a:solidFill>
                <a:schemeClr val="dk1"/>
              </a:solidFill>
              <a:latin typeface="Calibri"/>
              <a:ea typeface="Calibri"/>
              <a:cs typeface="Calibri"/>
              <a:sym typeface="Calibri"/>
            </a:endParaRPr>
          </a:p>
        </p:txBody>
      </p:sp>
      <p:sp>
        <p:nvSpPr>
          <p:cNvPr id="416" name="Google Shape;416;p17"/>
          <p:cNvSpPr/>
          <p:nvPr/>
        </p:nvSpPr>
        <p:spPr>
          <a:xfrm>
            <a:off x="3291840" y="1051560"/>
            <a:ext cx="2651700" cy="33375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7"/>
          <p:cNvSpPr/>
          <p:nvPr/>
        </p:nvSpPr>
        <p:spPr>
          <a:xfrm>
            <a:off x="3291840" y="1051560"/>
            <a:ext cx="2651700" cy="3657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p:nvPr/>
        </p:nvSpPr>
        <p:spPr>
          <a:xfrm>
            <a:off x="3383280" y="10515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Backend &amp; Infrastructure</a:t>
            </a:r>
            <a:endParaRPr b="0" i="0" sz="1200" u="none" cap="none" strike="noStrike">
              <a:solidFill>
                <a:schemeClr val="dk1"/>
              </a:solidFill>
              <a:latin typeface="Calibri"/>
              <a:ea typeface="Calibri"/>
              <a:cs typeface="Calibri"/>
              <a:sym typeface="Calibri"/>
            </a:endParaRPr>
          </a:p>
        </p:txBody>
      </p:sp>
      <p:sp>
        <p:nvSpPr>
          <p:cNvPr id="419" name="Google Shape;419;p17"/>
          <p:cNvSpPr/>
          <p:nvPr/>
        </p:nvSpPr>
        <p:spPr>
          <a:xfrm>
            <a:off x="3429000" y="1508760"/>
            <a:ext cx="237750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API: FastAPI</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Database: PostgreSQL, Redis</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Serving: vLLM, TensorRT, ONNX</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Deployment: Docker, Kubernetes</a:t>
            </a:r>
            <a:endParaRPr b="0" i="0" sz="1000" u="none" cap="none" strike="noStrike">
              <a:solidFill>
                <a:schemeClr val="dk1"/>
              </a:solidFill>
              <a:latin typeface="Calibri"/>
              <a:ea typeface="Calibri"/>
              <a:cs typeface="Calibri"/>
              <a:sym typeface="Calibri"/>
            </a:endParaRPr>
          </a:p>
        </p:txBody>
      </p:sp>
      <p:sp>
        <p:nvSpPr>
          <p:cNvPr id="420" name="Google Shape;420;p17"/>
          <p:cNvSpPr/>
          <p:nvPr/>
        </p:nvSpPr>
        <p:spPr>
          <a:xfrm>
            <a:off x="6126480" y="1051560"/>
            <a:ext cx="2651700" cy="33375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7"/>
          <p:cNvSpPr/>
          <p:nvPr/>
        </p:nvSpPr>
        <p:spPr>
          <a:xfrm>
            <a:off x="6126480" y="1051560"/>
            <a:ext cx="2651700" cy="3657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7"/>
          <p:cNvSpPr/>
          <p:nvPr/>
        </p:nvSpPr>
        <p:spPr>
          <a:xfrm>
            <a:off x="6217920" y="10515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Development &amp; Monitoring</a:t>
            </a:r>
            <a:endParaRPr b="0" i="0" sz="1200" u="none" cap="none" strike="noStrike">
              <a:solidFill>
                <a:schemeClr val="dk1"/>
              </a:solidFill>
              <a:latin typeface="Calibri"/>
              <a:ea typeface="Calibri"/>
              <a:cs typeface="Calibri"/>
              <a:sym typeface="Calibri"/>
            </a:endParaRPr>
          </a:p>
        </p:txBody>
      </p:sp>
      <p:sp>
        <p:nvSpPr>
          <p:cNvPr id="423" name="Google Shape;423;p17"/>
          <p:cNvSpPr/>
          <p:nvPr/>
        </p:nvSpPr>
        <p:spPr>
          <a:xfrm>
            <a:off x="6263640" y="1508760"/>
            <a:ext cx="237750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Testing: pytest</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Monitoring: Prometheus, Grafana</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Version Control: Git, GitHub</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28" name="Shape 428"/>
        <p:cNvGrpSpPr/>
        <p:nvPr/>
      </p:nvGrpSpPr>
      <p:grpSpPr>
        <a:xfrm>
          <a:off x="0" y="0"/>
          <a:ext cx="0" cy="0"/>
          <a:chOff x="0" y="0"/>
          <a:chExt cx="0" cy="0"/>
        </a:xfrm>
      </p:grpSpPr>
      <p:sp>
        <p:nvSpPr>
          <p:cNvPr id="429" name="Google Shape;429;p18"/>
          <p:cNvSpPr/>
          <p:nvPr/>
        </p:nvSpPr>
        <p:spPr>
          <a:xfrm>
            <a:off x="365760" y="320040"/>
            <a:ext cx="73200" cy="5028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8"/>
          <p:cNvSpPr/>
          <p:nvPr/>
        </p:nvSpPr>
        <p:spPr>
          <a:xfrm>
            <a:off x="548640" y="274320"/>
            <a:ext cx="7772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lang="en-US" sz="2600">
                <a:solidFill>
                  <a:srgbClr val="990000"/>
                </a:solidFill>
                <a:latin typeface="Georgia"/>
                <a:ea typeface="Georgia"/>
                <a:cs typeface="Georgia"/>
                <a:sym typeface="Georgia"/>
              </a:rPr>
              <a:t>Minimal</a:t>
            </a:r>
            <a:r>
              <a:rPr b="1" i="0" lang="en-US" sz="2600" u="none" cap="none" strike="noStrike">
                <a:solidFill>
                  <a:srgbClr val="990000"/>
                </a:solidFill>
                <a:latin typeface="Georgia"/>
                <a:ea typeface="Georgia"/>
                <a:cs typeface="Georgia"/>
                <a:sym typeface="Georgia"/>
              </a:rPr>
              <a:t> Strategy</a:t>
            </a:r>
            <a:endParaRPr b="0" i="0" sz="2600" u="none" cap="none" strike="noStrike">
              <a:solidFill>
                <a:schemeClr val="dk1"/>
              </a:solidFill>
              <a:latin typeface="Calibri"/>
              <a:ea typeface="Calibri"/>
              <a:cs typeface="Calibri"/>
              <a:sym typeface="Calibri"/>
            </a:endParaRPr>
          </a:p>
        </p:txBody>
      </p:sp>
      <p:sp>
        <p:nvSpPr>
          <p:cNvPr id="431" name="Google Shape;431;p18"/>
          <p:cNvSpPr/>
          <p:nvPr/>
        </p:nvSpPr>
        <p:spPr>
          <a:xfrm>
            <a:off x="0" y="4709160"/>
            <a:ext cx="9144000" cy="4344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8"/>
          <p:cNvSpPr/>
          <p:nvPr/>
        </p:nvSpPr>
        <p:spPr>
          <a:xfrm>
            <a:off x="457200" y="4709160"/>
            <a:ext cx="4572000" cy="43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433" name="Google Shape;433;p18"/>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434" name="Google Shape;434;p18"/>
          <p:cNvSpPr/>
          <p:nvPr/>
        </p:nvSpPr>
        <p:spPr>
          <a:xfrm>
            <a:off x="457200" y="1051560"/>
            <a:ext cx="2651700" cy="33375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8"/>
          <p:cNvSpPr/>
          <p:nvPr/>
        </p:nvSpPr>
        <p:spPr>
          <a:xfrm>
            <a:off x="457200" y="1051560"/>
            <a:ext cx="2651700" cy="3657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8"/>
          <p:cNvSpPr/>
          <p:nvPr/>
        </p:nvSpPr>
        <p:spPr>
          <a:xfrm>
            <a:off x="548640" y="10515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Deployment Options</a:t>
            </a:r>
            <a:endParaRPr b="0" i="0" sz="1200" u="none" cap="none" strike="noStrike">
              <a:solidFill>
                <a:schemeClr val="dk1"/>
              </a:solidFill>
              <a:latin typeface="Calibri"/>
              <a:ea typeface="Calibri"/>
              <a:cs typeface="Calibri"/>
              <a:sym typeface="Calibri"/>
            </a:endParaRPr>
          </a:p>
        </p:txBody>
      </p:sp>
      <p:sp>
        <p:nvSpPr>
          <p:cNvPr id="437" name="Google Shape;437;p18"/>
          <p:cNvSpPr/>
          <p:nvPr/>
        </p:nvSpPr>
        <p:spPr>
          <a:xfrm>
            <a:off x="594360" y="1508760"/>
            <a:ext cx="237750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Cloud-First: OpenAI API for LLMs, CloudGPU for VLM</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Hybrid: Local serving for latency-critical tasks</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Edge: On-device inference using ONNX/TensorRT</a:t>
            </a:r>
            <a:endParaRPr b="0" i="0" sz="1000" u="none" cap="none" strike="noStrike">
              <a:solidFill>
                <a:schemeClr val="dk1"/>
              </a:solidFill>
              <a:latin typeface="Calibri"/>
              <a:ea typeface="Calibri"/>
              <a:cs typeface="Calibri"/>
              <a:sym typeface="Calibri"/>
            </a:endParaRPr>
          </a:p>
        </p:txBody>
      </p:sp>
      <p:sp>
        <p:nvSpPr>
          <p:cNvPr id="438" name="Google Shape;438;p18"/>
          <p:cNvSpPr/>
          <p:nvPr/>
        </p:nvSpPr>
        <p:spPr>
          <a:xfrm>
            <a:off x="3291840" y="1051560"/>
            <a:ext cx="2651700" cy="33375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8"/>
          <p:cNvSpPr/>
          <p:nvPr/>
        </p:nvSpPr>
        <p:spPr>
          <a:xfrm>
            <a:off x="3291840" y="1051560"/>
            <a:ext cx="2651700" cy="3657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8"/>
          <p:cNvSpPr/>
          <p:nvPr/>
        </p:nvSpPr>
        <p:spPr>
          <a:xfrm>
            <a:off x="3383280" y="10515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Hardware Requirements</a:t>
            </a:r>
            <a:endParaRPr b="0" i="0" sz="1200" u="none" cap="none" strike="noStrike">
              <a:solidFill>
                <a:schemeClr val="dk1"/>
              </a:solidFill>
              <a:latin typeface="Calibri"/>
              <a:ea typeface="Calibri"/>
              <a:cs typeface="Calibri"/>
              <a:sym typeface="Calibri"/>
            </a:endParaRPr>
          </a:p>
        </p:txBody>
      </p:sp>
      <p:sp>
        <p:nvSpPr>
          <p:cNvPr id="441" name="Google Shape;441;p18"/>
          <p:cNvSpPr/>
          <p:nvPr/>
        </p:nvSpPr>
        <p:spPr>
          <a:xfrm>
            <a:off x="3429000" y="1508760"/>
            <a:ext cx="237750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GPU: NVIDIA T4/RTX 3060+ (8GB+ VRAM)</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CPU: 8-core Intel/AMD processor</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RAM: 16GB minimum, 32GB recommended</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Storage: 50GB SSD for models</a:t>
            </a:r>
            <a:endParaRPr b="0" i="0" sz="1000" u="none" cap="none" strike="noStrike">
              <a:solidFill>
                <a:schemeClr val="dk1"/>
              </a:solidFill>
              <a:latin typeface="Calibri"/>
              <a:ea typeface="Calibri"/>
              <a:cs typeface="Calibri"/>
              <a:sym typeface="Calibri"/>
            </a:endParaRPr>
          </a:p>
        </p:txBody>
      </p:sp>
      <p:sp>
        <p:nvSpPr>
          <p:cNvPr id="442" name="Google Shape;442;p18"/>
          <p:cNvSpPr/>
          <p:nvPr/>
        </p:nvSpPr>
        <p:spPr>
          <a:xfrm>
            <a:off x="6126480" y="1051560"/>
            <a:ext cx="2651700" cy="333750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8"/>
          <p:cNvSpPr/>
          <p:nvPr/>
        </p:nvSpPr>
        <p:spPr>
          <a:xfrm>
            <a:off x="6126480" y="1051560"/>
            <a:ext cx="2651700" cy="3657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8"/>
          <p:cNvSpPr/>
          <p:nvPr/>
        </p:nvSpPr>
        <p:spPr>
          <a:xfrm>
            <a:off x="6217920" y="105156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Georgia"/>
              <a:buNone/>
            </a:pPr>
            <a:r>
              <a:rPr b="1" i="0" lang="en-US" sz="1200" u="none" cap="none" strike="noStrike">
                <a:solidFill>
                  <a:srgbClr val="FFFFFF"/>
                </a:solidFill>
                <a:latin typeface="Georgia"/>
                <a:ea typeface="Georgia"/>
                <a:cs typeface="Georgia"/>
                <a:sym typeface="Georgia"/>
              </a:rPr>
              <a:t>Compliance &amp; Security</a:t>
            </a:r>
            <a:endParaRPr b="0" i="0" sz="1200" u="none" cap="none" strike="noStrike">
              <a:solidFill>
                <a:schemeClr val="dk1"/>
              </a:solidFill>
              <a:latin typeface="Calibri"/>
              <a:ea typeface="Calibri"/>
              <a:cs typeface="Calibri"/>
              <a:sym typeface="Calibri"/>
            </a:endParaRPr>
          </a:p>
        </p:txBody>
      </p:sp>
      <p:sp>
        <p:nvSpPr>
          <p:cNvPr id="445" name="Google Shape;445;p18"/>
          <p:cNvSpPr/>
          <p:nvPr/>
        </p:nvSpPr>
        <p:spPr>
          <a:xfrm>
            <a:off x="6263640" y="1508760"/>
            <a:ext cx="237750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HIPAA-compliant data handling</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Audit logging for all decisions</a:t>
            </a:r>
            <a:endParaRPr b="0" i="0" sz="10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333333"/>
              </a:buClr>
              <a:buSzPts val="1000"/>
              <a:buFont typeface="Arial"/>
              <a:buChar char="•"/>
            </a:pPr>
            <a:r>
              <a:rPr b="0" i="0" lang="en-US" sz="1000" u="none" cap="none" strike="noStrike">
                <a:solidFill>
                  <a:srgbClr val="333333"/>
                </a:solidFill>
                <a:latin typeface="Arial"/>
                <a:ea typeface="Arial"/>
                <a:cs typeface="Arial"/>
                <a:sym typeface="Arial"/>
              </a:rPr>
              <a:t>Model explainability (SHAP/attention)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50" name="Shape 450"/>
        <p:cNvGrpSpPr/>
        <p:nvPr/>
      </p:nvGrpSpPr>
      <p:grpSpPr>
        <a:xfrm>
          <a:off x="0" y="0"/>
          <a:ext cx="0" cy="0"/>
          <a:chOff x="0" y="0"/>
          <a:chExt cx="0" cy="0"/>
        </a:xfrm>
      </p:grpSpPr>
      <p:sp>
        <p:nvSpPr>
          <p:cNvPr id="451" name="Google Shape;451;p19"/>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9"/>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1-2</a:t>
            </a:r>
            <a:endParaRPr b="0" i="0" sz="2600" u="none" cap="none" strike="noStrike">
              <a:solidFill>
                <a:schemeClr val="dk1"/>
              </a:solidFill>
              <a:latin typeface="Calibri"/>
              <a:ea typeface="Calibri"/>
              <a:cs typeface="Calibri"/>
              <a:sym typeface="Calibri"/>
            </a:endParaRPr>
          </a:p>
        </p:txBody>
      </p:sp>
      <p:sp>
        <p:nvSpPr>
          <p:cNvPr id="453" name="Google Shape;453;p19"/>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455" name="Google Shape;455;p19"/>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456" name="Google Shape;456;p19"/>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 Foundation &amp; Setup</a:t>
            </a:r>
            <a:endParaRPr b="0" i="0" sz="1300" u="none" cap="none" strike="noStrike">
              <a:solidFill>
                <a:schemeClr val="dk1"/>
              </a:solidFill>
              <a:latin typeface="Calibri"/>
              <a:ea typeface="Calibri"/>
              <a:cs typeface="Calibri"/>
              <a:sym typeface="Calibri"/>
            </a:endParaRPr>
          </a:p>
        </p:txBody>
      </p:sp>
      <p:sp>
        <p:nvSpPr>
          <p:cNvPr id="458" name="Google Shape;458;p19"/>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Project setup &amp; environment configuration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Literature review: CHIVA guidelines &amp; hemodynamics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RAG pipeline scaffolding with LangChain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Benchmark VLM models (CLIP, DINOv2, LLaVA)</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Review existing vein detection code</a:t>
            </a:r>
            <a:endParaRPr b="0" i="0" sz="1050" u="none" cap="none" strike="noStrike">
              <a:solidFill>
                <a:schemeClr val="dk1"/>
              </a:solidFill>
              <a:latin typeface="Calibri"/>
              <a:ea typeface="Calibri"/>
              <a:cs typeface="Calibri"/>
              <a:sym typeface="Calibri"/>
            </a:endParaRPr>
          </a:p>
        </p:txBody>
      </p:sp>
      <p:sp>
        <p:nvSpPr>
          <p:cNvPr id="459" name="Google Shape;459;p19"/>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9"/>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2: Task 1 — LLM Zero-Shot Classification</a:t>
            </a:r>
            <a:endParaRPr b="0" i="0" sz="1300" u="none" cap="none" strike="noStrike">
              <a:solidFill>
                <a:schemeClr val="dk1"/>
              </a:solidFill>
              <a:latin typeface="Calibri"/>
              <a:ea typeface="Calibri"/>
              <a:cs typeface="Calibri"/>
              <a:sym typeface="Calibri"/>
            </a:endParaRPr>
          </a:p>
        </p:txBody>
      </p:sp>
      <p:sp>
        <p:nvSpPr>
          <p:cNvPr id="461" name="Google Shape;461;p19"/>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zero-shot LLM classification with GPT-4</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Create CHIVA literature embedding database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Design JSON schema for classification output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Pydantic models for structured output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Build initial prompt templates with chain-of-thought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66" name="Shape 466"/>
        <p:cNvGrpSpPr/>
        <p:nvPr/>
      </p:nvGrpSpPr>
      <p:grpSpPr>
        <a:xfrm>
          <a:off x="0" y="0"/>
          <a:ext cx="0" cy="0"/>
          <a:chOff x="0" y="0"/>
          <a:chExt cx="0" cy="0"/>
        </a:xfrm>
      </p:grpSpPr>
      <p:sp>
        <p:nvSpPr>
          <p:cNvPr id="467" name="Google Shape;467;p20"/>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0"/>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3-4</a:t>
            </a:r>
            <a:endParaRPr b="0" i="0" sz="2600" u="none" cap="none" strike="noStrike">
              <a:solidFill>
                <a:schemeClr val="dk1"/>
              </a:solidFill>
              <a:latin typeface="Calibri"/>
              <a:ea typeface="Calibri"/>
              <a:cs typeface="Calibri"/>
              <a:sym typeface="Calibri"/>
            </a:endParaRPr>
          </a:p>
        </p:txBody>
      </p:sp>
      <p:sp>
        <p:nvSpPr>
          <p:cNvPr id="469" name="Google Shape;469;p20"/>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0"/>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471" name="Google Shape;471;p20"/>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472" name="Google Shape;472;p20"/>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3: Task 1 — RAG Pipeline Integration</a:t>
            </a:r>
            <a:endParaRPr b="0" i="0" sz="1300" u="none" cap="none" strike="noStrike">
              <a:solidFill>
                <a:schemeClr val="dk1"/>
              </a:solidFill>
              <a:latin typeface="Calibri"/>
              <a:ea typeface="Calibri"/>
              <a:cs typeface="Calibri"/>
              <a:sym typeface="Calibri"/>
            </a:endParaRPr>
          </a:p>
        </p:txBody>
      </p:sp>
      <p:sp>
        <p:nvSpPr>
          <p:cNvPr id="474" name="Google Shape;474;p20"/>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Integrate RAG pipeline with FAISS/ChromaDB</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Test shunt classification on labeled case studies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clinical report generation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Design structured output validation with Pydantic</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Begin collecting ground truth examples with Jefry</a:t>
            </a:r>
            <a:endParaRPr b="0" i="0" sz="1050" u="none" cap="none" strike="noStrike">
              <a:solidFill>
                <a:schemeClr val="dk1"/>
              </a:solidFill>
              <a:latin typeface="Calibri"/>
              <a:ea typeface="Calibri"/>
              <a:cs typeface="Calibri"/>
              <a:sym typeface="Calibri"/>
            </a:endParaRPr>
          </a:p>
        </p:txBody>
      </p:sp>
      <p:sp>
        <p:nvSpPr>
          <p:cNvPr id="475" name="Google Shape;475;p20"/>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0"/>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4: Task 1 — Prompt Engineering &amp; Validation</a:t>
            </a:r>
            <a:endParaRPr b="0" i="0" sz="1300" u="none" cap="none" strike="noStrike">
              <a:solidFill>
                <a:schemeClr val="dk1"/>
              </a:solidFill>
              <a:latin typeface="Calibri"/>
              <a:ea typeface="Calibri"/>
              <a:cs typeface="Calibri"/>
              <a:sym typeface="Calibri"/>
            </a:endParaRPr>
          </a:p>
        </p:txBody>
      </p:sp>
      <p:sp>
        <p:nvSpPr>
          <p:cNvPr id="477" name="Google Shape;477;p20"/>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Multi-shot prompt examples + chain-of-thought reasoning</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Validate LLM responses against ground truth data</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Iterate on RAG retrieval quality and chunking strategy</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Prototype app skeleton for surgeon review</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Document Task 1 Phase 1 results and accuracy metrics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82" name="Shape 482"/>
        <p:cNvGrpSpPr/>
        <p:nvPr/>
      </p:nvGrpSpPr>
      <p:grpSpPr>
        <a:xfrm>
          <a:off x="0" y="0"/>
          <a:ext cx="0" cy="0"/>
          <a:chOff x="0" y="0"/>
          <a:chExt cx="0" cy="0"/>
        </a:xfrm>
      </p:grpSpPr>
      <p:sp>
        <p:nvSpPr>
          <p:cNvPr id="483" name="Google Shape;483;p21"/>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1"/>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5-6</a:t>
            </a:r>
            <a:endParaRPr b="0" i="0" sz="2600" u="none" cap="none" strike="noStrike">
              <a:solidFill>
                <a:schemeClr val="dk1"/>
              </a:solidFill>
              <a:latin typeface="Calibri"/>
              <a:ea typeface="Calibri"/>
              <a:cs typeface="Calibri"/>
              <a:sym typeface="Calibri"/>
            </a:endParaRPr>
          </a:p>
        </p:txBody>
      </p:sp>
      <p:sp>
        <p:nvSpPr>
          <p:cNvPr id="485" name="Google Shape;485;p21"/>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1"/>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487" name="Google Shape;487;p21"/>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488" name="Google Shape;488;p21"/>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1"/>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5: Task 1 — Phase 2 &amp; Confidence Scoring</a:t>
            </a:r>
            <a:endParaRPr b="0" i="0" sz="1300" u="none" cap="none" strike="noStrike">
              <a:solidFill>
                <a:schemeClr val="dk1"/>
              </a:solidFill>
              <a:latin typeface="Calibri"/>
              <a:ea typeface="Calibri"/>
              <a:cs typeface="Calibri"/>
              <a:sym typeface="Calibri"/>
            </a:endParaRPr>
          </a:p>
        </p:txBody>
      </p:sp>
      <p:sp>
        <p:nvSpPr>
          <p:cNvPr id="490" name="Google Shape;490;p21"/>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confidence scoring &amp; uncertainty quantification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Fine-tuning experiments on labeled shunt classification data</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Semantic chunking optimization for RAG retrieval</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Reduce hallucination with schema-relevant RAG retrieval</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Deploy prototype app to surgeons for initial feedback</a:t>
            </a:r>
            <a:endParaRPr b="0" i="0" sz="1050" u="none" cap="none" strike="noStrike">
              <a:solidFill>
                <a:schemeClr val="dk1"/>
              </a:solidFill>
              <a:latin typeface="Calibri"/>
              <a:ea typeface="Calibri"/>
              <a:cs typeface="Calibri"/>
              <a:sym typeface="Calibri"/>
            </a:endParaRPr>
          </a:p>
        </p:txBody>
      </p:sp>
      <p:sp>
        <p:nvSpPr>
          <p:cNvPr id="491" name="Google Shape;491;p21"/>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1"/>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6: Task 1 — Finalization &amp; Surgeon Feedback</a:t>
            </a:r>
            <a:endParaRPr b="0" i="0" sz="1300" u="none" cap="none" strike="noStrike">
              <a:solidFill>
                <a:schemeClr val="dk1"/>
              </a:solidFill>
              <a:latin typeface="Calibri"/>
              <a:ea typeface="Calibri"/>
              <a:cs typeface="Calibri"/>
              <a:sym typeface="Calibri"/>
            </a:endParaRPr>
          </a:p>
        </p:txBody>
      </p:sp>
      <p:sp>
        <p:nvSpPr>
          <p:cNvPr id="493" name="Google Shape;493;p21"/>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Incorporate surgeon feedback into prompt templates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Use additional CHIVA literature to improve response quality</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Benchmark classification accuracy vs. KPI targets (≥85%)</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Finalize structured clinical report generation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Complete Task 1 documentation and API specs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98" name="Shape 498"/>
        <p:cNvGrpSpPr/>
        <p:nvPr/>
      </p:nvGrpSpPr>
      <p:grpSpPr>
        <a:xfrm>
          <a:off x="0" y="0"/>
          <a:ext cx="0" cy="0"/>
          <a:chOff x="0" y="0"/>
          <a:chExt cx="0" cy="0"/>
        </a:xfrm>
      </p:grpSpPr>
      <p:sp>
        <p:nvSpPr>
          <p:cNvPr id="499" name="Google Shape;499;p22"/>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2"/>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7-8</a:t>
            </a:r>
            <a:endParaRPr b="0" i="0" sz="2600" u="none" cap="none" strike="noStrike">
              <a:solidFill>
                <a:schemeClr val="dk1"/>
              </a:solidFill>
              <a:latin typeface="Calibri"/>
              <a:ea typeface="Calibri"/>
              <a:cs typeface="Calibri"/>
              <a:sym typeface="Calibri"/>
            </a:endParaRPr>
          </a:p>
        </p:txBody>
      </p:sp>
      <p:sp>
        <p:nvSpPr>
          <p:cNvPr id="501" name="Google Shape;501;p22"/>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2"/>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503" name="Google Shape;503;p22"/>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504" name="Google Shape;504;p22"/>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2"/>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7: Task 1 Wrap-Up &amp; Task 2 Kickoff</a:t>
            </a:r>
            <a:endParaRPr b="0" i="0" sz="1300" u="none" cap="none" strike="noStrike">
              <a:solidFill>
                <a:schemeClr val="dk1"/>
              </a:solidFill>
              <a:latin typeface="Calibri"/>
              <a:ea typeface="Calibri"/>
              <a:cs typeface="Calibri"/>
              <a:sym typeface="Calibri"/>
            </a:endParaRPr>
          </a:p>
        </p:txBody>
      </p:sp>
      <p:sp>
        <p:nvSpPr>
          <p:cNvPr id="506" name="Google Shape;506;p22"/>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Final Task 1 accuracy benchmarks and hallucination rate checks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Prepare Task 1 evaluation report for clinical review</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Begin Task 2: Design LLM Agent architecture for scanning guidance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Set up session state management infrastructure (Redis)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Literature review on spatial reasoning for probe guidance</a:t>
            </a:r>
            <a:endParaRPr b="0" i="0" sz="1050" u="none" cap="none" strike="noStrike">
              <a:solidFill>
                <a:schemeClr val="dk1"/>
              </a:solidFill>
              <a:latin typeface="Calibri"/>
              <a:ea typeface="Calibri"/>
              <a:cs typeface="Calibri"/>
              <a:sym typeface="Calibri"/>
            </a:endParaRPr>
          </a:p>
        </p:txBody>
      </p:sp>
      <p:sp>
        <p:nvSpPr>
          <p:cNvPr id="507" name="Google Shape;507;p22"/>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2"/>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8: Task 2 — LLM Agent &amp; Few-Shot Prompting</a:t>
            </a:r>
            <a:endParaRPr b="0" i="0" sz="1300" u="none" cap="none" strike="noStrike">
              <a:solidFill>
                <a:schemeClr val="dk1"/>
              </a:solidFill>
              <a:latin typeface="Calibri"/>
              <a:ea typeface="Calibri"/>
              <a:cs typeface="Calibri"/>
              <a:sym typeface="Calibri"/>
            </a:endParaRPr>
          </a:p>
        </p:txBody>
      </p:sp>
      <p:sp>
        <p:nvSpPr>
          <p:cNvPr id="509" name="Google Shape;509;p22"/>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LLM Agent with few-shot prompting for guidance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Design context management: session state + captured findings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Build rule-based probe guidance logic from RAG context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Set up FastAPI endpoints for real-time guidance serving</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Initial latency profiling (&lt;500ms target)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14" name="Shape 514"/>
        <p:cNvGrpSpPr/>
        <p:nvPr/>
      </p:nvGrpSpPr>
      <p:grpSpPr>
        <a:xfrm>
          <a:off x="0" y="0"/>
          <a:ext cx="0" cy="0"/>
          <a:chOff x="0" y="0"/>
          <a:chExt cx="0" cy="0"/>
        </a:xfrm>
      </p:grpSpPr>
      <p:sp>
        <p:nvSpPr>
          <p:cNvPr id="515" name="Google Shape;515;p23"/>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3"/>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9-10</a:t>
            </a:r>
            <a:endParaRPr b="0" i="0" sz="2600" u="none" cap="none" strike="noStrike">
              <a:solidFill>
                <a:schemeClr val="dk1"/>
              </a:solidFill>
              <a:latin typeface="Calibri"/>
              <a:ea typeface="Calibri"/>
              <a:cs typeface="Calibri"/>
              <a:sym typeface="Calibri"/>
            </a:endParaRPr>
          </a:p>
        </p:txBody>
      </p:sp>
      <p:sp>
        <p:nvSpPr>
          <p:cNvPr id="517" name="Google Shape;517;p23"/>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3"/>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519" name="Google Shape;519;p23"/>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520" name="Google Shape;520;p23"/>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3"/>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9: Task 2 — Spatial Reasoning &amp; VLM Survey</a:t>
            </a:r>
            <a:endParaRPr b="0" i="0" sz="1300" u="none" cap="none" strike="noStrike">
              <a:solidFill>
                <a:schemeClr val="dk1"/>
              </a:solidFill>
              <a:latin typeface="Calibri"/>
              <a:ea typeface="Calibri"/>
              <a:cs typeface="Calibri"/>
              <a:sym typeface="Calibri"/>
            </a:endParaRPr>
          </a:p>
        </p:txBody>
      </p:sp>
      <p:sp>
        <p:nvSpPr>
          <p:cNvPr id="522" name="Google Shape;522;p23"/>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spatial reasoning module for probe positioning</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Survey benchmark Vision Transformers for ultrasound images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Evaluate CLIP, LLaVA for ultrasound image understanding</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Integrate real-time session findings into guidance updates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Test guidance latency under realistic conditions</a:t>
            </a:r>
            <a:endParaRPr b="0" i="0" sz="1050" u="none" cap="none" strike="noStrike">
              <a:solidFill>
                <a:schemeClr val="dk1"/>
              </a:solidFill>
              <a:latin typeface="Calibri"/>
              <a:ea typeface="Calibri"/>
              <a:cs typeface="Calibri"/>
              <a:sym typeface="Calibri"/>
            </a:endParaRPr>
          </a:p>
        </p:txBody>
      </p:sp>
      <p:sp>
        <p:nvSpPr>
          <p:cNvPr id="523" name="Google Shape;523;p23"/>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3"/>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10: Task 2 — Phase 2 &amp; Multi-Modal Fusion</a:t>
            </a:r>
            <a:endParaRPr b="0" i="0" sz="1300" u="none" cap="none" strike="noStrike">
              <a:solidFill>
                <a:schemeClr val="dk1"/>
              </a:solidFill>
              <a:latin typeface="Calibri"/>
              <a:ea typeface="Calibri"/>
              <a:cs typeface="Calibri"/>
              <a:sym typeface="Calibri"/>
            </a:endParaRPr>
          </a:p>
        </p:txBody>
      </p:sp>
      <p:sp>
        <p:nvSpPr>
          <p:cNvPr id="525" name="Google Shape;525;p23"/>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VLM fine-tuning experiments on ultrasound medical images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Multi-modal fusion of image + text inputs for probe guidance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Latency-optimized model serving with vLLM</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Operator acceptance testing with simulated sessions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Benchmark guidance quality against KPIs (≥70% useful)</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30" name="Shape 530"/>
        <p:cNvGrpSpPr/>
        <p:nvPr/>
      </p:nvGrpSpPr>
      <p:grpSpPr>
        <a:xfrm>
          <a:off x="0" y="0"/>
          <a:ext cx="0" cy="0"/>
          <a:chOff x="0" y="0"/>
          <a:chExt cx="0" cy="0"/>
        </a:xfrm>
      </p:grpSpPr>
      <p:sp>
        <p:nvSpPr>
          <p:cNvPr id="531" name="Google Shape;531;p24"/>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4"/>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11-12</a:t>
            </a:r>
            <a:endParaRPr b="0" i="0" sz="2600" u="none" cap="none" strike="noStrike">
              <a:solidFill>
                <a:schemeClr val="dk1"/>
              </a:solidFill>
              <a:latin typeface="Calibri"/>
              <a:ea typeface="Calibri"/>
              <a:cs typeface="Calibri"/>
              <a:sym typeface="Calibri"/>
            </a:endParaRPr>
          </a:p>
        </p:txBody>
      </p:sp>
      <p:sp>
        <p:nvSpPr>
          <p:cNvPr id="533" name="Google Shape;533;p24"/>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4"/>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535" name="Google Shape;535;p24"/>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536" name="Google Shape;536;p24"/>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4"/>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11: Task 2 — Optimization &amp; Edge Inference</a:t>
            </a:r>
            <a:endParaRPr b="0" i="0" sz="1300" u="none" cap="none" strike="noStrike">
              <a:solidFill>
                <a:schemeClr val="dk1"/>
              </a:solidFill>
              <a:latin typeface="Calibri"/>
              <a:ea typeface="Calibri"/>
              <a:cs typeface="Calibri"/>
              <a:sym typeface="Calibri"/>
            </a:endParaRPr>
          </a:p>
        </p:txBody>
      </p:sp>
      <p:sp>
        <p:nvSpPr>
          <p:cNvPr id="538" name="Google Shape;538;p24"/>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Edge inference optimization for low latency &amp; memory usage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Batch optimization for concurrent guidance sessions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confidence-ranked suggestions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Preference learning module for operator feedback</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Quality scoring system for guidance consistency</a:t>
            </a:r>
            <a:endParaRPr b="0" i="0" sz="1050" u="none" cap="none" strike="noStrike">
              <a:solidFill>
                <a:schemeClr val="dk1"/>
              </a:solidFill>
              <a:latin typeface="Calibri"/>
              <a:ea typeface="Calibri"/>
              <a:cs typeface="Calibri"/>
              <a:sym typeface="Calibri"/>
            </a:endParaRPr>
          </a:p>
        </p:txBody>
      </p:sp>
      <p:sp>
        <p:nvSpPr>
          <p:cNvPr id="539" name="Google Shape;539;p24"/>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4"/>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12: Task 2 Finalization &amp; Task 3 Kickoff</a:t>
            </a:r>
            <a:endParaRPr b="0" i="0" sz="1300" u="none" cap="none" strike="noStrike">
              <a:solidFill>
                <a:schemeClr val="dk1"/>
              </a:solidFill>
              <a:latin typeface="Calibri"/>
              <a:ea typeface="Calibri"/>
              <a:cs typeface="Calibri"/>
              <a:sym typeface="Calibri"/>
            </a:endParaRPr>
          </a:p>
        </p:txBody>
      </p:sp>
      <p:sp>
        <p:nvSpPr>
          <p:cNvPr id="541" name="Google Shape;541;p24"/>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Final Task 2 benchmarks: latency, acceptance rate, quality</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Complete Task 2 documentation and API specs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Begin Task 3: Set up vein detection pipeline with OpenCV</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Prepare annotated ultrasound image datasets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Survey Vision LLM architectures for vein classification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46" name="Shape 546"/>
        <p:cNvGrpSpPr/>
        <p:nvPr/>
      </p:nvGrpSpPr>
      <p:grpSpPr>
        <a:xfrm>
          <a:off x="0" y="0"/>
          <a:ext cx="0" cy="0"/>
          <a:chOff x="0" y="0"/>
          <a:chExt cx="0" cy="0"/>
        </a:xfrm>
      </p:grpSpPr>
      <p:sp>
        <p:nvSpPr>
          <p:cNvPr id="547" name="Google Shape;547;p25"/>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5"/>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13-14</a:t>
            </a:r>
            <a:endParaRPr b="0" i="0" sz="2600" u="none" cap="none" strike="noStrike">
              <a:solidFill>
                <a:schemeClr val="dk1"/>
              </a:solidFill>
              <a:latin typeface="Calibri"/>
              <a:ea typeface="Calibri"/>
              <a:cs typeface="Calibri"/>
              <a:sym typeface="Calibri"/>
            </a:endParaRPr>
          </a:p>
        </p:txBody>
      </p:sp>
      <p:sp>
        <p:nvSpPr>
          <p:cNvPr id="549" name="Google Shape;549;p25"/>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5"/>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551" name="Google Shape;551;p25"/>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552" name="Google Shape;552;p25"/>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5"/>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13: Task 3 — Vision LLM Vein Classification</a:t>
            </a:r>
            <a:endParaRPr b="0" i="0" sz="1300" u="none" cap="none" strike="noStrike">
              <a:solidFill>
                <a:schemeClr val="dk1"/>
              </a:solidFill>
              <a:latin typeface="Calibri"/>
              <a:ea typeface="Calibri"/>
              <a:cs typeface="Calibri"/>
              <a:sym typeface="Calibri"/>
            </a:endParaRPr>
          </a:p>
        </p:txBody>
      </p:sp>
      <p:sp>
        <p:nvSpPr>
          <p:cNvPr id="554" name="Google Shape;554;p25"/>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real-time vein classification with Vision LLMs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Integrate RAG database for CHIVA-grounded classification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Inference RAG knowledge as context for high-precision output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Initial frame processing latency profiling (&lt;33ms target)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Test on annotated ultrasound streams with fascia/vein labels</a:t>
            </a:r>
            <a:endParaRPr b="0" i="0" sz="1050" u="none" cap="none" strike="noStrike">
              <a:solidFill>
                <a:schemeClr val="dk1"/>
              </a:solidFill>
              <a:latin typeface="Calibri"/>
              <a:ea typeface="Calibri"/>
              <a:cs typeface="Calibri"/>
              <a:sym typeface="Calibri"/>
            </a:endParaRPr>
          </a:p>
        </p:txBody>
      </p:sp>
      <p:sp>
        <p:nvSpPr>
          <p:cNvPr id="555" name="Google Shape;555;p25"/>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5"/>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14: Task 3 — Latency &amp; Accuracy Optimization</a:t>
            </a:r>
            <a:endParaRPr b="0" i="0" sz="1300" u="none" cap="none" strike="noStrike">
              <a:solidFill>
                <a:schemeClr val="dk1"/>
              </a:solidFill>
              <a:latin typeface="Calibri"/>
              <a:ea typeface="Calibri"/>
              <a:cs typeface="Calibri"/>
              <a:sym typeface="Calibri"/>
            </a:endParaRPr>
          </a:p>
        </p:txBody>
      </p:sp>
      <p:sp>
        <p:nvSpPr>
          <p:cNvPr id="557" name="Google Shape;557;p25"/>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Optimize processing pipeline for 30fps real-time performance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temporal smoothing for vein segmentation stability</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Kalman filtering for temporal coherence across frames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Benchmark detection sensitivity and segmentation IoU</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Handle imaging artifacts and edge cases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62" name="Shape 562"/>
        <p:cNvGrpSpPr/>
        <p:nvPr/>
      </p:nvGrpSpPr>
      <p:grpSpPr>
        <a:xfrm>
          <a:off x="0" y="0"/>
          <a:ext cx="0" cy="0"/>
          <a:chOff x="0" y="0"/>
          <a:chExt cx="0" cy="0"/>
        </a:xfrm>
      </p:grpSpPr>
      <p:sp>
        <p:nvSpPr>
          <p:cNvPr id="563" name="Google Shape;563;p26"/>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6"/>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15-16</a:t>
            </a:r>
            <a:endParaRPr b="0" i="0" sz="2600" u="none" cap="none" strike="noStrike">
              <a:solidFill>
                <a:schemeClr val="dk1"/>
              </a:solidFill>
              <a:latin typeface="Calibri"/>
              <a:ea typeface="Calibri"/>
              <a:cs typeface="Calibri"/>
              <a:sym typeface="Calibri"/>
            </a:endParaRPr>
          </a:p>
        </p:txBody>
      </p:sp>
      <p:sp>
        <p:nvSpPr>
          <p:cNvPr id="565" name="Google Shape;565;p26"/>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6"/>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567" name="Google Shape;567;p26"/>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568" name="Google Shape;568;p26"/>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6"/>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15: Task 3 — Phase 2 Fine-Tuning</a:t>
            </a:r>
            <a:endParaRPr b="0" i="0" sz="1300" u="none" cap="none" strike="noStrike">
              <a:solidFill>
                <a:schemeClr val="dk1"/>
              </a:solidFill>
              <a:latin typeface="Calibri"/>
              <a:ea typeface="Calibri"/>
              <a:cs typeface="Calibri"/>
              <a:sym typeface="Calibri"/>
            </a:endParaRPr>
          </a:p>
        </p:txBody>
      </p:sp>
      <p:sp>
        <p:nvSpPr>
          <p:cNvPr id="570" name="Google Shape;570;p26"/>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Fine-tune Vision LLM on labeled ultrasound datasets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Attention mechanism adaptations for ultrasound imagery</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Model distillation for inference speed improvement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ONNX optimization &amp; GPU acceleration experiments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Benchmark against KPIs (≥90% accuracy, ≥0.70 IoU)</a:t>
            </a:r>
            <a:endParaRPr b="0" i="0" sz="1050" u="none" cap="none" strike="noStrike">
              <a:solidFill>
                <a:schemeClr val="dk1"/>
              </a:solidFill>
              <a:latin typeface="Calibri"/>
              <a:ea typeface="Calibri"/>
              <a:cs typeface="Calibri"/>
              <a:sym typeface="Calibri"/>
            </a:endParaRPr>
          </a:p>
        </p:txBody>
      </p:sp>
      <p:sp>
        <p:nvSpPr>
          <p:cNvPr id="571" name="Google Shape;571;p26"/>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6"/>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16: Task 3 — Tracking &amp; Robustness</a:t>
            </a:r>
            <a:endParaRPr b="0" i="0" sz="1300" u="none" cap="none" strike="noStrike">
              <a:solidFill>
                <a:schemeClr val="dk1"/>
              </a:solidFill>
              <a:latin typeface="Calibri"/>
              <a:ea typeface="Calibri"/>
              <a:cs typeface="Calibri"/>
              <a:sym typeface="Calibri"/>
            </a:endParaRPr>
          </a:p>
        </p:txBody>
      </p:sp>
      <p:sp>
        <p:nvSpPr>
          <p:cNvPr id="573" name="Google Shape;573;p26"/>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advanced tracking algorithms using VLMs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Robustness testing with varied imaging conditions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Final Task 3 accuracy and latency benchmarks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Complete Task 3 documentation and evaluation report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Prepare for Task 4 transition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78" name="Shape 578"/>
        <p:cNvGrpSpPr/>
        <p:nvPr/>
      </p:nvGrpSpPr>
      <p:grpSpPr>
        <a:xfrm>
          <a:off x="0" y="0"/>
          <a:ext cx="0" cy="0"/>
          <a:chOff x="0" y="0"/>
          <a:chExt cx="0" cy="0"/>
        </a:xfrm>
      </p:grpSpPr>
      <p:sp>
        <p:nvSpPr>
          <p:cNvPr id="579" name="Google Shape;579;p27"/>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7"/>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17-18</a:t>
            </a:r>
            <a:endParaRPr b="0" i="0" sz="2600" u="none" cap="none" strike="noStrike">
              <a:solidFill>
                <a:schemeClr val="dk1"/>
              </a:solidFill>
              <a:latin typeface="Calibri"/>
              <a:ea typeface="Calibri"/>
              <a:cs typeface="Calibri"/>
              <a:sym typeface="Calibri"/>
            </a:endParaRPr>
          </a:p>
        </p:txBody>
      </p:sp>
      <p:sp>
        <p:nvSpPr>
          <p:cNvPr id="581" name="Google Shape;581;p27"/>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7"/>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583" name="Google Shape;583;p27"/>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584" name="Google Shape;584;p27"/>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7"/>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17: Task 3 Wrap-Up &amp; Task 4 Kickoff</a:t>
            </a:r>
            <a:endParaRPr b="0" i="0" sz="1300" u="none" cap="none" strike="noStrike">
              <a:solidFill>
                <a:schemeClr val="dk1"/>
              </a:solidFill>
              <a:latin typeface="Calibri"/>
              <a:ea typeface="Calibri"/>
              <a:cs typeface="Calibri"/>
              <a:sym typeface="Calibri"/>
            </a:endParaRPr>
          </a:p>
        </p:txBody>
      </p:sp>
      <p:sp>
        <p:nvSpPr>
          <p:cNvPr id="586" name="Google Shape;586;p27"/>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Final Task 3 evaluation report and clinical validation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Begin Task 4: VLM approach design for Tasks 2 &amp; 3</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Architecture design for unified VLM pipeline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Evaluate VLM candidates for combined guidance + detection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Set up training and evaluation infrastructure</a:t>
            </a:r>
            <a:endParaRPr b="0" i="0" sz="1050" u="none" cap="none" strike="noStrike">
              <a:solidFill>
                <a:schemeClr val="dk1"/>
              </a:solidFill>
              <a:latin typeface="Calibri"/>
              <a:ea typeface="Calibri"/>
              <a:cs typeface="Calibri"/>
              <a:sym typeface="Calibri"/>
            </a:endParaRPr>
          </a:p>
        </p:txBody>
      </p:sp>
      <p:sp>
        <p:nvSpPr>
          <p:cNvPr id="587" name="Google Shape;587;p27"/>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7"/>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18: Task 4 — VLM Pipeline Development</a:t>
            </a:r>
            <a:endParaRPr b="0" i="0" sz="1300" u="none" cap="none" strike="noStrike">
              <a:solidFill>
                <a:schemeClr val="dk1"/>
              </a:solidFill>
              <a:latin typeface="Calibri"/>
              <a:ea typeface="Calibri"/>
              <a:cs typeface="Calibri"/>
              <a:sym typeface="Calibri"/>
            </a:endParaRPr>
          </a:p>
        </p:txBody>
      </p:sp>
      <p:sp>
        <p:nvSpPr>
          <p:cNvPr id="589" name="Google Shape;589;p27"/>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VLM-based scanning guidance (replacing LLM agent)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Implement VLM-based vein identification pipeline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Multi-modal input processing: ultrasound frames + text context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Initial accuracy and latency comparison vs. Task 2 &amp; 3 baselines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Identify performance gaps and optimization targets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594" name="Shape 594"/>
        <p:cNvGrpSpPr/>
        <p:nvPr/>
      </p:nvGrpSpPr>
      <p:grpSpPr>
        <a:xfrm>
          <a:off x="0" y="0"/>
          <a:ext cx="0" cy="0"/>
          <a:chOff x="0" y="0"/>
          <a:chExt cx="0" cy="0"/>
        </a:xfrm>
      </p:grpSpPr>
      <p:sp>
        <p:nvSpPr>
          <p:cNvPr id="595" name="Google Shape;595;p28"/>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8"/>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19-20</a:t>
            </a:r>
            <a:endParaRPr b="0" i="0" sz="2600" u="none" cap="none" strike="noStrike">
              <a:solidFill>
                <a:schemeClr val="dk1"/>
              </a:solidFill>
              <a:latin typeface="Calibri"/>
              <a:ea typeface="Calibri"/>
              <a:cs typeface="Calibri"/>
              <a:sym typeface="Calibri"/>
            </a:endParaRPr>
          </a:p>
        </p:txBody>
      </p:sp>
      <p:sp>
        <p:nvSpPr>
          <p:cNvPr id="597" name="Google Shape;597;p28"/>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8"/>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599" name="Google Shape;599;p28"/>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600" name="Google Shape;600;p28"/>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8"/>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19: Task 4 — Fine-Tuning &amp; Optimization</a:t>
            </a:r>
            <a:endParaRPr b="0" i="0" sz="1300" u="none" cap="none" strike="noStrike">
              <a:solidFill>
                <a:schemeClr val="dk1"/>
              </a:solidFill>
              <a:latin typeface="Calibri"/>
              <a:ea typeface="Calibri"/>
              <a:cs typeface="Calibri"/>
              <a:sym typeface="Calibri"/>
            </a:endParaRPr>
          </a:p>
        </p:txBody>
      </p:sp>
      <p:sp>
        <p:nvSpPr>
          <p:cNvPr id="602" name="Google Shape;602;p28"/>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VLM fine-tuning on combined ultrasound + guidance datasets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Latency optimization for real-time VLM inference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Model distillation and ONNX export for edge deployment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A/B comparison: VLM approach vs. separate Task 2 + Task 3</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Document performance trade-offs and recommendations</a:t>
            </a:r>
            <a:endParaRPr b="0" i="0" sz="1050" u="none" cap="none" strike="noStrike">
              <a:solidFill>
                <a:schemeClr val="dk1"/>
              </a:solidFill>
              <a:latin typeface="Calibri"/>
              <a:ea typeface="Calibri"/>
              <a:cs typeface="Calibri"/>
              <a:sym typeface="Calibri"/>
            </a:endParaRPr>
          </a:p>
        </p:txBody>
      </p:sp>
      <p:sp>
        <p:nvSpPr>
          <p:cNvPr id="603" name="Google Shape;603;p28"/>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8"/>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20: Task 4 — Evaluation &amp; Integration</a:t>
            </a:r>
            <a:endParaRPr b="0" i="0" sz="1300" u="none" cap="none" strike="noStrike">
              <a:solidFill>
                <a:schemeClr val="dk1"/>
              </a:solidFill>
              <a:latin typeface="Calibri"/>
              <a:ea typeface="Calibri"/>
              <a:cs typeface="Calibri"/>
              <a:sym typeface="Calibri"/>
            </a:endParaRPr>
          </a:p>
        </p:txBody>
      </p:sp>
      <p:sp>
        <p:nvSpPr>
          <p:cNvPr id="605" name="Google Shape;605;p28"/>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Comprehensive VLM evaluation against all KPI targets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Integrate VLM pipeline into unified system API</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End-to-end testing with real ultrasound data streams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Operator acceptance testing for VLM-based guidance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Final Task 4 benchmarks and comparison report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10" name="Shape 610"/>
        <p:cNvGrpSpPr/>
        <p:nvPr/>
      </p:nvGrpSpPr>
      <p:grpSpPr>
        <a:xfrm>
          <a:off x="0" y="0"/>
          <a:ext cx="0" cy="0"/>
          <a:chOff x="0" y="0"/>
          <a:chExt cx="0" cy="0"/>
        </a:xfrm>
      </p:grpSpPr>
      <p:sp>
        <p:nvSpPr>
          <p:cNvPr id="611" name="Google Shape;611;p29"/>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9"/>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21-22</a:t>
            </a:r>
            <a:endParaRPr b="0" i="0" sz="2600" u="none" cap="none" strike="noStrike">
              <a:solidFill>
                <a:schemeClr val="dk1"/>
              </a:solidFill>
              <a:latin typeface="Calibri"/>
              <a:ea typeface="Calibri"/>
              <a:cs typeface="Calibri"/>
              <a:sym typeface="Calibri"/>
            </a:endParaRPr>
          </a:p>
        </p:txBody>
      </p:sp>
      <p:sp>
        <p:nvSpPr>
          <p:cNvPr id="613" name="Google Shape;613;p29"/>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9"/>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615" name="Google Shape;615;p29"/>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616" name="Google Shape;616;p29"/>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9"/>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21: Task 4 Wrap-Up &amp; System Integration</a:t>
            </a:r>
            <a:endParaRPr b="0" i="0" sz="1300" u="none" cap="none" strike="noStrike">
              <a:solidFill>
                <a:schemeClr val="dk1"/>
              </a:solidFill>
              <a:latin typeface="Calibri"/>
              <a:ea typeface="Calibri"/>
              <a:cs typeface="Calibri"/>
              <a:sym typeface="Calibri"/>
            </a:endParaRPr>
          </a:p>
        </p:txBody>
      </p:sp>
      <p:sp>
        <p:nvSpPr>
          <p:cNvPr id="618" name="Google Shape;618;p29"/>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Complete Task 4 documentation and evaluation report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Decide on best approach (VLM vs. separate) per task</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Integrate all four tasks into unified production API</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End-to-end system testing across all components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Performance profiling of complete pipeline</a:t>
            </a:r>
            <a:endParaRPr b="0" i="0" sz="1050" u="none" cap="none" strike="noStrike">
              <a:solidFill>
                <a:schemeClr val="dk1"/>
              </a:solidFill>
              <a:latin typeface="Calibri"/>
              <a:ea typeface="Calibri"/>
              <a:cs typeface="Calibri"/>
              <a:sym typeface="Calibri"/>
            </a:endParaRPr>
          </a:p>
        </p:txBody>
      </p:sp>
      <p:sp>
        <p:nvSpPr>
          <p:cNvPr id="619" name="Google Shape;619;p29"/>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9"/>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22: Clinical Validation &amp; Surgeon Feedback</a:t>
            </a:r>
            <a:endParaRPr b="0" i="0" sz="1300" u="none" cap="none" strike="noStrike">
              <a:solidFill>
                <a:schemeClr val="dk1"/>
              </a:solidFill>
              <a:latin typeface="Calibri"/>
              <a:ea typeface="Calibri"/>
              <a:cs typeface="Calibri"/>
              <a:sym typeface="Calibri"/>
            </a:endParaRPr>
          </a:p>
        </p:txBody>
      </p:sp>
      <p:sp>
        <p:nvSpPr>
          <p:cNvPr id="621" name="Google Shape;621;p29"/>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Deploy complete system to surgeons for clinical validation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Collect surgeon feedback on classification, guidance, detection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Clinician review scoring for report quality</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Identify remaining accuracy and usability gaps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Prioritize final fixes based on clinical feedback</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26" name="Shape 626"/>
        <p:cNvGrpSpPr/>
        <p:nvPr/>
      </p:nvGrpSpPr>
      <p:grpSpPr>
        <a:xfrm>
          <a:off x="0" y="0"/>
          <a:ext cx="0" cy="0"/>
          <a:chOff x="0" y="0"/>
          <a:chExt cx="0" cy="0"/>
        </a:xfrm>
      </p:grpSpPr>
      <p:sp>
        <p:nvSpPr>
          <p:cNvPr id="627" name="Google Shape;627;p30"/>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0"/>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23-24</a:t>
            </a:r>
            <a:endParaRPr b="0" i="0" sz="2600" u="none" cap="none" strike="noStrike">
              <a:solidFill>
                <a:schemeClr val="dk1"/>
              </a:solidFill>
              <a:latin typeface="Calibri"/>
              <a:ea typeface="Calibri"/>
              <a:cs typeface="Calibri"/>
              <a:sym typeface="Calibri"/>
            </a:endParaRPr>
          </a:p>
        </p:txBody>
      </p:sp>
      <p:sp>
        <p:nvSpPr>
          <p:cNvPr id="629" name="Google Shape;629;p30"/>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0"/>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631" name="Google Shape;631;p30"/>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632" name="Google Shape;632;p30"/>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0"/>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23: Final Optimization &amp; Bug Fixes</a:t>
            </a:r>
            <a:endParaRPr b="0" i="0" sz="1300" u="none" cap="none" strike="noStrike">
              <a:solidFill>
                <a:schemeClr val="dk1"/>
              </a:solidFill>
              <a:latin typeface="Calibri"/>
              <a:ea typeface="Calibri"/>
              <a:cs typeface="Calibri"/>
              <a:sym typeface="Calibri"/>
            </a:endParaRPr>
          </a:p>
        </p:txBody>
      </p:sp>
      <p:sp>
        <p:nvSpPr>
          <p:cNvPr id="634" name="Google Shape;634;p30"/>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Address clinical feedback: prompt tuning and model adjustments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Final latency optimization across all components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Edge case handling and adversarial testing</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HIPAA compliance review and audit logging verification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Model explainability integration (SHAP/attention visualization)</a:t>
            </a:r>
            <a:endParaRPr b="0" i="0" sz="1050" u="none" cap="none" strike="noStrike">
              <a:solidFill>
                <a:schemeClr val="dk1"/>
              </a:solidFill>
              <a:latin typeface="Calibri"/>
              <a:ea typeface="Calibri"/>
              <a:cs typeface="Calibri"/>
              <a:sym typeface="Calibri"/>
            </a:endParaRPr>
          </a:p>
        </p:txBody>
      </p:sp>
      <p:sp>
        <p:nvSpPr>
          <p:cNvPr id="635" name="Google Shape;635;p30"/>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0"/>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24: Deployment Preparation</a:t>
            </a:r>
            <a:endParaRPr b="0" i="0" sz="1300" u="none" cap="none" strike="noStrike">
              <a:solidFill>
                <a:schemeClr val="dk1"/>
              </a:solidFill>
              <a:latin typeface="Calibri"/>
              <a:ea typeface="Calibri"/>
              <a:cs typeface="Calibri"/>
              <a:sym typeface="Calibri"/>
            </a:endParaRPr>
          </a:p>
        </p:txBody>
      </p:sp>
      <p:sp>
        <p:nvSpPr>
          <p:cNvPr id="637" name="Google Shape;637;p30"/>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Docker containerization of all services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Kubernetes deployment configuration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Production deployment guide and runbooks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Infrastructure recommendations (cloud/hybrid/edge)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Security audit and compliance documentation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42" name="Shape 642"/>
        <p:cNvGrpSpPr/>
        <p:nvPr/>
      </p:nvGrpSpPr>
      <p:grpSpPr>
        <a:xfrm>
          <a:off x="0" y="0"/>
          <a:ext cx="0" cy="0"/>
          <a:chOff x="0" y="0"/>
          <a:chExt cx="0" cy="0"/>
        </a:xfrm>
      </p:grpSpPr>
      <p:sp>
        <p:nvSpPr>
          <p:cNvPr id="643" name="Google Shape;643;p31"/>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1"/>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Weekly Plan: Weeks 25-26</a:t>
            </a:r>
            <a:endParaRPr b="0" i="0" sz="2600" u="none" cap="none" strike="noStrike">
              <a:solidFill>
                <a:schemeClr val="dk1"/>
              </a:solidFill>
              <a:latin typeface="Calibri"/>
              <a:ea typeface="Calibri"/>
              <a:cs typeface="Calibri"/>
              <a:sym typeface="Calibri"/>
            </a:endParaRPr>
          </a:p>
        </p:txBody>
      </p:sp>
      <p:sp>
        <p:nvSpPr>
          <p:cNvPr id="645" name="Google Shape;645;p31"/>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1"/>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647" name="Google Shape;647;p31"/>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648" name="Google Shape;648;p31"/>
          <p:cNvSpPr/>
          <p:nvPr/>
        </p:nvSpPr>
        <p:spPr>
          <a:xfrm>
            <a:off x="457200" y="105156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1"/>
          <p:cNvSpPr/>
          <p:nvPr/>
        </p:nvSpPr>
        <p:spPr>
          <a:xfrm>
            <a:off x="640080" y="112471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25: Documentation &amp; Handover</a:t>
            </a:r>
            <a:endParaRPr b="0" i="0" sz="1300" u="none" cap="none" strike="noStrike">
              <a:solidFill>
                <a:schemeClr val="dk1"/>
              </a:solidFill>
              <a:latin typeface="Calibri"/>
              <a:ea typeface="Calibri"/>
              <a:cs typeface="Calibri"/>
              <a:sym typeface="Calibri"/>
            </a:endParaRPr>
          </a:p>
        </p:txBody>
      </p:sp>
      <p:sp>
        <p:nvSpPr>
          <p:cNvPr id="650" name="Google Shape;650;p31"/>
          <p:cNvSpPr/>
          <p:nvPr/>
        </p:nvSpPr>
        <p:spPr>
          <a:xfrm>
            <a:off x="731520" y="143560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Comprehensive technical documentation &amp; API specs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Clinical validation results report</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Performance benchmarks &amp; evaluation reports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Code cleanup, testing, and repository finalization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Knowledge transfer sessions with the team</a:t>
            </a:r>
            <a:endParaRPr b="0" i="0" sz="1050" u="none" cap="none" strike="noStrike">
              <a:solidFill>
                <a:schemeClr val="dk1"/>
              </a:solidFill>
              <a:latin typeface="Calibri"/>
              <a:ea typeface="Calibri"/>
              <a:cs typeface="Calibri"/>
              <a:sym typeface="Calibri"/>
            </a:endParaRPr>
          </a:p>
        </p:txBody>
      </p:sp>
      <p:sp>
        <p:nvSpPr>
          <p:cNvPr id="651" name="Google Shape;651;p31"/>
          <p:cNvSpPr/>
          <p:nvPr/>
        </p:nvSpPr>
        <p:spPr>
          <a:xfrm>
            <a:off x="457200" y="2743200"/>
            <a:ext cx="8229600" cy="155448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1"/>
          <p:cNvSpPr/>
          <p:nvPr/>
        </p:nvSpPr>
        <p:spPr>
          <a:xfrm>
            <a:off x="640080" y="281635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Week 26: Final Presentation &amp; Deliverables</a:t>
            </a:r>
            <a:endParaRPr b="0" i="0" sz="1300" u="none" cap="none" strike="noStrike">
              <a:solidFill>
                <a:schemeClr val="dk1"/>
              </a:solidFill>
              <a:latin typeface="Calibri"/>
              <a:ea typeface="Calibri"/>
              <a:cs typeface="Calibri"/>
              <a:sym typeface="Calibri"/>
            </a:endParaRPr>
          </a:p>
        </p:txBody>
      </p:sp>
      <p:sp>
        <p:nvSpPr>
          <p:cNvPr id="653" name="Google Shape;653;p31"/>
          <p:cNvSpPr/>
          <p:nvPr/>
        </p:nvSpPr>
        <p:spPr>
          <a:xfrm>
            <a:off x="731520" y="3127248"/>
            <a:ext cx="768096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Prepare final technical presentation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Complete end-of-internship deliverables package</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Present findings and recommendations to stakeholders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Future roadmap and improvement suggestions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Handover of all code, documentation, and credentials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58" name="Shape 658"/>
        <p:cNvGrpSpPr/>
        <p:nvPr/>
      </p:nvGrpSpPr>
      <p:grpSpPr>
        <a:xfrm>
          <a:off x="0" y="0"/>
          <a:ext cx="0" cy="0"/>
          <a:chOff x="0" y="0"/>
          <a:chExt cx="0" cy="0"/>
        </a:xfrm>
      </p:grpSpPr>
      <p:sp>
        <p:nvSpPr>
          <p:cNvPr id="659" name="Google Shape;659;p32"/>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2"/>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Success Metrics &amp; KPIs</a:t>
            </a:r>
            <a:endParaRPr b="0" i="0" sz="2600" u="none" cap="none" strike="noStrike">
              <a:solidFill>
                <a:schemeClr val="dk1"/>
              </a:solidFill>
              <a:latin typeface="Calibri"/>
              <a:ea typeface="Calibri"/>
              <a:cs typeface="Calibri"/>
              <a:sym typeface="Calibri"/>
            </a:endParaRPr>
          </a:p>
        </p:txBody>
      </p:sp>
      <p:sp>
        <p:nvSpPr>
          <p:cNvPr id="661" name="Google Shape;661;p32"/>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2"/>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663" name="Google Shape;663;p32"/>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664" name="Google Shape;664;p32"/>
          <p:cNvSpPr/>
          <p:nvPr/>
        </p:nvSpPr>
        <p:spPr>
          <a:xfrm>
            <a:off x="457200" y="1051560"/>
            <a:ext cx="8229600" cy="105156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2"/>
          <p:cNvSpPr/>
          <p:nvPr/>
        </p:nvSpPr>
        <p:spPr>
          <a:xfrm>
            <a:off x="457200" y="1051560"/>
            <a:ext cx="54864" cy="105156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2"/>
          <p:cNvSpPr/>
          <p:nvPr/>
        </p:nvSpPr>
        <p:spPr>
          <a:xfrm>
            <a:off x="640080" y="10972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Task 1: Shunt Classification</a:t>
            </a:r>
            <a:endParaRPr b="0" i="0" sz="1300" u="none" cap="none" strike="noStrike">
              <a:solidFill>
                <a:schemeClr val="dk1"/>
              </a:solidFill>
              <a:latin typeface="Calibri"/>
              <a:ea typeface="Calibri"/>
              <a:cs typeface="Calibri"/>
              <a:sym typeface="Calibri"/>
            </a:endParaRPr>
          </a:p>
        </p:txBody>
      </p:sp>
      <p:sp>
        <p:nvSpPr>
          <p:cNvPr id="667" name="Google Shape;667;p32"/>
          <p:cNvSpPr/>
          <p:nvPr/>
        </p:nvSpPr>
        <p:spPr>
          <a:xfrm>
            <a:off x="731520" y="1371600"/>
            <a:ext cx="7680960" cy="640080"/>
          </a:xfrm>
          <a:prstGeom prst="rect">
            <a:avLst/>
          </a:prstGeom>
          <a:noFill/>
          <a:ln>
            <a:noFill/>
          </a:ln>
        </p:spPr>
        <p:txBody>
          <a:bodyPr anchorCtr="0" anchor="t" bIns="0" lIns="0" spcFirstLastPara="1" rIns="0" wrap="square" tIns="0">
            <a:noAutofit/>
          </a:bodyPr>
          <a:lstStyle/>
          <a:p>
            <a:pPr indent="-336550" lvl="0" marL="342900" marR="0" rtl="0" algn="l">
              <a:spcBef>
                <a:spcPts val="0"/>
              </a:spcBef>
              <a:spcAft>
                <a:spcPts val="0"/>
              </a:spcAft>
              <a:buClr>
                <a:srgbClr val="333333"/>
              </a:buClr>
              <a:buSzPts val="950"/>
              <a:buFont typeface="Arial"/>
              <a:buChar char="•"/>
            </a:pPr>
            <a:r>
              <a:rPr b="0" i="0" lang="en-US" sz="950" u="none" cap="none" strike="noStrike">
                <a:solidFill>
                  <a:srgbClr val="333333"/>
                </a:solidFill>
                <a:latin typeface="Arial"/>
                <a:ea typeface="Arial"/>
                <a:cs typeface="Arial"/>
                <a:sym typeface="Arial"/>
              </a:rPr>
              <a:t>Classification Accuracy: ≥85% on labeled cases</a:t>
            </a:r>
            <a:endParaRPr b="0" i="0" sz="950" u="none" cap="none" strike="noStrike">
              <a:solidFill>
                <a:schemeClr val="dk1"/>
              </a:solidFill>
              <a:latin typeface="Calibri"/>
              <a:ea typeface="Calibri"/>
              <a:cs typeface="Calibri"/>
              <a:sym typeface="Calibri"/>
            </a:endParaRPr>
          </a:p>
          <a:p>
            <a:pPr indent="-336550" lvl="0" marL="342900" marR="0" rtl="0" algn="l">
              <a:spcBef>
                <a:spcPts val="300"/>
              </a:spcBef>
              <a:spcAft>
                <a:spcPts val="0"/>
              </a:spcAft>
              <a:buClr>
                <a:srgbClr val="333333"/>
              </a:buClr>
              <a:buSzPts val="950"/>
              <a:buFont typeface="Arial"/>
              <a:buChar char="•"/>
            </a:pPr>
            <a:r>
              <a:rPr b="0" i="0" lang="en-US" sz="950" u="none" cap="none" strike="noStrike">
                <a:solidFill>
                  <a:srgbClr val="333333"/>
                </a:solidFill>
                <a:latin typeface="Arial"/>
                <a:ea typeface="Arial"/>
                <a:cs typeface="Arial"/>
                <a:sym typeface="Arial"/>
              </a:rPr>
              <a:t>Hallucination Rate: &lt;5% with RAG</a:t>
            </a:r>
            <a:endParaRPr b="0" i="0" sz="950" u="none" cap="none" strike="noStrike">
              <a:solidFill>
                <a:schemeClr val="dk1"/>
              </a:solidFill>
              <a:latin typeface="Calibri"/>
              <a:ea typeface="Calibri"/>
              <a:cs typeface="Calibri"/>
              <a:sym typeface="Calibri"/>
            </a:endParaRPr>
          </a:p>
          <a:p>
            <a:pPr indent="-336550" lvl="0" marL="342900" marR="0" rtl="0" algn="l">
              <a:spcBef>
                <a:spcPts val="300"/>
              </a:spcBef>
              <a:spcAft>
                <a:spcPts val="0"/>
              </a:spcAft>
              <a:buClr>
                <a:srgbClr val="333333"/>
              </a:buClr>
              <a:buSzPts val="950"/>
              <a:buFont typeface="Arial"/>
              <a:buChar char="•"/>
            </a:pPr>
            <a:r>
              <a:rPr b="0" i="0" lang="en-US" sz="950" u="none" cap="none" strike="noStrike">
                <a:solidFill>
                  <a:srgbClr val="333333"/>
                </a:solidFill>
                <a:latin typeface="Arial"/>
                <a:ea typeface="Arial"/>
                <a:cs typeface="Arial"/>
                <a:sym typeface="Arial"/>
              </a:rPr>
              <a:t>Latency: &lt;2 seconds per case</a:t>
            </a:r>
            <a:endParaRPr b="0" i="0" sz="950" u="none" cap="none" strike="noStrike">
              <a:solidFill>
                <a:schemeClr val="dk1"/>
              </a:solidFill>
              <a:latin typeface="Calibri"/>
              <a:ea typeface="Calibri"/>
              <a:cs typeface="Calibri"/>
              <a:sym typeface="Calibri"/>
            </a:endParaRPr>
          </a:p>
          <a:p>
            <a:pPr indent="-336550" lvl="0" marL="342900" marR="0" rtl="0" algn="l">
              <a:spcBef>
                <a:spcPts val="300"/>
              </a:spcBef>
              <a:spcAft>
                <a:spcPts val="0"/>
              </a:spcAft>
              <a:buClr>
                <a:srgbClr val="333333"/>
              </a:buClr>
              <a:buSzPts val="950"/>
              <a:buFont typeface="Arial"/>
              <a:buChar char="•"/>
            </a:pPr>
            <a:r>
              <a:rPr b="0" i="0" lang="en-US" sz="950" u="none" cap="none" strike="noStrike">
                <a:solidFill>
                  <a:srgbClr val="333333"/>
                </a:solidFill>
                <a:latin typeface="Arial"/>
                <a:ea typeface="Arial"/>
                <a:cs typeface="Arial"/>
                <a:sym typeface="Arial"/>
              </a:rPr>
              <a:t>Report Quality: Clinician review score ≥4/5</a:t>
            </a:r>
            <a:endParaRPr b="0" i="0" sz="950" u="none" cap="none" strike="noStrike">
              <a:solidFill>
                <a:schemeClr val="dk1"/>
              </a:solidFill>
              <a:latin typeface="Calibri"/>
              <a:ea typeface="Calibri"/>
              <a:cs typeface="Calibri"/>
              <a:sym typeface="Calibri"/>
            </a:endParaRPr>
          </a:p>
        </p:txBody>
      </p:sp>
      <p:sp>
        <p:nvSpPr>
          <p:cNvPr id="668" name="Google Shape;668;p32"/>
          <p:cNvSpPr/>
          <p:nvPr/>
        </p:nvSpPr>
        <p:spPr>
          <a:xfrm>
            <a:off x="457200" y="2286000"/>
            <a:ext cx="8229600" cy="7772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2"/>
          <p:cNvSpPr/>
          <p:nvPr/>
        </p:nvSpPr>
        <p:spPr>
          <a:xfrm>
            <a:off x="457200" y="2286000"/>
            <a:ext cx="54864" cy="7772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2"/>
          <p:cNvSpPr/>
          <p:nvPr/>
        </p:nvSpPr>
        <p:spPr>
          <a:xfrm>
            <a:off x="640080" y="233172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Task 2: Scanning Guidance</a:t>
            </a:r>
            <a:endParaRPr b="0" i="0" sz="1300" u="none" cap="none" strike="noStrike">
              <a:solidFill>
                <a:schemeClr val="dk1"/>
              </a:solidFill>
              <a:latin typeface="Calibri"/>
              <a:ea typeface="Calibri"/>
              <a:cs typeface="Calibri"/>
              <a:sym typeface="Calibri"/>
            </a:endParaRPr>
          </a:p>
        </p:txBody>
      </p:sp>
      <p:sp>
        <p:nvSpPr>
          <p:cNvPr id="671" name="Google Shape;671;p32"/>
          <p:cNvSpPr/>
          <p:nvPr/>
        </p:nvSpPr>
        <p:spPr>
          <a:xfrm>
            <a:off x="731520" y="2606040"/>
            <a:ext cx="7680960" cy="3657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Latency: &lt;500ms per recommendation</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Operator Acceptance: ≥70% useful suggestions</a:t>
            </a:r>
            <a:endParaRPr b="0" i="0" sz="1050" u="none" cap="none" strike="noStrike">
              <a:solidFill>
                <a:schemeClr val="dk1"/>
              </a:solidFill>
              <a:latin typeface="Calibri"/>
              <a:ea typeface="Calibri"/>
              <a:cs typeface="Calibri"/>
              <a:sym typeface="Calibri"/>
            </a:endParaRPr>
          </a:p>
        </p:txBody>
      </p:sp>
      <p:sp>
        <p:nvSpPr>
          <p:cNvPr id="672" name="Google Shape;672;p32"/>
          <p:cNvSpPr/>
          <p:nvPr/>
        </p:nvSpPr>
        <p:spPr>
          <a:xfrm>
            <a:off x="457200" y="3246120"/>
            <a:ext cx="8229600" cy="12344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2"/>
          <p:cNvSpPr/>
          <p:nvPr/>
        </p:nvSpPr>
        <p:spPr>
          <a:xfrm>
            <a:off x="457200" y="3246120"/>
            <a:ext cx="54864" cy="12344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2"/>
          <p:cNvSpPr/>
          <p:nvPr/>
        </p:nvSpPr>
        <p:spPr>
          <a:xfrm>
            <a:off x="640080" y="329184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Task 3: Vein Detection</a:t>
            </a:r>
            <a:endParaRPr b="0" i="0" sz="1300" u="none" cap="none" strike="noStrike">
              <a:solidFill>
                <a:schemeClr val="dk1"/>
              </a:solidFill>
              <a:latin typeface="Calibri"/>
              <a:ea typeface="Calibri"/>
              <a:cs typeface="Calibri"/>
              <a:sym typeface="Calibri"/>
            </a:endParaRPr>
          </a:p>
        </p:txBody>
      </p:sp>
      <p:sp>
        <p:nvSpPr>
          <p:cNvPr id="675" name="Google Shape;675;p32"/>
          <p:cNvSpPr/>
          <p:nvPr/>
        </p:nvSpPr>
        <p:spPr>
          <a:xfrm>
            <a:off x="731520" y="3566160"/>
            <a:ext cx="7680960" cy="8229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Classification Accuracy: ≥90% on labeled cases</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Detection Sensitivity: ≥90%</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Segmentation IoU: ≥0.70</a:t>
            </a:r>
            <a:endParaRPr b="0" i="0" sz="105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Real-time: ≥30fps (≤33ms/frame)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80" name="Shape 680"/>
        <p:cNvGrpSpPr/>
        <p:nvPr/>
      </p:nvGrpSpPr>
      <p:grpSpPr>
        <a:xfrm>
          <a:off x="0" y="0"/>
          <a:ext cx="0" cy="0"/>
          <a:chOff x="0" y="0"/>
          <a:chExt cx="0" cy="0"/>
        </a:xfrm>
      </p:grpSpPr>
      <p:sp>
        <p:nvSpPr>
          <p:cNvPr id="681" name="Google Shape;681;p33"/>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3"/>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Risk Mitigation &amp; Contingencies</a:t>
            </a:r>
            <a:endParaRPr b="0" i="0" sz="2600" u="none" cap="none" strike="noStrike">
              <a:solidFill>
                <a:schemeClr val="dk1"/>
              </a:solidFill>
              <a:latin typeface="Calibri"/>
              <a:ea typeface="Calibri"/>
              <a:cs typeface="Calibri"/>
              <a:sym typeface="Calibri"/>
            </a:endParaRPr>
          </a:p>
        </p:txBody>
      </p:sp>
      <p:sp>
        <p:nvSpPr>
          <p:cNvPr id="683" name="Google Shape;683;p33"/>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3"/>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685" name="Google Shape;685;p33"/>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686" name="Google Shape;686;p33"/>
          <p:cNvSpPr/>
          <p:nvPr/>
        </p:nvSpPr>
        <p:spPr>
          <a:xfrm>
            <a:off x="457200" y="1051560"/>
            <a:ext cx="8229600" cy="7315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3"/>
          <p:cNvSpPr/>
          <p:nvPr/>
        </p:nvSpPr>
        <p:spPr>
          <a:xfrm>
            <a:off x="457200" y="1051560"/>
            <a:ext cx="54864" cy="7315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3"/>
          <p:cNvSpPr/>
          <p:nvPr/>
        </p:nvSpPr>
        <p:spPr>
          <a:xfrm>
            <a:off x="640080" y="109728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200"/>
              <a:buFont typeface="Arial"/>
              <a:buNone/>
            </a:pPr>
            <a:r>
              <a:rPr b="1" i="0" lang="en-US" sz="1200" u="none" cap="none" strike="noStrike">
                <a:solidFill>
                  <a:srgbClr val="990000"/>
                </a:solidFill>
                <a:latin typeface="Arial"/>
                <a:ea typeface="Arial"/>
                <a:cs typeface="Arial"/>
                <a:sym typeface="Arial"/>
              </a:rPr>
              <a:t>Risk 1: </a:t>
            </a:r>
            <a:r>
              <a:rPr b="1" i="0" lang="en-US" sz="1200" u="none" cap="none" strike="noStrike">
                <a:solidFill>
                  <a:srgbClr val="333333"/>
                </a:solidFill>
                <a:latin typeface="Arial"/>
                <a:ea typeface="Arial"/>
                <a:cs typeface="Arial"/>
                <a:sym typeface="Arial"/>
              </a:rPr>
              <a:t>LLM Hallucination</a:t>
            </a:r>
            <a:endParaRPr b="0" i="0" sz="1200" u="none" cap="none" strike="noStrike">
              <a:solidFill>
                <a:schemeClr val="dk1"/>
              </a:solidFill>
              <a:latin typeface="Calibri"/>
              <a:ea typeface="Calibri"/>
              <a:cs typeface="Calibri"/>
              <a:sym typeface="Calibri"/>
            </a:endParaRPr>
          </a:p>
        </p:txBody>
      </p:sp>
      <p:sp>
        <p:nvSpPr>
          <p:cNvPr id="689" name="Google Shape;689;p33"/>
          <p:cNvSpPr/>
          <p:nvPr/>
        </p:nvSpPr>
        <p:spPr>
          <a:xfrm>
            <a:off x="822960" y="1399032"/>
            <a:ext cx="7589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050"/>
              <a:buFont typeface="Arial"/>
              <a:buNone/>
            </a:pPr>
            <a:r>
              <a:rPr b="1" i="0" lang="en-US" sz="1050" u="none" cap="none" strike="noStrike">
                <a:solidFill>
                  <a:srgbClr val="990000"/>
                </a:solidFill>
                <a:latin typeface="Arial"/>
                <a:ea typeface="Arial"/>
                <a:cs typeface="Arial"/>
                <a:sym typeface="Arial"/>
              </a:rPr>
              <a:t>→ Mitigation: </a:t>
            </a:r>
            <a:r>
              <a:rPr b="0" i="0" lang="en-US" sz="1050" u="none" cap="none" strike="noStrike">
                <a:solidFill>
                  <a:srgbClr val="333333"/>
                </a:solidFill>
                <a:latin typeface="Arial"/>
                <a:ea typeface="Arial"/>
                <a:cs typeface="Arial"/>
                <a:sym typeface="Arial"/>
              </a:rPr>
              <a:t>RAG pipeline, better prompt engineering, confidence thresholding</a:t>
            </a:r>
            <a:endParaRPr b="0" i="0" sz="1050" u="none" cap="none" strike="noStrike">
              <a:solidFill>
                <a:schemeClr val="dk1"/>
              </a:solidFill>
              <a:latin typeface="Calibri"/>
              <a:ea typeface="Calibri"/>
              <a:cs typeface="Calibri"/>
              <a:sym typeface="Calibri"/>
            </a:endParaRPr>
          </a:p>
        </p:txBody>
      </p:sp>
      <p:sp>
        <p:nvSpPr>
          <p:cNvPr id="690" name="Google Shape;690;p33"/>
          <p:cNvSpPr/>
          <p:nvPr/>
        </p:nvSpPr>
        <p:spPr>
          <a:xfrm>
            <a:off x="457200" y="1920240"/>
            <a:ext cx="8229600" cy="7315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3"/>
          <p:cNvSpPr/>
          <p:nvPr/>
        </p:nvSpPr>
        <p:spPr>
          <a:xfrm>
            <a:off x="457200" y="1920240"/>
            <a:ext cx="54864" cy="7315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3"/>
          <p:cNvSpPr/>
          <p:nvPr/>
        </p:nvSpPr>
        <p:spPr>
          <a:xfrm>
            <a:off x="640080" y="196596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200"/>
              <a:buFont typeface="Arial"/>
              <a:buNone/>
            </a:pPr>
            <a:r>
              <a:rPr b="1" i="0" lang="en-US" sz="1200" u="none" cap="none" strike="noStrike">
                <a:solidFill>
                  <a:srgbClr val="990000"/>
                </a:solidFill>
                <a:latin typeface="Arial"/>
                <a:ea typeface="Arial"/>
                <a:cs typeface="Arial"/>
                <a:sym typeface="Arial"/>
              </a:rPr>
              <a:t>Risk 2: </a:t>
            </a:r>
            <a:r>
              <a:rPr b="1" i="0" lang="en-US" sz="1200" u="none" cap="none" strike="noStrike">
                <a:solidFill>
                  <a:srgbClr val="333333"/>
                </a:solidFill>
                <a:latin typeface="Arial"/>
                <a:ea typeface="Arial"/>
                <a:cs typeface="Arial"/>
                <a:sym typeface="Arial"/>
              </a:rPr>
              <a:t>High Latency</a:t>
            </a:r>
            <a:endParaRPr b="0" i="0" sz="1200" u="none" cap="none" strike="noStrike">
              <a:solidFill>
                <a:schemeClr val="dk1"/>
              </a:solidFill>
              <a:latin typeface="Calibri"/>
              <a:ea typeface="Calibri"/>
              <a:cs typeface="Calibri"/>
              <a:sym typeface="Calibri"/>
            </a:endParaRPr>
          </a:p>
        </p:txBody>
      </p:sp>
      <p:sp>
        <p:nvSpPr>
          <p:cNvPr id="693" name="Google Shape;693;p33"/>
          <p:cNvSpPr/>
          <p:nvPr/>
        </p:nvSpPr>
        <p:spPr>
          <a:xfrm>
            <a:off x="822960" y="2267712"/>
            <a:ext cx="7589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050"/>
              <a:buFont typeface="Arial"/>
              <a:buNone/>
            </a:pPr>
            <a:r>
              <a:rPr b="1" i="0" lang="en-US" sz="1050" u="none" cap="none" strike="noStrike">
                <a:solidFill>
                  <a:srgbClr val="990000"/>
                </a:solidFill>
                <a:latin typeface="Arial"/>
                <a:ea typeface="Arial"/>
                <a:cs typeface="Arial"/>
                <a:sym typeface="Arial"/>
              </a:rPr>
              <a:t>→ Mitigation: </a:t>
            </a:r>
            <a:r>
              <a:rPr b="0" i="0" lang="en-US" sz="1050" u="none" cap="none" strike="noStrike">
                <a:solidFill>
                  <a:srgbClr val="333333"/>
                </a:solidFill>
                <a:latin typeface="Arial"/>
                <a:ea typeface="Arial"/>
                <a:cs typeface="Arial"/>
                <a:sym typeface="Arial"/>
              </a:rPr>
              <a:t>Optimization, local inference, caching, early exit</a:t>
            </a:r>
            <a:endParaRPr b="0" i="0" sz="1050" u="none" cap="none" strike="noStrike">
              <a:solidFill>
                <a:schemeClr val="dk1"/>
              </a:solidFill>
              <a:latin typeface="Calibri"/>
              <a:ea typeface="Calibri"/>
              <a:cs typeface="Calibri"/>
              <a:sym typeface="Calibri"/>
            </a:endParaRPr>
          </a:p>
        </p:txBody>
      </p:sp>
      <p:sp>
        <p:nvSpPr>
          <p:cNvPr id="694" name="Google Shape;694;p33"/>
          <p:cNvSpPr/>
          <p:nvPr/>
        </p:nvSpPr>
        <p:spPr>
          <a:xfrm>
            <a:off x="457200" y="2788920"/>
            <a:ext cx="8229600" cy="7315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3"/>
          <p:cNvSpPr/>
          <p:nvPr/>
        </p:nvSpPr>
        <p:spPr>
          <a:xfrm>
            <a:off x="457200" y="2788920"/>
            <a:ext cx="54864" cy="7315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3"/>
          <p:cNvSpPr/>
          <p:nvPr/>
        </p:nvSpPr>
        <p:spPr>
          <a:xfrm>
            <a:off x="640080" y="283464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200"/>
              <a:buFont typeface="Arial"/>
              <a:buNone/>
            </a:pPr>
            <a:r>
              <a:rPr b="1" i="0" lang="en-US" sz="1200" u="none" cap="none" strike="noStrike">
                <a:solidFill>
                  <a:srgbClr val="990000"/>
                </a:solidFill>
                <a:latin typeface="Arial"/>
                <a:ea typeface="Arial"/>
                <a:cs typeface="Arial"/>
                <a:sym typeface="Arial"/>
              </a:rPr>
              <a:t>Risk 3: </a:t>
            </a:r>
            <a:r>
              <a:rPr b="1" i="0" lang="en-US" sz="1200" u="none" cap="none" strike="noStrike">
                <a:solidFill>
                  <a:srgbClr val="333333"/>
                </a:solidFill>
                <a:latin typeface="Arial"/>
                <a:ea typeface="Arial"/>
                <a:cs typeface="Arial"/>
                <a:sym typeface="Arial"/>
              </a:rPr>
              <a:t>Low Classification Accuracy</a:t>
            </a:r>
            <a:endParaRPr b="0" i="0" sz="1200" u="none" cap="none" strike="noStrike">
              <a:solidFill>
                <a:schemeClr val="dk1"/>
              </a:solidFill>
              <a:latin typeface="Calibri"/>
              <a:ea typeface="Calibri"/>
              <a:cs typeface="Calibri"/>
              <a:sym typeface="Calibri"/>
            </a:endParaRPr>
          </a:p>
        </p:txBody>
      </p:sp>
      <p:sp>
        <p:nvSpPr>
          <p:cNvPr id="697" name="Google Shape;697;p33"/>
          <p:cNvSpPr/>
          <p:nvPr/>
        </p:nvSpPr>
        <p:spPr>
          <a:xfrm>
            <a:off x="822960" y="3136392"/>
            <a:ext cx="7589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050"/>
              <a:buFont typeface="Arial"/>
              <a:buNone/>
            </a:pPr>
            <a:r>
              <a:rPr b="1" i="0" lang="en-US" sz="1050" u="none" cap="none" strike="noStrike">
                <a:solidFill>
                  <a:srgbClr val="990000"/>
                </a:solidFill>
                <a:latin typeface="Arial"/>
                <a:ea typeface="Arial"/>
                <a:cs typeface="Arial"/>
                <a:sym typeface="Arial"/>
              </a:rPr>
              <a:t>→ Mitigation: </a:t>
            </a:r>
            <a:r>
              <a:rPr b="0" i="0" lang="en-US" sz="1050" u="none" cap="none" strike="noStrike">
                <a:solidFill>
                  <a:srgbClr val="333333"/>
                </a:solidFill>
                <a:latin typeface="Arial"/>
                <a:ea typeface="Arial"/>
                <a:cs typeface="Arial"/>
                <a:sym typeface="Arial"/>
              </a:rPr>
              <a:t>Fine-tuning, domain adaptation</a:t>
            </a:r>
            <a:endParaRPr b="0" i="0" sz="1050" u="none" cap="none" strike="noStrike">
              <a:solidFill>
                <a:schemeClr val="dk1"/>
              </a:solidFill>
              <a:latin typeface="Calibri"/>
              <a:ea typeface="Calibri"/>
              <a:cs typeface="Calibri"/>
              <a:sym typeface="Calibri"/>
            </a:endParaRPr>
          </a:p>
        </p:txBody>
      </p:sp>
      <p:sp>
        <p:nvSpPr>
          <p:cNvPr id="698" name="Google Shape;698;p33"/>
          <p:cNvSpPr/>
          <p:nvPr/>
        </p:nvSpPr>
        <p:spPr>
          <a:xfrm>
            <a:off x="457200" y="3657600"/>
            <a:ext cx="8229600" cy="73152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3"/>
          <p:cNvSpPr/>
          <p:nvPr/>
        </p:nvSpPr>
        <p:spPr>
          <a:xfrm>
            <a:off x="457200" y="3657600"/>
            <a:ext cx="54864" cy="7315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3"/>
          <p:cNvSpPr/>
          <p:nvPr/>
        </p:nvSpPr>
        <p:spPr>
          <a:xfrm>
            <a:off x="640080" y="370332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200"/>
              <a:buFont typeface="Arial"/>
              <a:buNone/>
            </a:pPr>
            <a:r>
              <a:rPr b="1" i="0" lang="en-US" sz="1200" u="none" cap="none" strike="noStrike">
                <a:solidFill>
                  <a:srgbClr val="990000"/>
                </a:solidFill>
                <a:latin typeface="Arial"/>
                <a:ea typeface="Arial"/>
                <a:cs typeface="Arial"/>
                <a:sym typeface="Arial"/>
              </a:rPr>
              <a:t>Risk 4: </a:t>
            </a:r>
            <a:r>
              <a:rPr b="1" i="0" lang="en-US" sz="1200" u="none" cap="none" strike="noStrike">
                <a:solidFill>
                  <a:srgbClr val="333333"/>
                </a:solidFill>
                <a:latin typeface="Arial"/>
                <a:ea typeface="Arial"/>
                <a:cs typeface="Arial"/>
                <a:sym typeface="Arial"/>
              </a:rPr>
              <a:t>Vein Detection Failure</a:t>
            </a:r>
            <a:endParaRPr b="0" i="0" sz="1200" u="none" cap="none" strike="noStrike">
              <a:solidFill>
                <a:schemeClr val="dk1"/>
              </a:solidFill>
              <a:latin typeface="Calibri"/>
              <a:ea typeface="Calibri"/>
              <a:cs typeface="Calibri"/>
              <a:sym typeface="Calibri"/>
            </a:endParaRPr>
          </a:p>
        </p:txBody>
      </p:sp>
      <p:sp>
        <p:nvSpPr>
          <p:cNvPr id="701" name="Google Shape;701;p33"/>
          <p:cNvSpPr/>
          <p:nvPr/>
        </p:nvSpPr>
        <p:spPr>
          <a:xfrm>
            <a:off x="822960" y="4005072"/>
            <a:ext cx="7589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050"/>
              <a:buFont typeface="Arial"/>
              <a:buNone/>
            </a:pPr>
            <a:r>
              <a:rPr b="1" i="0" lang="en-US" sz="1050" u="none" cap="none" strike="noStrike">
                <a:solidFill>
                  <a:srgbClr val="990000"/>
                </a:solidFill>
                <a:latin typeface="Arial"/>
                <a:ea typeface="Arial"/>
                <a:cs typeface="Arial"/>
                <a:sym typeface="Arial"/>
              </a:rPr>
              <a:t>→ Mitigation: </a:t>
            </a:r>
            <a:r>
              <a:rPr b="0" i="0" lang="en-US" sz="1050" u="none" cap="none" strike="noStrike">
                <a:solidFill>
                  <a:srgbClr val="333333"/>
                </a:solidFill>
                <a:latin typeface="Arial"/>
                <a:ea typeface="Arial"/>
                <a:cs typeface="Arial"/>
                <a:sym typeface="Arial"/>
              </a:rPr>
              <a:t>Multi-modal Classical CV + VLMs, fallback to classical CV</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706" name="Shape 706"/>
        <p:cNvGrpSpPr/>
        <p:nvPr/>
      </p:nvGrpSpPr>
      <p:grpSpPr>
        <a:xfrm>
          <a:off x="0" y="0"/>
          <a:ext cx="0" cy="0"/>
          <a:chOff x="0" y="0"/>
          <a:chExt cx="0" cy="0"/>
        </a:xfrm>
      </p:grpSpPr>
      <p:sp>
        <p:nvSpPr>
          <p:cNvPr id="707" name="Google Shape;707;p34"/>
          <p:cNvSpPr/>
          <p:nvPr/>
        </p:nvSpPr>
        <p:spPr>
          <a:xfrm>
            <a:off x="365760" y="320040"/>
            <a:ext cx="73152" cy="50292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4"/>
          <p:cNvSpPr/>
          <p:nvPr/>
        </p:nvSpPr>
        <p:spPr>
          <a:xfrm>
            <a:off x="548640" y="2743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2600"/>
              <a:buFont typeface="Georgia"/>
              <a:buNone/>
            </a:pPr>
            <a:r>
              <a:rPr b="1" i="0" lang="en-US" sz="2600" u="none" cap="none" strike="noStrike">
                <a:solidFill>
                  <a:srgbClr val="990000"/>
                </a:solidFill>
                <a:latin typeface="Georgia"/>
                <a:ea typeface="Georgia"/>
                <a:cs typeface="Georgia"/>
                <a:sym typeface="Georgia"/>
              </a:rPr>
              <a:t>End-of-Internship Deliverables</a:t>
            </a:r>
            <a:endParaRPr b="0" i="0" sz="2600" u="none" cap="none" strike="noStrike">
              <a:solidFill>
                <a:schemeClr val="dk1"/>
              </a:solidFill>
              <a:latin typeface="Calibri"/>
              <a:ea typeface="Calibri"/>
              <a:cs typeface="Calibri"/>
              <a:sym typeface="Calibri"/>
            </a:endParaRPr>
          </a:p>
        </p:txBody>
      </p:sp>
      <p:sp>
        <p:nvSpPr>
          <p:cNvPr id="709" name="Google Shape;709;p34"/>
          <p:cNvSpPr/>
          <p:nvPr/>
        </p:nvSpPr>
        <p:spPr>
          <a:xfrm>
            <a:off x="0" y="4709160"/>
            <a:ext cx="9144000" cy="4343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4"/>
          <p:cNvSpPr/>
          <p:nvPr/>
        </p:nvSpPr>
        <p:spPr>
          <a:xfrm>
            <a:off x="457200" y="4709160"/>
            <a:ext cx="4572000" cy="4343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Arial"/>
              <a:buNone/>
            </a:pPr>
            <a:r>
              <a:rPr b="0" i="0" lang="en-US" sz="900" u="none" cap="none" strike="noStrike">
                <a:solidFill>
                  <a:srgbClr val="FFFFFF"/>
                </a:solidFill>
                <a:latin typeface="Arial"/>
                <a:ea typeface="Arial"/>
                <a:cs typeface="Arial"/>
                <a:sym typeface="Arial"/>
              </a:rPr>
              <a:t>CHIVA Ultrasound AI</a:t>
            </a:r>
            <a:endParaRPr b="0" i="0" sz="900" u="none" cap="none" strike="noStrike">
              <a:solidFill>
                <a:schemeClr val="dk1"/>
              </a:solidFill>
              <a:latin typeface="Calibri"/>
              <a:ea typeface="Calibri"/>
              <a:cs typeface="Calibri"/>
              <a:sym typeface="Calibri"/>
            </a:endParaRPr>
          </a:p>
        </p:txBody>
      </p:sp>
      <p:pic>
        <p:nvPicPr>
          <p:cNvPr descr="/home/claude/logo.png" id="711" name="Google Shape;711;p34"/>
          <p:cNvPicPr preferRelativeResize="0"/>
          <p:nvPr/>
        </p:nvPicPr>
        <p:blipFill rotWithShape="1">
          <a:blip r:embed="rId3">
            <a:alphaModFix/>
          </a:blip>
          <a:srcRect b="0" l="0" r="0" t="0"/>
          <a:stretch/>
        </p:blipFill>
        <p:spPr>
          <a:xfrm>
            <a:off x="8366760" y="4736592"/>
            <a:ext cx="320040" cy="310896"/>
          </a:xfrm>
          <a:prstGeom prst="rect">
            <a:avLst/>
          </a:prstGeom>
          <a:noFill/>
          <a:ln>
            <a:noFill/>
          </a:ln>
        </p:spPr>
      </p:pic>
      <p:sp>
        <p:nvSpPr>
          <p:cNvPr id="712" name="Google Shape;712;p34"/>
          <p:cNvSpPr/>
          <p:nvPr/>
        </p:nvSpPr>
        <p:spPr>
          <a:xfrm>
            <a:off x="457200" y="1051560"/>
            <a:ext cx="8229600" cy="7772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4"/>
          <p:cNvSpPr/>
          <p:nvPr/>
        </p:nvSpPr>
        <p:spPr>
          <a:xfrm>
            <a:off x="457200" y="1051560"/>
            <a:ext cx="54864" cy="7772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4"/>
          <p:cNvSpPr/>
          <p:nvPr/>
        </p:nvSpPr>
        <p:spPr>
          <a:xfrm>
            <a:off x="640080" y="10972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Code &amp; Systems</a:t>
            </a:r>
            <a:endParaRPr b="0" i="0" sz="1300" u="none" cap="none" strike="noStrike">
              <a:solidFill>
                <a:schemeClr val="dk1"/>
              </a:solidFill>
              <a:latin typeface="Calibri"/>
              <a:ea typeface="Calibri"/>
              <a:cs typeface="Calibri"/>
              <a:sym typeface="Calibri"/>
            </a:endParaRPr>
          </a:p>
        </p:txBody>
      </p:sp>
      <p:sp>
        <p:nvSpPr>
          <p:cNvPr id="715" name="Google Shape;715;p34"/>
          <p:cNvSpPr/>
          <p:nvPr/>
        </p:nvSpPr>
        <p:spPr>
          <a:xfrm>
            <a:off x="731520" y="1371600"/>
            <a:ext cx="7680960" cy="3657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Working prototype with all three tasks integrated</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Production-ready API with documentation</a:t>
            </a:r>
            <a:endParaRPr b="0" i="0" sz="1050" u="none" cap="none" strike="noStrike">
              <a:solidFill>
                <a:schemeClr val="dk1"/>
              </a:solidFill>
              <a:latin typeface="Calibri"/>
              <a:ea typeface="Calibri"/>
              <a:cs typeface="Calibri"/>
              <a:sym typeface="Calibri"/>
            </a:endParaRPr>
          </a:p>
        </p:txBody>
      </p:sp>
      <p:sp>
        <p:nvSpPr>
          <p:cNvPr id="716" name="Google Shape;716;p34"/>
          <p:cNvSpPr/>
          <p:nvPr/>
        </p:nvSpPr>
        <p:spPr>
          <a:xfrm>
            <a:off x="457200" y="2194560"/>
            <a:ext cx="8229600" cy="10058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4"/>
          <p:cNvSpPr/>
          <p:nvPr/>
        </p:nvSpPr>
        <p:spPr>
          <a:xfrm>
            <a:off x="457200" y="2194560"/>
            <a:ext cx="54864" cy="10058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4"/>
          <p:cNvSpPr/>
          <p:nvPr/>
        </p:nvSpPr>
        <p:spPr>
          <a:xfrm>
            <a:off x="640080" y="22402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Documentation</a:t>
            </a:r>
            <a:endParaRPr b="0" i="0" sz="1300" u="none" cap="none" strike="noStrike">
              <a:solidFill>
                <a:schemeClr val="dk1"/>
              </a:solidFill>
              <a:latin typeface="Calibri"/>
              <a:ea typeface="Calibri"/>
              <a:cs typeface="Calibri"/>
              <a:sym typeface="Calibri"/>
            </a:endParaRPr>
          </a:p>
        </p:txBody>
      </p:sp>
      <p:sp>
        <p:nvSpPr>
          <p:cNvPr id="719" name="Google Shape;719;p34"/>
          <p:cNvSpPr/>
          <p:nvPr/>
        </p:nvSpPr>
        <p:spPr>
          <a:xfrm>
            <a:off x="731520" y="2514600"/>
            <a:ext cx="7680960" cy="594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Comprehensive technical documentation &amp; API specs</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Deployment guide &amp; infrastructure recommendations</a:t>
            </a:r>
            <a:endParaRPr b="0" i="0" sz="10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Clinical validation results</a:t>
            </a:r>
            <a:endParaRPr b="0" i="0" sz="1050" u="none" cap="none" strike="noStrike">
              <a:solidFill>
                <a:schemeClr val="dk1"/>
              </a:solidFill>
              <a:latin typeface="Calibri"/>
              <a:ea typeface="Calibri"/>
              <a:cs typeface="Calibri"/>
              <a:sym typeface="Calibri"/>
            </a:endParaRPr>
          </a:p>
        </p:txBody>
      </p:sp>
      <p:sp>
        <p:nvSpPr>
          <p:cNvPr id="720" name="Google Shape;720;p34"/>
          <p:cNvSpPr/>
          <p:nvPr/>
        </p:nvSpPr>
        <p:spPr>
          <a:xfrm>
            <a:off x="457200" y="3337560"/>
            <a:ext cx="8229600" cy="777240"/>
          </a:xfrm>
          <a:prstGeom prst="rect">
            <a:avLst/>
          </a:prstGeom>
          <a:solidFill>
            <a:srgbClr val="FFFFFF"/>
          </a:solidFill>
          <a:ln cap="flat" cmpd="sng" w="9525">
            <a:solidFill>
              <a:srgbClr val="E0E0E0"/>
            </a:solidFill>
            <a:prstDash val="solid"/>
            <a:round/>
            <a:headEnd len="sm" w="sm" type="none"/>
            <a:tailEnd len="sm" w="sm" type="none"/>
          </a:ln>
          <a:effectLst>
            <a:outerShdw blurRad="762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4"/>
          <p:cNvSpPr/>
          <p:nvPr/>
        </p:nvSpPr>
        <p:spPr>
          <a:xfrm>
            <a:off x="457200" y="3337560"/>
            <a:ext cx="54864" cy="77724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4"/>
          <p:cNvSpPr/>
          <p:nvPr/>
        </p:nvSpPr>
        <p:spPr>
          <a:xfrm>
            <a:off x="640080" y="338328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90000"/>
              </a:buClr>
              <a:buSzPts val="1300"/>
              <a:buFont typeface="Georgia"/>
              <a:buNone/>
            </a:pPr>
            <a:r>
              <a:rPr b="1" i="0" lang="en-US" sz="1300" u="none" cap="none" strike="noStrike">
                <a:solidFill>
                  <a:srgbClr val="990000"/>
                </a:solidFill>
                <a:latin typeface="Georgia"/>
                <a:ea typeface="Georgia"/>
                <a:cs typeface="Georgia"/>
                <a:sym typeface="Georgia"/>
              </a:rPr>
              <a:t>Evaluation</a:t>
            </a:r>
            <a:endParaRPr b="0" i="0" sz="1300" u="none" cap="none" strike="noStrike">
              <a:solidFill>
                <a:schemeClr val="dk1"/>
              </a:solidFill>
              <a:latin typeface="Calibri"/>
              <a:ea typeface="Calibri"/>
              <a:cs typeface="Calibri"/>
              <a:sym typeface="Calibri"/>
            </a:endParaRPr>
          </a:p>
        </p:txBody>
      </p:sp>
      <p:sp>
        <p:nvSpPr>
          <p:cNvPr id="723" name="Google Shape;723;p34"/>
          <p:cNvSpPr/>
          <p:nvPr/>
        </p:nvSpPr>
        <p:spPr>
          <a:xfrm>
            <a:off x="731520" y="3657600"/>
            <a:ext cx="7680960" cy="3657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333333"/>
              </a:buClr>
              <a:buSzPts val="1050"/>
              <a:buFont typeface="Arial"/>
              <a:buChar char="•"/>
            </a:pPr>
            <a:r>
              <a:rPr b="0" i="0" lang="en-US" sz="1050" u="none" cap="none" strike="noStrike">
                <a:solidFill>
                  <a:srgbClr val="333333"/>
                </a:solidFill>
                <a:latin typeface="Arial"/>
                <a:ea typeface="Arial"/>
                <a:cs typeface="Arial"/>
                <a:sym typeface="Arial"/>
              </a:rPr>
              <a:t>Performance benchmarks &amp; evaluation reports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