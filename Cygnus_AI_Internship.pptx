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g38b4a324912_0_2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 name="Google Shape;22;g38b4a324912_0_2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 name="Google Shape;23;g38b4a324912_0_2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 name="Google Shape;3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8b4a324912_0_2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g38b4a324912_0_2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g38b4a324912_0_2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8b4a32491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g38b4a324912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g38b4a324912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15" name="Shape 15"/>
        <p:cNvGrpSpPr/>
        <p:nvPr/>
      </p:nvGrpSpPr>
      <p:grpSpPr>
        <a:xfrm>
          <a:off x="0" y="0"/>
          <a:ext cx="0" cy="0"/>
          <a:chOff x="0" y="0"/>
          <a:chExt cx="0" cy="0"/>
        </a:xfrm>
      </p:grpSpPr>
      <p:pic>
        <p:nvPicPr>
          <p:cNvPr descr="/home/claude/logo.png" id="16" name="Google Shape;16;p3"/>
          <p:cNvPicPr preferRelativeResize="0"/>
          <p:nvPr/>
        </p:nvPicPr>
        <p:blipFill rotWithShape="1">
          <a:blip r:embed="rId3">
            <a:alphaModFix/>
          </a:blip>
          <a:srcRect b="0" l="0" r="0" t="0"/>
          <a:stretch/>
        </p:blipFill>
        <p:spPr>
          <a:xfrm>
            <a:off x="3429000" y="457200"/>
            <a:ext cx="2286000" cy="2212848"/>
          </a:xfrm>
          <a:prstGeom prst="rect">
            <a:avLst/>
          </a:prstGeom>
          <a:noFill/>
          <a:ln>
            <a:noFill/>
          </a:ln>
        </p:spPr>
      </p:pic>
      <p:sp>
        <p:nvSpPr>
          <p:cNvPr id="17" name="Google Shape;17;p3"/>
          <p:cNvSpPr/>
          <p:nvPr/>
        </p:nvSpPr>
        <p:spPr>
          <a:xfrm>
            <a:off x="457200" y="2834640"/>
            <a:ext cx="82296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200"/>
              <a:buFont typeface="Georgia"/>
              <a:buNone/>
            </a:pPr>
            <a:r>
              <a:rPr b="1" lang="en-US" sz="4200">
                <a:solidFill>
                  <a:srgbClr val="FFFFFF"/>
                </a:solidFill>
                <a:latin typeface="Georgia"/>
                <a:ea typeface="Georgia"/>
                <a:cs typeface="Georgia"/>
                <a:sym typeface="Georgia"/>
              </a:rPr>
              <a:t>Cygnus Med </a:t>
            </a:r>
            <a:r>
              <a:rPr b="1" i="0" lang="en-US" sz="4200" u="none" cap="none" strike="noStrike">
                <a:solidFill>
                  <a:srgbClr val="FFFFFF"/>
                </a:solidFill>
                <a:latin typeface="Georgia"/>
                <a:ea typeface="Georgia"/>
                <a:cs typeface="Georgia"/>
                <a:sym typeface="Georgia"/>
              </a:rPr>
              <a:t>AI Internship</a:t>
            </a:r>
            <a:endParaRPr b="0" i="0" sz="4200" u="none" cap="none" strike="noStrike">
              <a:solidFill>
                <a:schemeClr val="dk1"/>
              </a:solidFill>
              <a:latin typeface="Calibri"/>
              <a:ea typeface="Calibri"/>
              <a:cs typeface="Calibri"/>
              <a:sym typeface="Calibri"/>
            </a:endParaRPr>
          </a:p>
        </p:txBody>
      </p:sp>
      <p:sp>
        <p:nvSpPr>
          <p:cNvPr id="18" name="Google Shape;18;p3"/>
          <p:cNvSpPr/>
          <p:nvPr/>
        </p:nvSpPr>
        <p:spPr>
          <a:xfrm>
            <a:off x="457200" y="3657600"/>
            <a:ext cx="82296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Internship Roadmap &amp; System Architecture</a:t>
            </a:r>
            <a:endParaRPr b="0" i="0" sz="1800" u="none" cap="none" strike="noStrike">
              <a:solidFill>
                <a:schemeClr val="dk1"/>
              </a:solidFill>
              <a:latin typeface="Calibri"/>
              <a:ea typeface="Calibri"/>
              <a:cs typeface="Calibri"/>
              <a:sym typeface="Calibri"/>
            </a:endParaRPr>
          </a:p>
        </p:txBody>
      </p:sp>
      <p:sp>
        <p:nvSpPr>
          <p:cNvPr id="19" name="Google Shape;19;p3"/>
          <p:cNvSpPr/>
          <p:nvPr/>
        </p:nvSpPr>
        <p:spPr>
          <a:xfrm>
            <a:off x="0" y="4572000"/>
            <a:ext cx="9144000" cy="571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4" name="Shape 24"/>
        <p:cNvGrpSpPr/>
        <p:nvPr/>
      </p:nvGrpSpPr>
      <p:grpSpPr>
        <a:xfrm>
          <a:off x="0" y="0"/>
          <a:ext cx="0" cy="0"/>
          <a:chOff x="0" y="0"/>
          <a:chExt cx="0" cy="0"/>
        </a:xfrm>
      </p:grpSpPr>
      <p:sp>
        <p:nvSpPr>
          <p:cNvPr id="25" name="Google Shape;25;p4"/>
          <p:cNvSpPr/>
          <p:nvPr/>
        </p:nvSpPr>
        <p:spPr>
          <a:xfrm>
            <a:off x="365760" y="320040"/>
            <a:ext cx="73200" cy="5028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p:nvPr/>
        </p:nvSpPr>
        <p:spPr>
          <a:xfrm>
            <a:off x="548640" y="274320"/>
            <a:ext cx="77724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lang="en-US" sz="2600">
                <a:solidFill>
                  <a:srgbClr val="990000"/>
                </a:solidFill>
                <a:latin typeface="Georgia"/>
                <a:ea typeface="Georgia"/>
                <a:cs typeface="Georgia"/>
                <a:sym typeface="Georgia"/>
              </a:rPr>
              <a:t>Introduction</a:t>
            </a:r>
            <a:endParaRPr b="0" i="0" sz="2600" u="none" cap="none" strike="noStrike">
              <a:solidFill>
                <a:schemeClr val="dk1"/>
              </a:solidFill>
              <a:latin typeface="Calibri"/>
              <a:ea typeface="Calibri"/>
              <a:cs typeface="Calibri"/>
              <a:sym typeface="Calibri"/>
            </a:endParaRPr>
          </a:p>
        </p:txBody>
      </p:sp>
      <p:sp>
        <p:nvSpPr>
          <p:cNvPr id="27" name="Google Shape;27;p4"/>
          <p:cNvSpPr/>
          <p:nvPr/>
        </p:nvSpPr>
        <p:spPr>
          <a:xfrm>
            <a:off x="0" y="4709160"/>
            <a:ext cx="9144000" cy="4344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457200" y="4709160"/>
            <a:ext cx="4572000" cy="43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29" name="Google Shape;29;p4"/>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30" name="Google Shape;30;p4"/>
          <p:cNvSpPr/>
          <p:nvPr/>
        </p:nvSpPr>
        <p:spPr>
          <a:xfrm>
            <a:off x="365750" y="937500"/>
            <a:ext cx="6086400" cy="369870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457200" y="1034775"/>
            <a:ext cx="5954400" cy="3256500"/>
          </a:xfrm>
          <a:prstGeom prst="rect">
            <a:avLst/>
          </a:prstGeom>
          <a:noFill/>
          <a:ln>
            <a:noFill/>
          </a:ln>
        </p:spPr>
        <p:txBody>
          <a:bodyPr anchorCtr="0" anchor="t" bIns="0" lIns="0" spcFirstLastPara="1" rIns="0" wrap="square" tIns="0">
            <a:noAutofit/>
          </a:bodyPr>
          <a:lstStyle/>
          <a:p>
            <a:pPr indent="0" lvl="0" marL="0" marR="0" rtl="0" algn="l">
              <a:spcBef>
                <a:spcPts val="600"/>
              </a:spcBef>
              <a:spcAft>
                <a:spcPts val="0"/>
              </a:spcAft>
              <a:buNone/>
            </a:pPr>
            <a:r>
              <a:rPr b="1" lang="en-US" sz="1050">
                <a:solidFill>
                  <a:srgbClr val="333333"/>
                </a:solidFill>
              </a:rPr>
              <a:t>Academics :</a:t>
            </a:r>
            <a:endParaRPr b="1" sz="1050">
              <a:solidFill>
                <a:srgbClr val="333333"/>
              </a:solidFill>
            </a:endParaRPr>
          </a:p>
          <a:p>
            <a:pPr indent="-295275" lvl="0" marL="457200" marR="0" rtl="0" algn="l">
              <a:spcBef>
                <a:spcPts val="600"/>
              </a:spcBef>
              <a:spcAft>
                <a:spcPts val="0"/>
              </a:spcAft>
              <a:buClr>
                <a:srgbClr val="333333"/>
              </a:buClr>
              <a:buSzPts val="1050"/>
              <a:buChar char="-"/>
            </a:pPr>
            <a:r>
              <a:rPr lang="en-US" sz="1050">
                <a:solidFill>
                  <a:srgbClr val="333333"/>
                </a:solidFill>
              </a:rPr>
              <a:t>Masters in AI Systems From NUS-ISS</a:t>
            </a:r>
            <a:endParaRPr sz="1050">
              <a:solidFill>
                <a:srgbClr val="333333"/>
              </a:solidFill>
            </a:endParaRPr>
          </a:p>
          <a:p>
            <a:pPr indent="-295275" lvl="0" marL="457200" marR="0" rtl="0" algn="l">
              <a:spcBef>
                <a:spcPts val="0"/>
              </a:spcBef>
              <a:spcAft>
                <a:spcPts val="0"/>
              </a:spcAft>
              <a:buClr>
                <a:srgbClr val="333333"/>
              </a:buClr>
              <a:buSzPts val="1050"/>
              <a:buChar char="-"/>
            </a:pPr>
            <a:r>
              <a:rPr lang="en-US" sz="1050">
                <a:solidFill>
                  <a:srgbClr val="333333"/>
                </a:solidFill>
              </a:rPr>
              <a:t>Bachelors</a:t>
            </a:r>
            <a:r>
              <a:rPr lang="en-US" sz="1050">
                <a:solidFill>
                  <a:srgbClr val="333333"/>
                </a:solidFill>
              </a:rPr>
              <a:t> in Data Science from IIT Madras</a:t>
            </a:r>
            <a:endParaRPr sz="1050">
              <a:solidFill>
                <a:srgbClr val="333333"/>
              </a:solidFill>
            </a:endParaRPr>
          </a:p>
          <a:p>
            <a:pPr indent="-295275" lvl="0" marL="457200" marR="0" rtl="0" algn="l">
              <a:spcBef>
                <a:spcPts val="0"/>
              </a:spcBef>
              <a:spcAft>
                <a:spcPts val="0"/>
              </a:spcAft>
              <a:buClr>
                <a:srgbClr val="333333"/>
              </a:buClr>
              <a:buSzPts val="1050"/>
              <a:buChar char="-"/>
            </a:pPr>
            <a:r>
              <a:rPr lang="en-US" sz="1050">
                <a:solidFill>
                  <a:srgbClr val="333333"/>
                </a:solidFill>
              </a:rPr>
              <a:t>Bachelors in Mechanical Engineering and Robotics from BITS Pilani</a:t>
            </a:r>
            <a:endParaRPr sz="1050">
              <a:solidFill>
                <a:srgbClr val="333333"/>
              </a:solidFill>
            </a:endParaRPr>
          </a:p>
          <a:p>
            <a:pPr indent="0" lvl="0" marL="0" marR="0" rtl="0" algn="l">
              <a:spcBef>
                <a:spcPts val="600"/>
              </a:spcBef>
              <a:spcAft>
                <a:spcPts val="0"/>
              </a:spcAft>
              <a:buNone/>
            </a:pPr>
            <a:r>
              <a:rPr b="1" lang="en-US" sz="1050">
                <a:solidFill>
                  <a:srgbClr val="333333"/>
                </a:solidFill>
              </a:rPr>
              <a:t>Job Experience :</a:t>
            </a:r>
            <a:endParaRPr b="1" sz="1050">
              <a:solidFill>
                <a:srgbClr val="333333"/>
              </a:solidFill>
            </a:endParaRPr>
          </a:p>
          <a:p>
            <a:pPr indent="-295275" lvl="0" marL="457200" marR="0" rtl="0" algn="l">
              <a:spcBef>
                <a:spcPts val="600"/>
              </a:spcBef>
              <a:spcAft>
                <a:spcPts val="0"/>
              </a:spcAft>
              <a:buClr>
                <a:srgbClr val="333333"/>
              </a:buClr>
              <a:buSzPts val="1050"/>
              <a:buChar char="-"/>
            </a:pPr>
            <a:r>
              <a:rPr lang="en-US" sz="1050">
                <a:solidFill>
                  <a:srgbClr val="333333"/>
                </a:solidFill>
              </a:rPr>
              <a:t>Computer Vision Engineer Intern at Hertztech (6 months)</a:t>
            </a:r>
            <a:endParaRPr sz="1050">
              <a:solidFill>
                <a:srgbClr val="333333"/>
              </a:solidFill>
            </a:endParaRPr>
          </a:p>
          <a:p>
            <a:pPr indent="-295275" lvl="0" marL="457200" marR="0" rtl="0" algn="l">
              <a:spcBef>
                <a:spcPts val="0"/>
              </a:spcBef>
              <a:spcAft>
                <a:spcPts val="0"/>
              </a:spcAft>
              <a:buClr>
                <a:srgbClr val="333333"/>
              </a:buClr>
              <a:buSzPts val="1050"/>
              <a:buChar char="-"/>
            </a:pPr>
            <a:r>
              <a:rPr lang="en-US" sz="1050">
                <a:solidFill>
                  <a:srgbClr val="333333"/>
                </a:solidFill>
              </a:rPr>
              <a:t>Data Science Intern at Uber (8 Months)</a:t>
            </a:r>
            <a:endParaRPr sz="1050">
              <a:solidFill>
                <a:srgbClr val="333333"/>
              </a:solidFill>
            </a:endParaRPr>
          </a:p>
          <a:p>
            <a:pPr indent="-295275" lvl="0" marL="457200" marR="0" rtl="0" algn="l">
              <a:spcBef>
                <a:spcPts val="0"/>
              </a:spcBef>
              <a:spcAft>
                <a:spcPts val="0"/>
              </a:spcAft>
              <a:buClr>
                <a:srgbClr val="333333"/>
              </a:buClr>
              <a:buSzPts val="1050"/>
              <a:buChar char="-"/>
            </a:pPr>
            <a:r>
              <a:rPr lang="en-US" sz="1050">
                <a:solidFill>
                  <a:srgbClr val="333333"/>
                </a:solidFill>
              </a:rPr>
              <a:t>AI Engineer at Deloitte (2.5 years)</a:t>
            </a:r>
            <a:endParaRPr sz="1050">
              <a:solidFill>
                <a:srgbClr val="333333"/>
              </a:solidFill>
            </a:endParaRPr>
          </a:p>
          <a:p>
            <a:pPr indent="0" lvl="0" marL="0" marR="0" rtl="0" algn="l">
              <a:spcBef>
                <a:spcPts val="600"/>
              </a:spcBef>
              <a:spcAft>
                <a:spcPts val="0"/>
              </a:spcAft>
              <a:buNone/>
            </a:pPr>
            <a:r>
              <a:rPr b="1" lang="en-US" sz="1050">
                <a:solidFill>
                  <a:srgbClr val="333333"/>
                </a:solidFill>
              </a:rPr>
              <a:t>Relevant</a:t>
            </a:r>
            <a:r>
              <a:rPr b="1" lang="en-US" sz="1050">
                <a:solidFill>
                  <a:srgbClr val="333333"/>
                </a:solidFill>
              </a:rPr>
              <a:t> Projects :</a:t>
            </a:r>
            <a:endParaRPr b="1" sz="1050">
              <a:solidFill>
                <a:srgbClr val="333333"/>
              </a:solidFill>
            </a:endParaRPr>
          </a:p>
          <a:p>
            <a:pPr indent="-295275" lvl="0" marL="457200" marR="0" rtl="0" algn="l">
              <a:spcBef>
                <a:spcPts val="600"/>
              </a:spcBef>
              <a:spcAft>
                <a:spcPts val="0"/>
              </a:spcAft>
              <a:buClr>
                <a:srgbClr val="333333"/>
              </a:buClr>
              <a:buSzPts val="1050"/>
              <a:buChar char="-"/>
            </a:pPr>
            <a:r>
              <a:rPr lang="en-US" sz="1050">
                <a:solidFill>
                  <a:srgbClr val="333333"/>
                </a:solidFill>
              </a:rPr>
              <a:t>Heart Disease Detection from ECG using Deep Learning and Signal Processing.</a:t>
            </a:r>
            <a:endParaRPr sz="1050">
              <a:solidFill>
                <a:srgbClr val="333333"/>
              </a:solidFill>
            </a:endParaRPr>
          </a:p>
          <a:p>
            <a:pPr indent="-295275" lvl="0" marL="457200" marR="0" rtl="0" algn="l">
              <a:spcBef>
                <a:spcPts val="0"/>
              </a:spcBef>
              <a:spcAft>
                <a:spcPts val="0"/>
              </a:spcAft>
              <a:buClr>
                <a:srgbClr val="333333"/>
              </a:buClr>
              <a:buSzPts val="1050"/>
              <a:buChar char="-"/>
            </a:pPr>
            <a:r>
              <a:rPr lang="en-US" sz="1050">
                <a:solidFill>
                  <a:srgbClr val="333333"/>
                </a:solidFill>
              </a:rPr>
              <a:t>Surgical Assistant assisting surgeons live during surgery, analysing video frames using computer vision and deep learning to identify different phases of surgery,tools used, organs involved etc and then using LLM to analyse the details, find any </a:t>
            </a:r>
            <a:r>
              <a:rPr lang="en-US" sz="1050">
                <a:solidFill>
                  <a:srgbClr val="333333"/>
                </a:solidFill>
              </a:rPr>
              <a:t>anomalies</a:t>
            </a:r>
            <a:r>
              <a:rPr lang="en-US" sz="1050">
                <a:solidFill>
                  <a:srgbClr val="333333"/>
                </a:solidFill>
              </a:rPr>
              <a:t> and then provide live </a:t>
            </a:r>
            <a:r>
              <a:rPr lang="en-US" sz="1050">
                <a:solidFill>
                  <a:srgbClr val="333333"/>
                </a:solidFill>
              </a:rPr>
              <a:t>assistance</a:t>
            </a:r>
            <a:r>
              <a:rPr lang="en-US" sz="1050">
                <a:solidFill>
                  <a:srgbClr val="333333"/>
                </a:solidFill>
              </a:rPr>
              <a:t> to the surgeons.</a:t>
            </a:r>
            <a:endParaRPr sz="1050">
              <a:solidFill>
                <a:srgbClr val="333333"/>
              </a:solidFill>
            </a:endParaRPr>
          </a:p>
          <a:p>
            <a:pPr indent="-295275" lvl="0" marL="457200" marR="0" rtl="0" algn="l">
              <a:spcBef>
                <a:spcPts val="0"/>
              </a:spcBef>
              <a:spcAft>
                <a:spcPts val="0"/>
              </a:spcAft>
              <a:buClr>
                <a:srgbClr val="333333"/>
              </a:buClr>
              <a:buSzPts val="1050"/>
              <a:buChar char="-"/>
            </a:pPr>
            <a:r>
              <a:rPr lang="en-US" sz="1050">
                <a:solidFill>
                  <a:srgbClr val="333333"/>
                </a:solidFill>
              </a:rPr>
              <a:t>Built a system to assist customer care agents live during call with customer using AWS Bedrock LLMs and AWS Transcribe and Depolyed solution on AWS Cloud.</a:t>
            </a:r>
            <a:endParaRPr sz="1050">
              <a:solidFill>
                <a:srgbClr val="333333"/>
              </a:solidFill>
            </a:endParaRPr>
          </a:p>
          <a:p>
            <a:pPr indent="-295275" lvl="0" marL="457200" marR="0" rtl="0" algn="l">
              <a:spcBef>
                <a:spcPts val="0"/>
              </a:spcBef>
              <a:spcAft>
                <a:spcPts val="0"/>
              </a:spcAft>
              <a:buClr>
                <a:srgbClr val="333333"/>
              </a:buClr>
              <a:buSzPts val="1050"/>
              <a:buChar char="-"/>
            </a:pPr>
            <a:r>
              <a:rPr lang="en-US" sz="1050">
                <a:solidFill>
                  <a:srgbClr val="333333"/>
                </a:solidFill>
              </a:rPr>
              <a:t>Customer Churn Analysis and Formulating Reengagement Strategies using ML at Uber.</a:t>
            </a:r>
            <a:endParaRPr sz="1050">
              <a:solidFill>
                <a:srgbClr val="333333"/>
              </a:solidFill>
            </a:endParaRPr>
          </a:p>
          <a:p>
            <a:pPr indent="-295275" lvl="0" marL="457200" marR="0" rtl="0" algn="l">
              <a:spcBef>
                <a:spcPts val="0"/>
              </a:spcBef>
              <a:spcAft>
                <a:spcPts val="0"/>
              </a:spcAft>
              <a:buClr>
                <a:srgbClr val="333333"/>
              </a:buClr>
              <a:buSzPts val="1050"/>
              <a:buChar char="-"/>
            </a:pPr>
            <a:r>
              <a:rPr lang="en-US" sz="1050">
                <a:solidFill>
                  <a:srgbClr val="333333"/>
                </a:solidFill>
              </a:rPr>
              <a:t>Identifying Fraudulent Refund Requests from customers using Advanced ML Techniques at Uber Eats. </a:t>
            </a:r>
            <a:endParaRPr sz="1050">
              <a:solidFill>
                <a:srgbClr val="333333"/>
              </a:solidFill>
            </a:endParaRPr>
          </a:p>
          <a:p>
            <a:pPr indent="0" lvl="0" marL="0" marR="0" rtl="0" algn="l">
              <a:spcBef>
                <a:spcPts val="600"/>
              </a:spcBef>
              <a:spcAft>
                <a:spcPts val="0"/>
              </a:spcAft>
              <a:buNone/>
            </a:pPr>
            <a:r>
              <a:t/>
            </a:r>
            <a:endParaRPr sz="1050">
              <a:solidFill>
                <a:srgbClr val="333333"/>
              </a:solidFill>
            </a:endParaRPr>
          </a:p>
        </p:txBody>
      </p:sp>
      <p:pic>
        <p:nvPicPr>
          <p:cNvPr id="32" name="Google Shape;32;p4" title="Screenshot 2026-04-10 at 10.33.16 AM.png"/>
          <p:cNvPicPr preferRelativeResize="0"/>
          <p:nvPr/>
        </p:nvPicPr>
        <p:blipFill>
          <a:blip r:embed="rId4">
            <a:alphaModFix/>
          </a:blip>
          <a:stretch>
            <a:fillRect/>
          </a:stretch>
        </p:blipFill>
        <p:spPr>
          <a:xfrm>
            <a:off x="6868150" y="274325"/>
            <a:ext cx="1715300" cy="17194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37" name="Shape 37"/>
        <p:cNvGrpSpPr/>
        <p:nvPr/>
      </p:nvGrpSpPr>
      <p:grpSpPr>
        <a:xfrm>
          <a:off x="0" y="0"/>
          <a:ext cx="0" cy="0"/>
          <a:chOff x="0" y="0"/>
          <a:chExt cx="0" cy="0"/>
        </a:xfrm>
      </p:grpSpPr>
      <p:sp>
        <p:nvSpPr>
          <p:cNvPr id="38" name="Google Shape;38;p5"/>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5"/>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Four Core Tasks</a:t>
            </a:r>
            <a:endParaRPr b="0" i="0" sz="2600" u="none" cap="none" strike="noStrike">
              <a:solidFill>
                <a:schemeClr val="dk1"/>
              </a:solidFill>
              <a:latin typeface="Calibri"/>
              <a:ea typeface="Calibri"/>
              <a:cs typeface="Calibri"/>
              <a:sym typeface="Calibri"/>
            </a:endParaRPr>
          </a:p>
        </p:txBody>
      </p:sp>
      <p:sp>
        <p:nvSpPr>
          <p:cNvPr id="40" name="Google Shape;40;p5"/>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42" name="Google Shape;42;p5"/>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43" name="Google Shape;43;p5"/>
          <p:cNvSpPr/>
          <p:nvPr/>
        </p:nvSpPr>
        <p:spPr>
          <a:xfrm>
            <a:off x="457200" y="1051560"/>
            <a:ext cx="3886200" cy="164592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5"/>
          <p:cNvSpPr/>
          <p:nvPr/>
        </p:nvSpPr>
        <p:spPr>
          <a:xfrm>
            <a:off x="594360" y="1188720"/>
            <a:ext cx="411480" cy="411480"/>
          </a:xfrm>
          <a:prstGeom prst="ellipse">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5"/>
          <p:cNvSpPr/>
          <p:nvPr/>
        </p:nvSpPr>
        <p:spPr>
          <a:xfrm>
            <a:off x="594360" y="11887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1</a:t>
            </a:r>
            <a:endParaRPr b="0" i="0" sz="1800" u="none" cap="none" strike="noStrike">
              <a:solidFill>
                <a:schemeClr val="dk1"/>
              </a:solidFill>
              <a:latin typeface="Calibri"/>
              <a:ea typeface="Calibri"/>
              <a:cs typeface="Calibri"/>
              <a:sym typeface="Calibri"/>
            </a:endParaRPr>
          </a:p>
        </p:txBody>
      </p:sp>
      <p:sp>
        <p:nvSpPr>
          <p:cNvPr id="46" name="Google Shape;46;p5"/>
          <p:cNvSpPr/>
          <p:nvPr/>
        </p:nvSpPr>
        <p:spPr>
          <a:xfrm>
            <a:off x="1097280" y="1161288"/>
            <a:ext cx="3063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LLM + RAG for Shunt Classification</a:t>
            </a:r>
            <a:endParaRPr b="0" i="0" sz="1300" u="none" cap="none" strike="noStrike">
              <a:solidFill>
                <a:schemeClr val="dk1"/>
              </a:solidFill>
              <a:latin typeface="Calibri"/>
              <a:ea typeface="Calibri"/>
              <a:cs typeface="Calibri"/>
              <a:sym typeface="Calibri"/>
            </a:endParaRPr>
          </a:p>
        </p:txBody>
      </p:sp>
      <p:sp>
        <p:nvSpPr>
          <p:cNvPr id="47" name="Google Shape;47;p5"/>
          <p:cNvSpPr/>
          <p:nvPr/>
        </p:nvSpPr>
        <p:spPr>
          <a:xfrm>
            <a:off x="685800" y="1600200"/>
            <a:ext cx="3429000" cy="10058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Classify shunt types based on escape/re-entry points</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Ground decisions based on CHIVA literature</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Generate structured clinical reports</a:t>
            </a:r>
            <a:endParaRPr b="0" i="0" sz="1000" u="none" cap="none" strike="noStrike">
              <a:solidFill>
                <a:schemeClr val="dk1"/>
              </a:solidFill>
              <a:latin typeface="Calibri"/>
              <a:ea typeface="Calibri"/>
              <a:cs typeface="Calibri"/>
              <a:sym typeface="Calibri"/>
            </a:endParaRPr>
          </a:p>
        </p:txBody>
      </p:sp>
      <p:sp>
        <p:nvSpPr>
          <p:cNvPr id="48" name="Google Shape;48;p5"/>
          <p:cNvSpPr/>
          <p:nvPr/>
        </p:nvSpPr>
        <p:spPr>
          <a:xfrm>
            <a:off x="4800600" y="1051560"/>
            <a:ext cx="3886200" cy="164592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5"/>
          <p:cNvSpPr/>
          <p:nvPr/>
        </p:nvSpPr>
        <p:spPr>
          <a:xfrm>
            <a:off x="4937760" y="1188720"/>
            <a:ext cx="411480" cy="411480"/>
          </a:xfrm>
          <a:prstGeom prst="ellipse">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5"/>
          <p:cNvSpPr/>
          <p:nvPr/>
        </p:nvSpPr>
        <p:spPr>
          <a:xfrm>
            <a:off x="4937760" y="11887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2</a:t>
            </a:r>
            <a:endParaRPr b="0" i="0" sz="1800" u="none" cap="none" strike="noStrike">
              <a:solidFill>
                <a:schemeClr val="dk1"/>
              </a:solidFill>
              <a:latin typeface="Calibri"/>
              <a:ea typeface="Calibri"/>
              <a:cs typeface="Calibri"/>
              <a:sym typeface="Calibri"/>
            </a:endParaRPr>
          </a:p>
        </p:txBody>
      </p:sp>
      <p:sp>
        <p:nvSpPr>
          <p:cNvPr id="51" name="Google Shape;51;p5"/>
          <p:cNvSpPr/>
          <p:nvPr/>
        </p:nvSpPr>
        <p:spPr>
          <a:xfrm>
            <a:off x="5440680" y="1161288"/>
            <a:ext cx="3063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LLM for Active Scanning Guidance</a:t>
            </a:r>
            <a:endParaRPr b="0" i="0" sz="1300" u="none" cap="none" strike="noStrike">
              <a:solidFill>
                <a:schemeClr val="dk1"/>
              </a:solidFill>
              <a:latin typeface="Calibri"/>
              <a:ea typeface="Calibri"/>
              <a:cs typeface="Calibri"/>
              <a:sym typeface="Calibri"/>
            </a:endParaRPr>
          </a:p>
        </p:txBody>
      </p:sp>
      <p:sp>
        <p:nvSpPr>
          <p:cNvPr id="52" name="Google Shape;52;p5"/>
          <p:cNvSpPr/>
          <p:nvPr/>
        </p:nvSpPr>
        <p:spPr>
          <a:xfrm>
            <a:off x="5029200" y="1600200"/>
            <a:ext cx="3429000" cy="10058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Real-time probe positioning recommendations</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Update guidance using real-time session findings</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Maintain low latency (&lt;500ms target)</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Learn from captured findings to improve guidance</a:t>
            </a:r>
            <a:endParaRPr b="0" i="0" sz="1000" u="none" cap="none" strike="noStrike">
              <a:solidFill>
                <a:schemeClr val="dk1"/>
              </a:solidFill>
              <a:latin typeface="Calibri"/>
              <a:ea typeface="Calibri"/>
              <a:cs typeface="Calibri"/>
              <a:sym typeface="Calibri"/>
            </a:endParaRPr>
          </a:p>
        </p:txBody>
      </p:sp>
      <p:sp>
        <p:nvSpPr>
          <p:cNvPr id="53" name="Google Shape;53;p5"/>
          <p:cNvSpPr/>
          <p:nvPr/>
        </p:nvSpPr>
        <p:spPr>
          <a:xfrm>
            <a:off x="457200" y="2880360"/>
            <a:ext cx="3886200" cy="164592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a:off x="594360" y="3017520"/>
            <a:ext cx="411480" cy="411480"/>
          </a:xfrm>
          <a:prstGeom prst="ellipse">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a:off x="594360" y="30175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3</a:t>
            </a:r>
            <a:endParaRPr b="0" i="0" sz="1800" u="none" cap="none" strike="noStrike">
              <a:solidFill>
                <a:schemeClr val="dk1"/>
              </a:solidFill>
              <a:latin typeface="Calibri"/>
              <a:ea typeface="Calibri"/>
              <a:cs typeface="Calibri"/>
              <a:sym typeface="Calibri"/>
            </a:endParaRPr>
          </a:p>
        </p:txBody>
      </p:sp>
      <p:sp>
        <p:nvSpPr>
          <p:cNvPr id="56" name="Google Shape;56;p5"/>
          <p:cNvSpPr/>
          <p:nvPr/>
        </p:nvSpPr>
        <p:spPr>
          <a:xfrm>
            <a:off x="1097280" y="2990088"/>
            <a:ext cx="3063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LLM-based Vein Identification</a:t>
            </a:r>
            <a:endParaRPr b="0" i="0" sz="1300" u="none" cap="none" strike="noStrike">
              <a:solidFill>
                <a:schemeClr val="dk1"/>
              </a:solidFill>
              <a:latin typeface="Calibri"/>
              <a:ea typeface="Calibri"/>
              <a:cs typeface="Calibri"/>
              <a:sym typeface="Calibri"/>
            </a:endParaRPr>
          </a:p>
        </p:txBody>
      </p:sp>
      <p:sp>
        <p:nvSpPr>
          <p:cNvPr id="57" name="Google Shape;57;p5"/>
          <p:cNvSpPr/>
          <p:nvPr/>
        </p:nvSpPr>
        <p:spPr>
          <a:xfrm>
            <a:off x="685800" y="3429000"/>
            <a:ext cx="3429000" cy="10058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Real-time vein detection and segmentation</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Low-latency processing (&lt;33ms per frame)</a:t>
            </a:r>
            <a:endParaRPr b="0" i="0" sz="1000" u="none" cap="none" strike="noStrike">
              <a:solidFill>
                <a:schemeClr val="dk1"/>
              </a:solidFill>
              <a:latin typeface="Calibri"/>
              <a:ea typeface="Calibri"/>
              <a:cs typeface="Calibri"/>
              <a:sym typeface="Calibri"/>
            </a:endParaRPr>
          </a:p>
        </p:txBody>
      </p:sp>
      <p:sp>
        <p:nvSpPr>
          <p:cNvPr id="58" name="Google Shape;58;p5"/>
          <p:cNvSpPr/>
          <p:nvPr/>
        </p:nvSpPr>
        <p:spPr>
          <a:xfrm>
            <a:off x="4800600" y="2880360"/>
            <a:ext cx="3886200" cy="164592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4937760" y="3017520"/>
            <a:ext cx="411480" cy="411480"/>
          </a:xfrm>
          <a:prstGeom prst="ellipse">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4937760" y="30175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4</a:t>
            </a:r>
            <a:endParaRPr b="0" i="0" sz="1800" u="none" cap="none" strike="noStrike">
              <a:solidFill>
                <a:schemeClr val="dk1"/>
              </a:solidFill>
              <a:latin typeface="Calibri"/>
              <a:ea typeface="Calibri"/>
              <a:cs typeface="Calibri"/>
              <a:sym typeface="Calibri"/>
            </a:endParaRPr>
          </a:p>
        </p:txBody>
      </p:sp>
      <p:sp>
        <p:nvSpPr>
          <p:cNvPr id="61" name="Google Shape;61;p5"/>
          <p:cNvSpPr/>
          <p:nvPr/>
        </p:nvSpPr>
        <p:spPr>
          <a:xfrm>
            <a:off x="5440680" y="2990088"/>
            <a:ext cx="3063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VLM Approach</a:t>
            </a:r>
            <a:endParaRPr b="0" i="0" sz="1300" u="none" cap="none" strike="noStrike">
              <a:solidFill>
                <a:schemeClr val="dk1"/>
              </a:solidFill>
              <a:latin typeface="Calibri"/>
              <a:ea typeface="Calibri"/>
              <a:cs typeface="Calibri"/>
              <a:sym typeface="Calibri"/>
            </a:endParaRPr>
          </a:p>
        </p:txBody>
      </p:sp>
      <p:sp>
        <p:nvSpPr>
          <p:cNvPr id="62" name="Google Shape;62;p5"/>
          <p:cNvSpPr/>
          <p:nvPr/>
        </p:nvSpPr>
        <p:spPr>
          <a:xfrm>
            <a:off x="5029200" y="3429000"/>
            <a:ext cx="3429000" cy="10058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VLM approach for task 2 and task 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67" name="Shape 67"/>
        <p:cNvGrpSpPr/>
        <p:nvPr/>
      </p:nvGrpSpPr>
      <p:grpSpPr>
        <a:xfrm>
          <a:off x="0" y="0"/>
          <a:ext cx="0" cy="0"/>
          <a:chOff x="0" y="0"/>
          <a:chExt cx="0" cy="0"/>
        </a:xfrm>
      </p:grpSpPr>
      <p:sp>
        <p:nvSpPr>
          <p:cNvPr id="68" name="Google Shape;68;p6"/>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Task 1: LLM + RAG for Shunt Classification</a:t>
            </a:r>
            <a:endParaRPr b="0" i="0" sz="2600" u="none" cap="none" strike="noStrike">
              <a:solidFill>
                <a:schemeClr val="dk1"/>
              </a:solidFill>
              <a:latin typeface="Calibri"/>
              <a:ea typeface="Calibri"/>
              <a:cs typeface="Calibri"/>
              <a:sym typeface="Calibri"/>
            </a:endParaRPr>
          </a:p>
        </p:txBody>
      </p:sp>
      <p:sp>
        <p:nvSpPr>
          <p:cNvPr id="70" name="Google Shape;70;p6"/>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72" name="Google Shape;72;p6"/>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73" name="Google Shape;73;p6"/>
          <p:cNvSpPr/>
          <p:nvPr/>
        </p:nvSpPr>
        <p:spPr>
          <a:xfrm>
            <a:off x="457200" y="96012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100"/>
              <a:buFont typeface="Arial"/>
              <a:buNone/>
            </a:pPr>
            <a:r>
              <a:rPr b="1" i="0" lang="en-US" sz="1100" u="none" cap="none" strike="noStrike">
                <a:solidFill>
                  <a:srgbClr val="990000"/>
                </a:solidFill>
                <a:latin typeface="Arial"/>
                <a:ea typeface="Arial"/>
                <a:cs typeface="Arial"/>
                <a:sym typeface="Arial"/>
              </a:rPr>
              <a:t>Goals: </a:t>
            </a:r>
            <a:r>
              <a:rPr b="0" i="0" lang="en-US" sz="1100" u="none" cap="none" strike="noStrike">
                <a:solidFill>
                  <a:srgbClr val="333333"/>
                </a:solidFill>
                <a:latin typeface="Arial"/>
                <a:ea typeface="Arial"/>
                <a:cs typeface="Arial"/>
                <a:sym typeface="Arial"/>
              </a:rPr>
              <a:t>Automated shunt type identification after the assessment (not live)     </a:t>
            </a:r>
            <a:endParaRPr b="0" i="0" sz="1100" u="none" cap="none" strike="noStrike">
              <a:solidFill>
                <a:srgbClr val="333333"/>
              </a:solidFill>
              <a:latin typeface="Arial"/>
              <a:ea typeface="Arial"/>
              <a:cs typeface="Arial"/>
              <a:sym typeface="Arial"/>
            </a:endParaRPr>
          </a:p>
          <a:p>
            <a:pPr indent="0" lvl="0" marL="0" marR="0" rtl="0" algn="l">
              <a:spcBef>
                <a:spcPts val="0"/>
              </a:spcBef>
              <a:spcAft>
                <a:spcPts val="0"/>
              </a:spcAft>
              <a:buClr>
                <a:srgbClr val="990000"/>
              </a:buClr>
              <a:buSzPts val="1100"/>
              <a:buFont typeface="Arial"/>
              <a:buNone/>
            </a:pPr>
            <a:r>
              <a:rPr b="1" i="0" lang="en-US" sz="1100" u="none" cap="none" strike="noStrike">
                <a:solidFill>
                  <a:srgbClr val="990000"/>
                </a:solidFill>
                <a:latin typeface="Arial"/>
                <a:ea typeface="Arial"/>
                <a:cs typeface="Arial"/>
                <a:sym typeface="Arial"/>
              </a:rPr>
              <a:t>Assumption: </a:t>
            </a:r>
            <a:r>
              <a:rPr b="0" i="0" lang="en-US" sz="1100" u="none" cap="none" strike="noStrike">
                <a:solidFill>
                  <a:srgbClr val="333333"/>
                </a:solidFill>
                <a:latin typeface="Arial"/>
                <a:ea typeface="Arial"/>
                <a:cs typeface="Arial"/>
                <a:sym typeface="Arial"/>
              </a:rPr>
              <a:t>Assume all </a:t>
            </a:r>
            <a:r>
              <a:rPr lang="en-US" sz="1100">
                <a:solidFill>
                  <a:srgbClr val="333333"/>
                </a:solidFill>
              </a:rPr>
              <a:t>EP and RP</a:t>
            </a:r>
            <a:r>
              <a:rPr b="0" i="0" lang="en-US" sz="1100" u="none" cap="none" strike="noStrike">
                <a:solidFill>
                  <a:srgbClr val="333333"/>
                </a:solidFill>
                <a:latin typeface="Arial"/>
                <a:ea typeface="Arial"/>
                <a:cs typeface="Arial"/>
                <a:sym typeface="Arial"/>
              </a:rPr>
              <a:t> points are already ready</a:t>
            </a:r>
            <a:endParaRPr b="0" i="0" sz="1100" u="none" cap="none" strike="noStrike">
              <a:solidFill>
                <a:srgbClr val="333333"/>
              </a:solidFill>
              <a:latin typeface="Arial"/>
              <a:ea typeface="Arial"/>
              <a:cs typeface="Arial"/>
              <a:sym typeface="Arial"/>
            </a:endParaRPr>
          </a:p>
          <a:p>
            <a:pPr indent="0" lvl="0" marL="0" rtl="0" algn="l">
              <a:spcBef>
                <a:spcPts val="0"/>
              </a:spcBef>
              <a:spcAft>
                <a:spcPts val="0"/>
              </a:spcAft>
              <a:buClr>
                <a:srgbClr val="990000"/>
              </a:buClr>
              <a:buSzPts val="1100"/>
              <a:buFont typeface="Arial"/>
              <a:buNone/>
            </a:pPr>
            <a:r>
              <a:rPr b="1" lang="en-US" sz="1100">
                <a:solidFill>
                  <a:srgbClr val="990000"/>
                </a:solidFill>
              </a:rPr>
              <a:t>Context: </a:t>
            </a:r>
            <a:r>
              <a:rPr lang="en-US" sz="1100">
                <a:solidFill>
                  <a:srgbClr val="333333"/>
                </a:solidFill>
              </a:rPr>
              <a:t>We use LLM based approach to replace the existing passive reasoning using rule-based approach because LLM can do active reasoning and has more context and knowledge to make more accurate classifications and cover all edge cases if any</a:t>
            </a:r>
            <a:endParaRPr sz="1100">
              <a:solidFill>
                <a:srgbClr val="333333"/>
              </a:solidFill>
            </a:endParaRPr>
          </a:p>
        </p:txBody>
      </p:sp>
      <p:sp>
        <p:nvSpPr>
          <p:cNvPr id="74" name="Google Shape;74;p6"/>
          <p:cNvSpPr/>
          <p:nvPr/>
        </p:nvSpPr>
        <p:spPr>
          <a:xfrm>
            <a:off x="457200" y="1636717"/>
            <a:ext cx="8229600" cy="292620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6"/>
          <p:cNvSpPr/>
          <p:nvPr/>
        </p:nvSpPr>
        <p:spPr>
          <a:xfrm>
            <a:off x="640080" y="164592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400"/>
              <a:buFont typeface="Georgia"/>
              <a:buNone/>
            </a:pPr>
            <a:r>
              <a:rPr b="1" i="0" lang="en-US" sz="1400" u="none" cap="none" strike="noStrike">
                <a:solidFill>
                  <a:srgbClr val="990000"/>
                </a:solidFill>
                <a:latin typeface="Georgia"/>
                <a:ea typeface="Georgia"/>
                <a:cs typeface="Georgia"/>
                <a:sym typeface="Georgia"/>
              </a:rPr>
              <a:t>Phase 1 Approach</a:t>
            </a:r>
            <a:endParaRPr b="0" i="0" sz="1400" u="none" cap="none" strike="noStrike">
              <a:solidFill>
                <a:schemeClr val="dk1"/>
              </a:solidFill>
              <a:latin typeface="Calibri"/>
              <a:ea typeface="Calibri"/>
              <a:cs typeface="Calibri"/>
              <a:sym typeface="Calibri"/>
            </a:endParaRPr>
          </a:p>
        </p:txBody>
      </p:sp>
      <p:sp>
        <p:nvSpPr>
          <p:cNvPr id="76" name="Google Shape;76;p6"/>
          <p:cNvSpPr/>
          <p:nvPr/>
        </p:nvSpPr>
        <p:spPr>
          <a:xfrm>
            <a:off x="731520" y="2011680"/>
            <a:ext cx="7680960" cy="2286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LLM Integration: Local Ollama Models like Mistral or Llama 1B/GPT-4/Claude for zero-shot classification. Identify suitable LLM for the usecase through literature review of LLMs. Also compute the rough licensing and cost for these services.</a:t>
            </a:r>
            <a:endParaRPr b="0" i="0" sz="10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RAG Pipeline: CHIVA literature + hemodynamic rules as context stored in Qdrant DB.</a:t>
            </a:r>
            <a:endParaRPr b="0" i="0" sz="10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Structured Output: JSON schema for consistent results</a:t>
            </a:r>
            <a:endParaRPr b="0" i="0" sz="10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Prompt Engineering: Multi-shot examples + chain-of-thought reasoning</a:t>
            </a:r>
            <a:endParaRPr b="0" i="0" sz="10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Work with Jeffry to collect some ground truth examples and use it to validate the LLM responses.</a:t>
            </a:r>
            <a:endParaRPr b="0" i="0" sz="10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Prototype app sent to surgeons so that they can provide review and suggestions which can be used to improve LLM's precision.</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81" name="Shape 81"/>
        <p:cNvGrpSpPr/>
        <p:nvPr/>
      </p:nvGrpSpPr>
      <p:grpSpPr>
        <a:xfrm>
          <a:off x="0" y="0"/>
          <a:ext cx="0" cy="0"/>
          <a:chOff x="0" y="0"/>
          <a:chExt cx="0" cy="0"/>
        </a:xfrm>
      </p:grpSpPr>
      <p:sp>
        <p:nvSpPr>
          <p:cNvPr id="82" name="Google Shape;82;p7"/>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7"/>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Task 1: LLM + RAG for Shunt Classification</a:t>
            </a:r>
            <a:endParaRPr b="0" i="0" sz="2600" u="none" cap="none" strike="noStrike">
              <a:solidFill>
                <a:schemeClr val="dk1"/>
              </a:solidFill>
              <a:latin typeface="Calibri"/>
              <a:ea typeface="Calibri"/>
              <a:cs typeface="Calibri"/>
              <a:sym typeface="Calibri"/>
            </a:endParaRPr>
          </a:p>
        </p:txBody>
      </p:sp>
      <p:sp>
        <p:nvSpPr>
          <p:cNvPr id="84" name="Google Shape;84;p7"/>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7"/>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86" name="Google Shape;86;p7"/>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87" name="Google Shape;87;p7"/>
          <p:cNvSpPr/>
          <p:nvPr/>
        </p:nvSpPr>
        <p:spPr>
          <a:xfrm>
            <a:off x="457200" y="1005840"/>
            <a:ext cx="8229600" cy="228600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7"/>
          <p:cNvSpPr/>
          <p:nvPr/>
        </p:nvSpPr>
        <p:spPr>
          <a:xfrm>
            <a:off x="640080" y="109728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400"/>
              <a:buFont typeface="Georgia"/>
              <a:buNone/>
            </a:pPr>
            <a:r>
              <a:rPr b="1" i="0" lang="en-US" sz="1400" u="none" cap="none" strike="noStrike">
                <a:solidFill>
                  <a:srgbClr val="990000"/>
                </a:solidFill>
                <a:latin typeface="Georgia"/>
                <a:ea typeface="Georgia"/>
                <a:cs typeface="Georgia"/>
                <a:sym typeface="Georgia"/>
              </a:rPr>
              <a:t>Phase 2 (evaluation and </a:t>
            </a:r>
            <a:r>
              <a:rPr b="1" lang="en-US">
                <a:solidFill>
                  <a:srgbClr val="990000"/>
                </a:solidFill>
                <a:latin typeface="Georgia"/>
                <a:ea typeface="Georgia"/>
                <a:cs typeface="Georgia"/>
                <a:sym typeface="Georgia"/>
              </a:rPr>
              <a:t>improvement</a:t>
            </a:r>
            <a:r>
              <a:rPr b="1" i="0" lang="en-US" sz="1400" u="none" cap="none" strike="noStrike">
                <a:solidFill>
                  <a:srgbClr val="990000"/>
                </a:solidFill>
                <a:latin typeface="Georgia"/>
                <a:ea typeface="Georgia"/>
                <a:cs typeface="Georgia"/>
                <a:sym typeface="Georgia"/>
              </a:rPr>
              <a:t>)</a:t>
            </a:r>
            <a:endParaRPr b="0" i="0" sz="1400" u="none" cap="none" strike="noStrike">
              <a:solidFill>
                <a:schemeClr val="dk1"/>
              </a:solidFill>
              <a:latin typeface="Calibri"/>
              <a:ea typeface="Calibri"/>
              <a:cs typeface="Calibri"/>
              <a:sym typeface="Calibri"/>
            </a:endParaRPr>
          </a:p>
        </p:txBody>
      </p:sp>
      <p:sp>
        <p:nvSpPr>
          <p:cNvPr id="89" name="Google Shape;89;p7"/>
          <p:cNvSpPr/>
          <p:nvPr/>
        </p:nvSpPr>
        <p:spPr>
          <a:xfrm>
            <a:off x="731520" y="1463040"/>
            <a:ext cx="7680960" cy="164592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Confidence scoring &amp; Uncertainty quantification</a:t>
            </a:r>
            <a:endParaRPr b="0" i="0" sz="10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Fine-tuning LLM on labeled datasets of input flow data and shunt classification output with ligation suggestions based on CHIVA literature data</a:t>
            </a:r>
            <a:endParaRPr b="0" i="0" sz="10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Use more relevant CHIVA literature books to improve the quality of responses</a:t>
            </a:r>
            <a:endParaRPr b="0" i="0" sz="10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Retrieval optimization with semantic chunking</a:t>
            </a:r>
            <a:endParaRPr b="0" i="0" sz="10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Reduce hallucination with better prompting and schema relevant RAG retrieval</a:t>
            </a:r>
            <a:endParaRPr b="0" i="0" sz="1050" u="none" cap="none" strike="noStrike">
              <a:solidFill>
                <a:schemeClr val="dk1"/>
              </a:solidFill>
              <a:latin typeface="Calibri"/>
              <a:ea typeface="Calibri"/>
              <a:cs typeface="Calibri"/>
              <a:sym typeface="Calibri"/>
            </a:endParaRPr>
          </a:p>
        </p:txBody>
      </p:sp>
      <p:sp>
        <p:nvSpPr>
          <p:cNvPr id="90" name="Google Shape;90;p7"/>
          <p:cNvSpPr/>
          <p:nvPr/>
        </p:nvSpPr>
        <p:spPr>
          <a:xfrm>
            <a:off x="457200" y="3520440"/>
            <a:ext cx="8229600" cy="457200"/>
          </a:xfrm>
          <a:prstGeom prst="rect">
            <a:avLst/>
          </a:prstGeom>
          <a:solidFill>
            <a:srgbClr val="99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7"/>
          <p:cNvSpPr/>
          <p:nvPr/>
        </p:nvSpPr>
        <p:spPr>
          <a:xfrm>
            <a:off x="640080" y="3520440"/>
            <a:ext cx="7863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Tech Stack: </a:t>
            </a:r>
            <a:r>
              <a:rPr b="0" i="0" lang="en-US" sz="1100" u="none" cap="none" strike="noStrike">
                <a:solidFill>
                  <a:srgbClr val="FFFFFF"/>
                </a:solidFill>
                <a:latin typeface="Arial"/>
                <a:ea typeface="Arial"/>
                <a:cs typeface="Arial"/>
                <a:sym typeface="Arial"/>
              </a:rPr>
              <a:t>Ollama, OpenAI/Claude/Groq API, LangChain, </a:t>
            </a:r>
            <a:r>
              <a:rPr lang="en-US" sz="1100">
                <a:solidFill>
                  <a:srgbClr val="FFFFFF"/>
                </a:solidFill>
              </a:rPr>
              <a:t>Qdrant</a:t>
            </a:r>
            <a:r>
              <a:rPr b="0" i="0" lang="en-US" sz="1100" u="none" cap="none" strike="noStrike">
                <a:solidFill>
                  <a:srgbClr val="FFFFFF"/>
                </a:solidFill>
                <a:latin typeface="Arial"/>
                <a:ea typeface="Arial"/>
                <a:cs typeface="Arial"/>
                <a:sym typeface="Arial"/>
              </a:rPr>
              <a:t>DB, Pydantic LL</a:t>
            </a:r>
            <a:r>
              <a:rPr lang="en-US" sz="1100">
                <a:solidFill>
                  <a:srgbClr val="FFFFFF"/>
                </a:solidFill>
              </a:rPr>
              <a:t>Ms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96" name="Shape 96"/>
        <p:cNvGrpSpPr/>
        <p:nvPr/>
      </p:nvGrpSpPr>
      <p:grpSpPr>
        <a:xfrm>
          <a:off x="0" y="0"/>
          <a:ext cx="0" cy="0"/>
          <a:chOff x="0" y="0"/>
          <a:chExt cx="0" cy="0"/>
        </a:xfrm>
      </p:grpSpPr>
      <p:sp>
        <p:nvSpPr>
          <p:cNvPr id="97" name="Google Shape;97;p8"/>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Task 1: Potential Improvements</a:t>
            </a:r>
            <a:endParaRPr b="0" i="0" sz="2600" u="none" cap="none" strike="noStrike">
              <a:solidFill>
                <a:schemeClr val="dk1"/>
              </a:solidFill>
              <a:latin typeface="Calibri"/>
              <a:ea typeface="Calibri"/>
              <a:cs typeface="Calibri"/>
              <a:sym typeface="Calibri"/>
            </a:endParaRPr>
          </a:p>
        </p:txBody>
      </p:sp>
      <p:sp>
        <p:nvSpPr>
          <p:cNvPr id="99" name="Google Shape;99;p8"/>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8"/>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101" name="Google Shape;101;p8"/>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102" name="Google Shape;102;p8"/>
          <p:cNvSpPr/>
          <p:nvPr/>
        </p:nvSpPr>
        <p:spPr>
          <a:xfrm>
            <a:off x="457200" y="1097280"/>
            <a:ext cx="3886200" cy="14630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8"/>
          <p:cNvSpPr/>
          <p:nvPr/>
        </p:nvSpPr>
        <p:spPr>
          <a:xfrm>
            <a:off x="457200" y="1097280"/>
            <a:ext cx="54864" cy="14630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8"/>
          <p:cNvSpPr/>
          <p:nvPr/>
        </p:nvSpPr>
        <p:spPr>
          <a:xfrm>
            <a:off x="640080" y="1188720"/>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Accuracy Enhancement</a:t>
            </a:r>
            <a:endParaRPr b="0" i="0" sz="1300" u="none" cap="none" strike="noStrike">
              <a:solidFill>
                <a:schemeClr val="dk1"/>
              </a:solidFill>
              <a:latin typeface="Calibri"/>
              <a:ea typeface="Calibri"/>
              <a:cs typeface="Calibri"/>
              <a:sym typeface="Calibri"/>
            </a:endParaRPr>
          </a:p>
        </p:txBody>
      </p:sp>
      <p:sp>
        <p:nvSpPr>
          <p:cNvPr id="105" name="Google Shape;105;p8"/>
          <p:cNvSpPr/>
          <p:nvPr/>
        </p:nvSpPr>
        <p:spPr>
          <a:xfrm>
            <a:off x="685800" y="1554480"/>
            <a:ext cx="3429000" cy="9144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Confidence scoring</a:t>
            </a:r>
            <a:endParaRPr b="0" i="0" sz="10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Uncertainty quantification</a:t>
            </a:r>
            <a:endParaRPr b="0" i="0" sz="1050" u="none" cap="none" strike="noStrike">
              <a:solidFill>
                <a:schemeClr val="dk1"/>
              </a:solidFill>
              <a:latin typeface="Calibri"/>
              <a:ea typeface="Calibri"/>
              <a:cs typeface="Calibri"/>
              <a:sym typeface="Calibri"/>
            </a:endParaRPr>
          </a:p>
        </p:txBody>
      </p:sp>
      <p:sp>
        <p:nvSpPr>
          <p:cNvPr id="106" name="Google Shape;106;p8"/>
          <p:cNvSpPr/>
          <p:nvPr/>
        </p:nvSpPr>
        <p:spPr>
          <a:xfrm>
            <a:off x="4800600" y="1097280"/>
            <a:ext cx="3886200" cy="14630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8"/>
          <p:cNvSpPr/>
          <p:nvPr/>
        </p:nvSpPr>
        <p:spPr>
          <a:xfrm>
            <a:off x="4800600" y="1097280"/>
            <a:ext cx="54864" cy="14630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8"/>
          <p:cNvSpPr/>
          <p:nvPr/>
        </p:nvSpPr>
        <p:spPr>
          <a:xfrm>
            <a:off x="4983480" y="1188720"/>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Latency Optimization</a:t>
            </a:r>
            <a:endParaRPr b="0" i="0" sz="1300" u="none" cap="none" strike="noStrike">
              <a:solidFill>
                <a:schemeClr val="dk1"/>
              </a:solidFill>
              <a:latin typeface="Calibri"/>
              <a:ea typeface="Calibri"/>
              <a:cs typeface="Calibri"/>
              <a:sym typeface="Calibri"/>
            </a:endParaRPr>
          </a:p>
        </p:txBody>
      </p:sp>
      <p:sp>
        <p:nvSpPr>
          <p:cNvPr id="109" name="Google Shape;109;p8"/>
          <p:cNvSpPr/>
          <p:nvPr/>
        </p:nvSpPr>
        <p:spPr>
          <a:xfrm>
            <a:off x="5029200" y="1554480"/>
            <a:ext cx="3429000" cy="9144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Model Distillation</a:t>
            </a:r>
            <a:endParaRPr b="0" i="0" sz="10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Local model deployment</a:t>
            </a:r>
            <a:endParaRPr b="0" i="0" sz="1050" u="none" cap="none" strike="noStrike">
              <a:solidFill>
                <a:schemeClr val="dk1"/>
              </a:solidFill>
              <a:latin typeface="Calibri"/>
              <a:ea typeface="Calibri"/>
              <a:cs typeface="Calibri"/>
              <a:sym typeface="Calibri"/>
            </a:endParaRPr>
          </a:p>
        </p:txBody>
      </p:sp>
      <p:sp>
        <p:nvSpPr>
          <p:cNvPr id="110" name="Google Shape;110;p8"/>
          <p:cNvSpPr/>
          <p:nvPr/>
        </p:nvSpPr>
        <p:spPr>
          <a:xfrm>
            <a:off x="457200" y="2743200"/>
            <a:ext cx="3886200" cy="14630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8"/>
          <p:cNvSpPr/>
          <p:nvPr/>
        </p:nvSpPr>
        <p:spPr>
          <a:xfrm>
            <a:off x="457200" y="2743200"/>
            <a:ext cx="54864" cy="14630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8"/>
          <p:cNvSpPr/>
          <p:nvPr/>
        </p:nvSpPr>
        <p:spPr>
          <a:xfrm>
            <a:off x="640080" y="2834640"/>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Clinical Integration &amp; Compliance</a:t>
            </a:r>
            <a:endParaRPr b="0" i="0" sz="1300" u="none" cap="none" strike="noStrike">
              <a:solidFill>
                <a:schemeClr val="dk1"/>
              </a:solidFill>
              <a:latin typeface="Calibri"/>
              <a:ea typeface="Calibri"/>
              <a:cs typeface="Calibri"/>
              <a:sym typeface="Calibri"/>
            </a:endParaRPr>
          </a:p>
        </p:txBody>
      </p:sp>
      <p:sp>
        <p:nvSpPr>
          <p:cNvPr id="113" name="Google Shape;113;p8"/>
          <p:cNvSpPr/>
          <p:nvPr/>
        </p:nvSpPr>
        <p:spPr>
          <a:xfrm>
            <a:off x="685800" y="3200400"/>
            <a:ext cx="3429000" cy="9144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Clinician feedback loops</a:t>
            </a:r>
            <a:endParaRPr b="0" i="0" sz="10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HIPAA-compliant handling</a:t>
            </a:r>
            <a:endParaRPr b="0" i="0" sz="1050" u="none" cap="none" strike="noStrike">
              <a:solidFill>
                <a:schemeClr val="dk1"/>
              </a:solidFill>
              <a:latin typeface="Calibri"/>
              <a:ea typeface="Calibri"/>
              <a:cs typeface="Calibri"/>
              <a:sym typeface="Calibri"/>
            </a:endParaRPr>
          </a:p>
        </p:txBody>
      </p:sp>
      <p:sp>
        <p:nvSpPr>
          <p:cNvPr id="114" name="Google Shape;114;p8"/>
          <p:cNvSpPr/>
          <p:nvPr/>
        </p:nvSpPr>
        <p:spPr>
          <a:xfrm>
            <a:off x="4800600" y="2743200"/>
            <a:ext cx="3886200" cy="14630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8"/>
          <p:cNvSpPr/>
          <p:nvPr/>
        </p:nvSpPr>
        <p:spPr>
          <a:xfrm>
            <a:off x="4800600" y="2743200"/>
            <a:ext cx="54864" cy="14630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a:off x="4983480" y="2834640"/>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Robustness</a:t>
            </a:r>
            <a:endParaRPr b="0" i="0" sz="1300" u="none" cap="none" strike="noStrike">
              <a:solidFill>
                <a:schemeClr val="dk1"/>
              </a:solidFill>
              <a:latin typeface="Calibri"/>
              <a:ea typeface="Calibri"/>
              <a:cs typeface="Calibri"/>
              <a:sym typeface="Calibri"/>
            </a:endParaRPr>
          </a:p>
        </p:txBody>
      </p:sp>
      <p:sp>
        <p:nvSpPr>
          <p:cNvPr id="117" name="Google Shape;117;p8"/>
          <p:cNvSpPr/>
          <p:nvPr/>
        </p:nvSpPr>
        <p:spPr>
          <a:xfrm>
            <a:off x="5029200" y="3200400"/>
            <a:ext cx="3429000" cy="9144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Adversarial testing</a:t>
            </a:r>
            <a:endParaRPr b="0" i="0" sz="10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Edge case handling and testing</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122" name="Shape 122"/>
        <p:cNvGrpSpPr/>
        <p:nvPr/>
      </p:nvGrpSpPr>
      <p:grpSpPr>
        <a:xfrm>
          <a:off x="0" y="0"/>
          <a:ext cx="0" cy="0"/>
          <a:chOff x="0" y="0"/>
          <a:chExt cx="0" cy="0"/>
        </a:xfrm>
      </p:grpSpPr>
      <p:sp>
        <p:nvSpPr>
          <p:cNvPr id="123" name="Google Shape;123;p9"/>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9"/>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Task 2: Active Scanning Guidance</a:t>
            </a:r>
            <a:endParaRPr b="0" i="0" sz="2600" u="none" cap="none" strike="noStrike">
              <a:solidFill>
                <a:schemeClr val="dk1"/>
              </a:solidFill>
              <a:latin typeface="Calibri"/>
              <a:ea typeface="Calibri"/>
              <a:cs typeface="Calibri"/>
              <a:sym typeface="Calibri"/>
            </a:endParaRPr>
          </a:p>
        </p:txBody>
      </p:sp>
      <p:sp>
        <p:nvSpPr>
          <p:cNvPr id="125" name="Google Shape;125;p9"/>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9"/>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127" name="Google Shape;127;p9"/>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128" name="Google Shape;128;p9"/>
          <p:cNvSpPr/>
          <p:nvPr/>
        </p:nvSpPr>
        <p:spPr>
          <a:xfrm>
            <a:off x="457200" y="100584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200"/>
              <a:buFont typeface="Arial"/>
              <a:buNone/>
            </a:pPr>
            <a:r>
              <a:rPr b="1" i="0" lang="en-US" sz="1200" u="none" cap="none" strike="noStrike">
                <a:solidFill>
                  <a:srgbClr val="990000"/>
                </a:solidFill>
                <a:latin typeface="Arial"/>
                <a:ea typeface="Arial"/>
                <a:cs typeface="Arial"/>
                <a:sym typeface="Arial"/>
              </a:rPr>
              <a:t>Goal: </a:t>
            </a:r>
            <a:r>
              <a:rPr b="0" i="0" lang="en-US" sz="1200" u="none" cap="none" strike="noStrike">
                <a:solidFill>
                  <a:srgbClr val="333333"/>
                </a:solidFill>
                <a:latin typeface="Arial"/>
                <a:ea typeface="Arial"/>
                <a:cs typeface="Arial"/>
                <a:sym typeface="Arial"/>
              </a:rPr>
              <a:t>Real-time AI co-pilot for ultrasound operators</a:t>
            </a:r>
            <a:endParaRPr b="0" i="0" sz="1200" u="none" cap="none" strike="noStrike">
              <a:solidFill>
                <a:srgbClr val="333333"/>
              </a:solidFill>
              <a:latin typeface="Arial"/>
              <a:ea typeface="Arial"/>
              <a:cs typeface="Arial"/>
              <a:sym typeface="Arial"/>
            </a:endParaRPr>
          </a:p>
          <a:p>
            <a:pPr indent="0" lvl="0" marL="0" rtl="0" algn="l">
              <a:spcBef>
                <a:spcPts val="0"/>
              </a:spcBef>
              <a:spcAft>
                <a:spcPts val="0"/>
              </a:spcAft>
              <a:buClr>
                <a:srgbClr val="990000"/>
              </a:buClr>
              <a:buSzPts val="1100"/>
              <a:buFont typeface="Arial"/>
              <a:buNone/>
            </a:pPr>
            <a:r>
              <a:rPr b="1" lang="en-US" sz="1100">
                <a:solidFill>
                  <a:srgbClr val="990000"/>
                </a:solidFill>
              </a:rPr>
              <a:t>Context: </a:t>
            </a:r>
            <a:r>
              <a:rPr lang="en-US" sz="1100">
                <a:solidFill>
                  <a:srgbClr val="333333"/>
                </a:solidFill>
              </a:rPr>
              <a:t>We use LLM based approach to replace the existing passive guidance using rule-based approach because LLM can do active reasoning and has more context and knowledge to provide more useful and efficient guidance to the surgeons. It can also capture and understand doctor’s practices while scanning and provide personalised guidance based on the doctor’s style</a:t>
            </a:r>
            <a:endParaRPr sz="1200">
              <a:solidFill>
                <a:srgbClr val="333333"/>
              </a:solidFill>
            </a:endParaRPr>
          </a:p>
        </p:txBody>
      </p:sp>
      <p:sp>
        <p:nvSpPr>
          <p:cNvPr id="129" name="Google Shape;129;p9"/>
          <p:cNvSpPr/>
          <p:nvPr/>
        </p:nvSpPr>
        <p:spPr>
          <a:xfrm>
            <a:off x="457200" y="1600140"/>
            <a:ext cx="8229600" cy="292620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a:off x="640080" y="155448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400"/>
              <a:buFont typeface="Georgia"/>
              <a:buNone/>
            </a:pPr>
            <a:r>
              <a:rPr b="1" i="0" lang="en-US" sz="1400" u="none" cap="none" strike="noStrike">
                <a:solidFill>
                  <a:srgbClr val="990000"/>
                </a:solidFill>
                <a:latin typeface="Georgia"/>
                <a:ea typeface="Georgia"/>
                <a:cs typeface="Georgia"/>
                <a:sym typeface="Georgia"/>
              </a:rPr>
              <a:t>Phase 1 Approach</a:t>
            </a:r>
            <a:endParaRPr b="0" i="0" sz="1400" u="none" cap="none" strike="noStrike">
              <a:solidFill>
                <a:schemeClr val="dk1"/>
              </a:solidFill>
              <a:latin typeface="Calibri"/>
              <a:ea typeface="Calibri"/>
              <a:cs typeface="Calibri"/>
              <a:sym typeface="Calibri"/>
            </a:endParaRPr>
          </a:p>
        </p:txBody>
      </p:sp>
      <p:sp>
        <p:nvSpPr>
          <p:cNvPr id="131" name="Google Shape;131;p9"/>
          <p:cNvSpPr/>
          <p:nvPr/>
        </p:nvSpPr>
        <p:spPr>
          <a:xfrm>
            <a:off x="731520" y="1920240"/>
            <a:ext cx="7680960" cy="2286000"/>
          </a:xfrm>
          <a:prstGeom prst="rect">
            <a:avLst/>
          </a:prstGeom>
          <a:noFill/>
          <a:ln>
            <a:noFill/>
          </a:ln>
        </p:spPr>
        <p:txBody>
          <a:bodyPr anchorCtr="0" anchor="t" bIns="0" lIns="0" spcFirstLastPara="1" rIns="0" wrap="square" tIns="0">
            <a:noAutofit/>
          </a:bodyPr>
          <a:lstStyle/>
          <a:p>
            <a:pPr indent="-361950" lvl="0" marL="342900" marR="0" rtl="0" algn="l">
              <a:spcBef>
                <a:spcPts val="0"/>
              </a:spcBef>
              <a:spcAft>
                <a:spcPts val="0"/>
              </a:spcAft>
              <a:buClr>
                <a:srgbClr val="333333"/>
              </a:buClr>
              <a:buSzPts val="1400"/>
              <a:buFont typeface="Arial"/>
              <a:buChar char="•"/>
            </a:pPr>
            <a:r>
              <a:rPr lang="en-US">
                <a:solidFill>
                  <a:srgbClr val="333333"/>
                </a:solidFill>
              </a:rPr>
              <a:t>Building a </a:t>
            </a:r>
            <a:r>
              <a:rPr b="0" i="0" lang="en-US" u="none" cap="none" strike="noStrike">
                <a:solidFill>
                  <a:srgbClr val="333333"/>
                </a:solidFill>
                <a:latin typeface="Arial"/>
                <a:ea typeface="Arial"/>
                <a:cs typeface="Arial"/>
                <a:sym typeface="Arial"/>
              </a:rPr>
              <a:t>LLM Agent </a:t>
            </a:r>
            <a:r>
              <a:rPr lang="en-US">
                <a:solidFill>
                  <a:srgbClr val="333333"/>
                </a:solidFill>
              </a:rPr>
              <a:t>with</a:t>
            </a:r>
            <a:r>
              <a:rPr b="0" i="0" lang="en-US" u="none" cap="none" strike="noStrike">
                <a:solidFill>
                  <a:srgbClr val="333333"/>
                </a:solidFill>
                <a:latin typeface="Arial"/>
                <a:ea typeface="Arial"/>
                <a:cs typeface="Arial"/>
                <a:sym typeface="Arial"/>
              </a:rPr>
              <a:t> Few-shot prompting.</a:t>
            </a:r>
            <a:endParaRPr>
              <a:solidFill>
                <a:srgbClr val="333333"/>
              </a:solidFill>
            </a:endParaRPr>
          </a:p>
          <a:p>
            <a:pPr indent="-361950" lvl="0" marL="342900" marR="0" rtl="0" algn="l">
              <a:spcBef>
                <a:spcPts val="0"/>
              </a:spcBef>
              <a:spcAft>
                <a:spcPts val="0"/>
              </a:spcAft>
              <a:buClr>
                <a:srgbClr val="333333"/>
              </a:buClr>
              <a:buSzPts val="1400"/>
              <a:buChar char="•"/>
            </a:pPr>
            <a:r>
              <a:rPr lang="en-US">
                <a:solidFill>
                  <a:srgbClr val="333333"/>
                </a:solidFill>
              </a:rPr>
              <a:t>Monitor Latency for Live Feedback and formulate techniques and reduce latency through efficient RAG </a:t>
            </a:r>
            <a:r>
              <a:rPr lang="en-US">
                <a:solidFill>
                  <a:srgbClr val="333333"/>
                </a:solidFill>
              </a:rPr>
              <a:t>retrieval</a:t>
            </a:r>
            <a:r>
              <a:rPr lang="en-US">
                <a:solidFill>
                  <a:srgbClr val="333333"/>
                </a:solidFill>
              </a:rPr>
              <a:t> techniques and trying different models to identify Speed Vs Quality tradeoff. </a:t>
            </a:r>
            <a:endParaRPr>
              <a:solidFill>
                <a:srgbClr val="333333"/>
              </a:solidFill>
            </a:endParaRPr>
          </a:p>
          <a:p>
            <a:pPr indent="-361950" lvl="0" marL="342900" marR="0" rtl="0" algn="l">
              <a:spcBef>
                <a:spcPts val="0"/>
              </a:spcBef>
              <a:spcAft>
                <a:spcPts val="0"/>
              </a:spcAft>
              <a:buClr>
                <a:srgbClr val="333333"/>
              </a:buClr>
              <a:buSzPts val="1400"/>
              <a:buChar char="•"/>
            </a:pPr>
            <a:r>
              <a:rPr b="1" i="0" lang="en-US" u="none" cap="none" strike="noStrike">
                <a:solidFill>
                  <a:srgbClr val="333333"/>
                </a:solidFill>
              </a:rPr>
              <a:t>Context Management: </a:t>
            </a:r>
            <a:r>
              <a:rPr b="0" i="0" lang="en-US" u="none" cap="none" strike="noStrike">
                <a:solidFill>
                  <a:srgbClr val="333333"/>
                </a:solidFill>
                <a:latin typeface="Arial"/>
                <a:ea typeface="Arial"/>
                <a:cs typeface="Arial"/>
                <a:sym typeface="Arial"/>
              </a:rPr>
              <a:t>Session state + captured findings.</a:t>
            </a:r>
            <a:endParaRPr>
              <a:solidFill>
                <a:schemeClr val="dk1"/>
              </a:solidFill>
              <a:latin typeface="Calibri"/>
              <a:ea typeface="Calibri"/>
              <a:cs typeface="Calibri"/>
              <a:sym typeface="Calibri"/>
            </a:endParaRPr>
          </a:p>
          <a:p>
            <a:pPr indent="-361950" lvl="0" marL="342900" marR="0" rtl="0" algn="l">
              <a:spcBef>
                <a:spcPts val="0"/>
              </a:spcBef>
              <a:spcAft>
                <a:spcPts val="0"/>
              </a:spcAft>
              <a:buClr>
                <a:srgbClr val="333333"/>
              </a:buClr>
              <a:buSzPts val="1400"/>
              <a:buChar char="•"/>
            </a:pPr>
            <a:r>
              <a:rPr b="0" i="0" lang="en-US" u="none" cap="none" strike="noStrike">
                <a:solidFill>
                  <a:srgbClr val="333333"/>
                </a:solidFill>
                <a:latin typeface="Arial"/>
                <a:ea typeface="Arial"/>
                <a:cs typeface="Arial"/>
                <a:sym typeface="Arial"/>
              </a:rPr>
              <a:t>Rule-based probe guidance logic with rules formulated by the LLM based on the RAG context it has from the medical literature.</a:t>
            </a:r>
            <a:endParaRPr>
              <a:solidFill>
                <a:schemeClr val="dk1"/>
              </a:solidFill>
              <a:latin typeface="Calibri"/>
              <a:ea typeface="Calibri"/>
              <a:cs typeface="Calibri"/>
              <a:sym typeface="Calibri"/>
            </a:endParaRPr>
          </a:p>
          <a:p>
            <a:pPr indent="0" lvl="0" marL="0" marR="0" rtl="0" algn="l">
              <a:spcBef>
                <a:spcPts val="0"/>
              </a:spcBef>
              <a:spcAft>
                <a:spcPts val="0"/>
              </a:spcAft>
              <a:buNone/>
            </a:pPr>
            <a:r>
              <a:t/>
            </a:r>
            <a:endParaRPr>
              <a:solidFill>
                <a:srgbClr val="333333"/>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136" name="Shape 136"/>
        <p:cNvGrpSpPr/>
        <p:nvPr/>
      </p:nvGrpSpPr>
      <p:grpSpPr>
        <a:xfrm>
          <a:off x="0" y="0"/>
          <a:ext cx="0" cy="0"/>
          <a:chOff x="0" y="0"/>
          <a:chExt cx="0" cy="0"/>
        </a:xfrm>
      </p:grpSpPr>
      <p:sp>
        <p:nvSpPr>
          <p:cNvPr id="137" name="Google Shape;137;p10"/>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Task 2: Active Scanning Guidance</a:t>
            </a:r>
            <a:endParaRPr b="0" i="0" sz="2600" u="none" cap="none" strike="noStrike">
              <a:solidFill>
                <a:schemeClr val="dk1"/>
              </a:solidFill>
              <a:latin typeface="Calibri"/>
              <a:ea typeface="Calibri"/>
              <a:cs typeface="Calibri"/>
              <a:sym typeface="Calibri"/>
            </a:endParaRPr>
          </a:p>
        </p:txBody>
      </p:sp>
      <p:sp>
        <p:nvSpPr>
          <p:cNvPr id="139" name="Google Shape;139;p10"/>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0"/>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141" name="Google Shape;141;p10"/>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142" name="Google Shape;142;p10"/>
          <p:cNvSpPr/>
          <p:nvPr/>
        </p:nvSpPr>
        <p:spPr>
          <a:xfrm>
            <a:off x="457200" y="1005840"/>
            <a:ext cx="8229600" cy="20116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0"/>
          <p:cNvSpPr/>
          <p:nvPr/>
        </p:nvSpPr>
        <p:spPr>
          <a:xfrm>
            <a:off x="640080" y="109728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400"/>
              <a:buFont typeface="Georgia"/>
              <a:buNone/>
            </a:pPr>
            <a:r>
              <a:rPr b="1" i="0" lang="en-US" sz="1400" u="none" cap="none" strike="noStrike">
                <a:solidFill>
                  <a:srgbClr val="990000"/>
                </a:solidFill>
                <a:latin typeface="Georgia"/>
                <a:ea typeface="Georgia"/>
                <a:cs typeface="Georgia"/>
                <a:sym typeface="Georgia"/>
              </a:rPr>
              <a:t>Phase 2 (if needed)</a:t>
            </a:r>
            <a:endParaRPr b="0" i="0" sz="1400" u="none" cap="none" strike="noStrike">
              <a:solidFill>
                <a:schemeClr val="dk1"/>
              </a:solidFill>
              <a:latin typeface="Calibri"/>
              <a:ea typeface="Calibri"/>
              <a:cs typeface="Calibri"/>
              <a:sym typeface="Calibri"/>
            </a:endParaRPr>
          </a:p>
        </p:txBody>
      </p:sp>
      <p:sp>
        <p:nvSpPr>
          <p:cNvPr id="144" name="Google Shape;144;p10"/>
          <p:cNvSpPr/>
          <p:nvPr/>
        </p:nvSpPr>
        <p:spPr>
          <a:xfrm>
            <a:off x="731520" y="1463040"/>
            <a:ext cx="7680960" cy="1371600"/>
          </a:xfrm>
          <a:prstGeom prst="rect">
            <a:avLst/>
          </a:prstGeom>
          <a:noFill/>
          <a:ln>
            <a:noFill/>
          </a:ln>
        </p:spPr>
        <p:txBody>
          <a:bodyPr anchorCtr="0" anchor="t" bIns="0" lIns="0" spcFirstLastPara="1" rIns="0" wrap="square" tIns="0">
            <a:noAutofit/>
          </a:bodyPr>
          <a:lstStyle/>
          <a:p>
            <a:pPr indent="-361950" lvl="0" marL="342900" rtl="0" algn="l">
              <a:spcBef>
                <a:spcPts val="800"/>
              </a:spcBef>
              <a:spcAft>
                <a:spcPts val="0"/>
              </a:spcAft>
              <a:buClr>
                <a:srgbClr val="333333"/>
              </a:buClr>
              <a:buSzPts val="1400"/>
              <a:buChar char="•"/>
            </a:pPr>
            <a:r>
              <a:rPr lang="en-US">
                <a:solidFill>
                  <a:srgbClr val="333333"/>
                </a:solidFill>
              </a:rPr>
              <a:t>Latency-optimized model serving</a:t>
            </a:r>
            <a:endParaRPr>
              <a:solidFill>
                <a:srgbClr val="333333"/>
              </a:solidFill>
            </a:endParaRPr>
          </a:p>
          <a:p>
            <a:pPr indent="-361950" lvl="0" marL="342900" rtl="0" algn="l">
              <a:spcBef>
                <a:spcPts val="800"/>
              </a:spcBef>
              <a:spcAft>
                <a:spcPts val="0"/>
              </a:spcAft>
              <a:buClr>
                <a:srgbClr val="333333"/>
              </a:buClr>
              <a:buSzPts val="1400"/>
              <a:buChar char="•"/>
            </a:pPr>
            <a:r>
              <a:rPr lang="en-US">
                <a:solidFill>
                  <a:srgbClr val="333333"/>
                </a:solidFill>
              </a:rPr>
              <a:t>Digital Twin ( scan for screening vs treatment) </a:t>
            </a:r>
            <a:endParaRPr>
              <a:solidFill>
                <a:srgbClr val="333333"/>
              </a:solidFill>
            </a:endParaRPr>
          </a:p>
          <a:p>
            <a:pPr indent="-361950" lvl="0" marL="342900" rtl="0" algn="l">
              <a:spcBef>
                <a:spcPts val="800"/>
              </a:spcBef>
              <a:spcAft>
                <a:spcPts val="0"/>
              </a:spcAft>
              <a:buClr>
                <a:srgbClr val="333333"/>
              </a:buClr>
              <a:buSzPts val="1400"/>
              <a:buChar char="•"/>
            </a:pPr>
            <a:r>
              <a:rPr lang="en-US">
                <a:solidFill>
                  <a:srgbClr val="333333"/>
                </a:solidFill>
              </a:rPr>
              <a:t>Identifying the best metric for assesing quality and accuracy with guidance from the surgeon</a:t>
            </a:r>
            <a:endParaRPr>
              <a:solidFill>
                <a:schemeClr val="dk1"/>
              </a:solidFill>
              <a:latin typeface="Calibri"/>
              <a:ea typeface="Calibri"/>
              <a:cs typeface="Calibri"/>
              <a:sym typeface="Calibri"/>
            </a:endParaRPr>
          </a:p>
        </p:txBody>
      </p:sp>
      <p:sp>
        <p:nvSpPr>
          <p:cNvPr id="145" name="Google Shape;145;p10"/>
          <p:cNvSpPr/>
          <p:nvPr/>
        </p:nvSpPr>
        <p:spPr>
          <a:xfrm>
            <a:off x="457200" y="3246120"/>
            <a:ext cx="8229600" cy="457200"/>
          </a:xfrm>
          <a:prstGeom prst="rect">
            <a:avLst/>
          </a:prstGeom>
          <a:solidFill>
            <a:srgbClr val="99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0"/>
          <p:cNvSpPr/>
          <p:nvPr/>
        </p:nvSpPr>
        <p:spPr>
          <a:xfrm>
            <a:off x="640080" y="3246120"/>
            <a:ext cx="7863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Tech Stack: </a:t>
            </a:r>
            <a:r>
              <a:rPr b="0" i="0" lang="en-US" sz="1100" u="none" cap="none" strike="noStrike">
                <a:solidFill>
                  <a:srgbClr val="FFFFFF"/>
                </a:solidFill>
                <a:latin typeface="Arial"/>
                <a:ea typeface="Arial"/>
                <a:cs typeface="Arial"/>
                <a:sym typeface="Arial"/>
              </a:rPr>
              <a:t>Ollama, Crew-AI/LangChain Agents, CLIP, Redis, </a:t>
            </a:r>
            <a:r>
              <a:rPr lang="en-US" sz="1100">
                <a:solidFill>
                  <a:srgbClr val="FFFFFF"/>
                </a:solidFill>
              </a:rPr>
              <a:t>Qdrant</a:t>
            </a:r>
            <a:r>
              <a:rPr b="0" i="0" lang="en-US" sz="1100" u="none" cap="none" strike="noStrike">
                <a:solidFill>
                  <a:srgbClr val="FFFFFF"/>
                </a:solidFill>
                <a:latin typeface="Arial"/>
                <a:ea typeface="Arial"/>
                <a:cs typeface="Arial"/>
                <a:sym typeface="Arial"/>
              </a:rPr>
              <a:t>DB FastAPI, vLLM</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151" name="Shape 151"/>
        <p:cNvGrpSpPr/>
        <p:nvPr/>
      </p:nvGrpSpPr>
      <p:grpSpPr>
        <a:xfrm>
          <a:off x="0" y="0"/>
          <a:ext cx="0" cy="0"/>
          <a:chOff x="0" y="0"/>
          <a:chExt cx="0" cy="0"/>
        </a:xfrm>
      </p:grpSpPr>
      <p:sp>
        <p:nvSpPr>
          <p:cNvPr id="152" name="Google Shape;152;p11"/>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Task 2: Potential Improvements</a:t>
            </a:r>
            <a:endParaRPr b="0" i="0" sz="2600" u="none" cap="none" strike="noStrike">
              <a:solidFill>
                <a:schemeClr val="dk1"/>
              </a:solidFill>
              <a:latin typeface="Calibri"/>
              <a:ea typeface="Calibri"/>
              <a:cs typeface="Calibri"/>
              <a:sym typeface="Calibri"/>
            </a:endParaRPr>
          </a:p>
        </p:txBody>
      </p:sp>
      <p:sp>
        <p:nvSpPr>
          <p:cNvPr id="154" name="Google Shape;154;p11"/>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1"/>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156" name="Google Shape;156;p11"/>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157" name="Google Shape;157;p11"/>
          <p:cNvSpPr/>
          <p:nvPr/>
        </p:nvSpPr>
        <p:spPr>
          <a:xfrm>
            <a:off x="457200" y="1097280"/>
            <a:ext cx="3886200" cy="14630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a:off x="457200" y="1097280"/>
            <a:ext cx="54864" cy="14630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1"/>
          <p:cNvSpPr/>
          <p:nvPr/>
        </p:nvSpPr>
        <p:spPr>
          <a:xfrm>
            <a:off x="640080" y="1188720"/>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Real-Time Performance</a:t>
            </a:r>
            <a:endParaRPr b="0" i="0" sz="1300" u="none" cap="none" strike="noStrike">
              <a:solidFill>
                <a:schemeClr val="dk1"/>
              </a:solidFill>
              <a:latin typeface="Calibri"/>
              <a:ea typeface="Calibri"/>
              <a:cs typeface="Calibri"/>
              <a:sym typeface="Calibri"/>
            </a:endParaRPr>
          </a:p>
        </p:txBody>
      </p:sp>
      <p:sp>
        <p:nvSpPr>
          <p:cNvPr id="160" name="Google Shape;160;p11"/>
          <p:cNvSpPr/>
          <p:nvPr/>
        </p:nvSpPr>
        <p:spPr>
          <a:xfrm>
            <a:off x="685800" y="1554480"/>
            <a:ext cx="3429000" cy="9144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Edge inference with Low Latency and Memory Usages</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Batch optimization</a:t>
            </a:r>
            <a:endParaRPr b="0" i="0" sz="1000" u="none" cap="none" strike="noStrike">
              <a:solidFill>
                <a:schemeClr val="dk1"/>
              </a:solidFill>
              <a:latin typeface="Calibri"/>
              <a:ea typeface="Calibri"/>
              <a:cs typeface="Calibri"/>
              <a:sym typeface="Calibri"/>
            </a:endParaRPr>
          </a:p>
        </p:txBody>
      </p:sp>
      <p:sp>
        <p:nvSpPr>
          <p:cNvPr id="161" name="Google Shape;161;p11"/>
          <p:cNvSpPr/>
          <p:nvPr/>
        </p:nvSpPr>
        <p:spPr>
          <a:xfrm>
            <a:off x="4800600" y="1097280"/>
            <a:ext cx="3886200" cy="14630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a:off x="4800600" y="1097280"/>
            <a:ext cx="54864" cy="14630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1"/>
          <p:cNvSpPr/>
          <p:nvPr/>
        </p:nvSpPr>
        <p:spPr>
          <a:xfrm>
            <a:off x="4983480" y="1188720"/>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Multi-Modal Integration</a:t>
            </a:r>
            <a:endParaRPr b="0" i="0" sz="1300" u="none" cap="none" strike="noStrike">
              <a:solidFill>
                <a:schemeClr val="dk1"/>
              </a:solidFill>
              <a:latin typeface="Calibri"/>
              <a:ea typeface="Calibri"/>
              <a:cs typeface="Calibri"/>
              <a:sym typeface="Calibri"/>
            </a:endParaRPr>
          </a:p>
        </p:txBody>
      </p:sp>
      <p:sp>
        <p:nvSpPr>
          <p:cNvPr id="164" name="Google Shape;164;p11"/>
          <p:cNvSpPr/>
          <p:nvPr/>
        </p:nvSpPr>
        <p:spPr>
          <a:xfrm>
            <a:off x="5029200" y="1554480"/>
            <a:ext cx="3429000" cy="9144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CV aided Image feature extraction</a:t>
            </a:r>
            <a:endParaRPr b="0" i="0" sz="1000" u="none" cap="none" strike="noStrike">
              <a:solidFill>
                <a:schemeClr val="dk1"/>
              </a:solidFill>
              <a:latin typeface="Calibri"/>
              <a:ea typeface="Calibri"/>
              <a:cs typeface="Calibri"/>
              <a:sym typeface="Calibri"/>
            </a:endParaRPr>
          </a:p>
        </p:txBody>
      </p:sp>
      <p:sp>
        <p:nvSpPr>
          <p:cNvPr id="165" name="Google Shape;165;p11"/>
          <p:cNvSpPr/>
          <p:nvPr/>
        </p:nvSpPr>
        <p:spPr>
          <a:xfrm>
            <a:off x="457200" y="2743200"/>
            <a:ext cx="3886200" cy="14630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a:off x="457200" y="2743200"/>
            <a:ext cx="54864" cy="14630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a:off x="640080" y="2834640"/>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Operator Experience</a:t>
            </a:r>
            <a:endParaRPr b="0" i="0" sz="1300" u="none" cap="none" strike="noStrike">
              <a:solidFill>
                <a:schemeClr val="dk1"/>
              </a:solidFill>
              <a:latin typeface="Calibri"/>
              <a:ea typeface="Calibri"/>
              <a:cs typeface="Calibri"/>
              <a:sym typeface="Calibri"/>
            </a:endParaRPr>
          </a:p>
        </p:txBody>
      </p:sp>
      <p:sp>
        <p:nvSpPr>
          <p:cNvPr id="168" name="Google Shape;168;p11"/>
          <p:cNvSpPr/>
          <p:nvPr/>
        </p:nvSpPr>
        <p:spPr>
          <a:xfrm>
            <a:off x="685800" y="3200400"/>
            <a:ext cx="3429000" cy="9144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Confidence-ranked suggestions and reduce dismissible recommendations</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Preference learning (a subfield of ML that models and predicts user preferences based on observed data)</a:t>
            </a:r>
            <a:endParaRPr b="0" i="0" sz="1000" u="none" cap="none" strike="noStrike">
              <a:solidFill>
                <a:schemeClr val="dk1"/>
              </a:solidFill>
              <a:latin typeface="Calibri"/>
              <a:ea typeface="Calibri"/>
              <a:cs typeface="Calibri"/>
              <a:sym typeface="Calibri"/>
            </a:endParaRPr>
          </a:p>
        </p:txBody>
      </p:sp>
      <p:sp>
        <p:nvSpPr>
          <p:cNvPr id="169" name="Google Shape;169;p11"/>
          <p:cNvSpPr/>
          <p:nvPr/>
        </p:nvSpPr>
        <p:spPr>
          <a:xfrm>
            <a:off x="4800600" y="2743200"/>
            <a:ext cx="3886200" cy="14630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1"/>
          <p:cNvSpPr/>
          <p:nvPr/>
        </p:nvSpPr>
        <p:spPr>
          <a:xfrm>
            <a:off x="4800600" y="2743200"/>
            <a:ext cx="54864" cy="14630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a:off x="4983480" y="2834640"/>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Quality Assurance</a:t>
            </a:r>
            <a:endParaRPr b="0" i="0" sz="1300" u="none" cap="none" strike="noStrike">
              <a:solidFill>
                <a:schemeClr val="dk1"/>
              </a:solidFill>
              <a:latin typeface="Calibri"/>
              <a:ea typeface="Calibri"/>
              <a:cs typeface="Calibri"/>
              <a:sym typeface="Calibri"/>
            </a:endParaRPr>
          </a:p>
        </p:txBody>
      </p:sp>
      <p:sp>
        <p:nvSpPr>
          <p:cNvPr id="172" name="Google Shape;172;p11"/>
          <p:cNvSpPr/>
          <p:nvPr/>
        </p:nvSpPr>
        <p:spPr>
          <a:xfrm>
            <a:off x="5029200" y="3200400"/>
            <a:ext cx="3429000" cy="9144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Maintaining guidance quality consisten</a:t>
            </a:r>
            <a:r>
              <a:rPr lang="en-US" sz="1000">
                <a:solidFill>
                  <a:srgbClr val="333333"/>
                </a:solidFill>
              </a:rPr>
              <a:t>tly</a:t>
            </a:r>
            <a:r>
              <a:rPr b="0" i="0" lang="en-US" sz="1000" u="none" cap="none" strike="noStrike">
                <a:solidFill>
                  <a:srgbClr val="333333"/>
                </a:solidFill>
                <a:latin typeface="Arial"/>
                <a:ea typeface="Arial"/>
                <a:cs typeface="Arial"/>
                <a:sym typeface="Arial"/>
              </a:rPr>
              <a:t> by quality scoring</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177" name="Shape 177"/>
        <p:cNvGrpSpPr/>
        <p:nvPr/>
      </p:nvGrpSpPr>
      <p:grpSpPr>
        <a:xfrm>
          <a:off x="0" y="0"/>
          <a:ext cx="0" cy="0"/>
          <a:chOff x="0" y="0"/>
          <a:chExt cx="0" cy="0"/>
        </a:xfrm>
      </p:grpSpPr>
      <p:sp>
        <p:nvSpPr>
          <p:cNvPr id="178" name="Google Shape;178;p12"/>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2"/>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Task 3: Vein Identification &amp; Segmentation</a:t>
            </a:r>
            <a:endParaRPr b="0" i="0" sz="2600" u="none" cap="none" strike="noStrike">
              <a:solidFill>
                <a:schemeClr val="dk1"/>
              </a:solidFill>
              <a:latin typeface="Calibri"/>
              <a:ea typeface="Calibri"/>
              <a:cs typeface="Calibri"/>
              <a:sym typeface="Calibri"/>
            </a:endParaRPr>
          </a:p>
        </p:txBody>
      </p:sp>
      <p:sp>
        <p:nvSpPr>
          <p:cNvPr id="180" name="Google Shape;180;p12"/>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2"/>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182" name="Google Shape;182;p12"/>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183" name="Google Shape;183;p12"/>
          <p:cNvSpPr/>
          <p:nvPr/>
        </p:nvSpPr>
        <p:spPr>
          <a:xfrm>
            <a:off x="457200" y="100584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100"/>
              <a:buFont typeface="Arial"/>
              <a:buNone/>
            </a:pPr>
            <a:r>
              <a:rPr b="1" i="0" lang="en-US" sz="1100" u="none" cap="none" strike="noStrike">
                <a:solidFill>
                  <a:srgbClr val="990000"/>
                </a:solidFill>
                <a:latin typeface="Arial"/>
                <a:ea typeface="Arial"/>
                <a:cs typeface="Arial"/>
                <a:sym typeface="Arial"/>
              </a:rPr>
              <a:t>Goal: </a:t>
            </a:r>
            <a:r>
              <a:rPr b="0" i="0" lang="en-US" sz="1100" u="none" cap="none" strike="noStrike">
                <a:solidFill>
                  <a:srgbClr val="333333"/>
                </a:solidFill>
                <a:latin typeface="Arial"/>
                <a:ea typeface="Arial"/>
                <a:cs typeface="Arial"/>
                <a:sym typeface="Arial"/>
              </a:rPr>
              <a:t>Automated vision-based vein detection     </a:t>
            </a:r>
            <a:endParaRPr b="0" i="0" sz="1100" u="none" cap="none" strike="noStrike">
              <a:solidFill>
                <a:srgbClr val="333333"/>
              </a:solidFill>
              <a:latin typeface="Arial"/>
              <a:ea typeface="Arial"/>
              <a:cs typeface="Arial"/>
              <a:sym typeface="Arial"/>
            </a:endParaRPr>
          </a:p>
          <a:p>
            <a:pPr indent="0" lvl="0" marL="0" marR="0" rtl="0" algn="l">
              <a:spcBef>
                <a:spcPts val="0"/>
              </a:spcBef>
              <a:spcAft>
                <a:spcPts val="0"/>
              </a:spcAft>
              <a:buClr>
                <a:srgbClr val="990000"/>
              </a:buClr>
              <a:buSzPts val="1100"/>
              <a:buFont typeface="Arial"/>
              <a:buNone/>
            </a:pPr>
            <a:r>
              <a:rPr b="1" i="0" lang="en-US" sz="1100" u="none" cap="none" strike="noStrike">
                <a:solidFill>
                  <a:srgbClr val="990000"/>
                </a:solidFill>
                <a:latin typeface="Arial"/>
                <a:ea typeface="Arial"/>
                <a:cs typeface="Arial"/>
                <a:sym typeface="Arial"/>
              </a:rPr>
              <a:t>Input: prompt from </a:t>
            </a:r>
            <a:r>
              <a:rPr b="0" i="0" lang="en-US" sz="1100" u="none" cap="none" strike="noStrike">
                <a:solidFill>
                  <a:srgbClr val="333333"/>
                </a:solidFill>
                <a:latin typeface="Arial"/>
                <a:ea typeface="Arial"/>
                <a:cs typeface="Arial"/>
                <a:sym typeface="Arial"/>
              </a:rPr>
              <a:t>An annotated image with fascia and vein annotations</a:t>
            </a:r>
            <a:endParaRPr b="0" i="0" sz="1100" u="none" cap="none" strike="noStrike">
              <a:solidFill>
                <a:srgbClr val="333333"/>
              </a:solidFill>
              <a:latin typeface="Arial"/>
              <a:ea typeface="Arial"/>
              <a:cs typeface="Arial"/>
              <a:sym typeface="Arial"/>
            </a:endParaRPr>
          </a:p>
          <a:p>
            <a:pPr indent="0" lvl="0" marL="0" rtl="0" algn="l">
              <a:spcBef>
                <a:spcPts val="0"/>
              </a:spcBef>
              <a:spcAft>
                <a:spcPts val="0"/>
              </a:spcAft>
              <a:buClr>
                <a:srgbClr val="990000"/>
              </a:buClr>
              <a:buSzPts val="1100"/>
              <a:buFont typeface="Arial"/>
              <a:buNone/>
            </a:pPr>
            <a:r>
              <a:rPr b="1" lang="en-US" sz="1100">
                <a:solidFill>
                  <a:srgbClr val="990000"/>
                </a:solidFill>
              </a:rPr>
              <a:t>Context: </a:t>
            </a:r>
            <a:r>
              <a:rPr lang="en-US" sz="1100">
                <a:solidFill>
                  <a:srgbClr val="333333"/>
                </a:solidFill>
              </a:rPr>
              <a:t>We can use Vision LLMs armed with medical literature in RAG to classify the veins more efficiently and accurately than the existing rule based algorithm. </a:t>
            </a:r>
            <a:endParaRPr sz="1100">
              <a:solidFill>
                <a:srgbClr val="333333"/>
              </a:solidFill>
            </a:endParaRPr>
          </a:p>
        </p:txBody>
      </p:sp>
      <p:sp>
        <p:nvSpPr>
          <p:cNvPr id="184" name="Google Shape;184;p12"/>
          <p:cNvSpPr/>
          <p:nvPr/>
        </p:nvSpPr>
        <p:spPr>
          <a:xfrm>
            <a:off x="457200" y="1568190"/>
            <a:ext cx="8229600" cy="292620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2"/>
          <p:cNvSpPr/>
          <p:nvPr/>
        </p:nvSpPr>
        <p:spPr>
          <a:xfrm>
            <a:off x="640080" y="155448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400"/>
              <a:buFont typeface="Georgia"/>
              <a:buNone/>
            </a:pPr>
            <a:r>
              <a:rPr b="1" i="0" lang="en-US" sz="1400" u="none" cap="none" strike="noStrike">
                <a:solidFill>
                  <a:srgbClr val="990000"/>
                </a:solidFill>
                <a:latin typeface="Georgia"/>
                <a:ea typeface="Georgia"/>
                <a:cs typeface="Georgia"/>
                <a:sym typeface="Georgia"/>
              </a:rPr>
              <a:t>Phase 1 Approach</a:t>
            </a:r>
            <a:endParaRPr b="0" i="0" sz="1400" u="none" cap="none" strike="noStrike">
              <a:solidFill>
                <a:schemeClr val="dk1"/>
              </a:solidFill>
              <a:latin typeface="Calibri"/>
              <a:ea typeface="Calibri"/>
              <a:cs typeface="Calibri"/>
              <a:sym typeface="Calibri"/>
            </a:endParaRPr>
          </a:p>
        </p:txBody>
      </p:sp>
      <p:sp>
        <p:nvSpPr>
          <p:cNvPr id="186" name="Google Shape;186;p12"/>
          <p:cNvSpPr/>
          <p:nvPr/>
        </p:nvSpPr>
        <p:spPr>
          <a:xfrm>
            <a:off x="731520" y="1920240"/>
            <a:ext cx="7680960" cy="2286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100"/>
              <a:buFont typeface="Arial"/>
              <a:buChar char="•"/>
            </a:pPr>
            <a:r>
              <a:rPr lang="en-US" sz="1100">
                <a:solidFill>
                  <a:srgbClr val="333333"/>
                </a:solidFill>
              </a:rPr>
              <a:t>Real-time vein classification in annotated ultrasound streams using LLMs.</a:t>
            </a:r>
            <a:endParaRPr sz="1100">
              <a:solidFill>
                <a:srgbClr val="333333"/>
              </a:solidFill>
            </a:endParaRPr>
          </a:p>
          <a:p>
            <a:pPr indent="-342900" lvl="0" marL="342900" marR="0" rtl="0" algn="l">
              <a:spcBef>
                <a:spcPts val="0"/>
              </a:spcBef>
              <a:spcAft>
                <a:spcPts val="0"/>
              </a:spcAft>
              <a:buClr>
                <a:srgbClr val="333333"/>
              </a:buClr>
              <a:buSzPts val="1100"/>
              <a:buFont typeface="Arial"/>
              <a:buChar char="•"/>
            </a:pPr>
            <a:r>
              <a:rPr lang="en-US" sz="1100">
                <a:solidFill>
                  <a:srgbClr val="333333"/>
                </a:solidFill>
              </a:rPr>
              <a:t>Formulating the base prompt describing the different types of veins like N1,N2,N3</a:t>
            </a:r>
            <a:r>
              <a:rPr lang="en-US" sz="1100">
                <a:solidFill>
                  <a:srgbClr val="333333"/>
                </a:solidFill>
              </a:rPr>
              <a:t> and fascia to provide basic understanding to the VLM on how the veins can be classified based on their relative position wrt fascia.</a:t>
            </a:r>
            <a:endParaRPr sz="1100">
              <a:solidFill>
                <a:srgbClr val="333333"/>
              </a:solidFill>
            </a:endParaRPr>
          </a:p>
          <a:p>
            <a:pPr indent="-342900" lvl="0" marL="342900" marR="0" rtl="0" algn="l">
              <a:spcBef>
                <a:spcPts val="0"/>
              </a:spcBef>
              <a:spcAft>
                <a:spcPts val="0"/>
              </a:spcAft>
              <a:buClr>
                <a:srgbClr val="333333"/>
              </a:buClr>
              <a:buSzPts val="1100"/>
              <a:buFont typeface="Arial"/>
              <a:buChar char="•"/>
            </a:pPr>
            <a:r>
              <a:rPr lang="en-US" sz="1100">
                <a:solidFill>
                  <a:srgbClr val="333333"/>
                </a:solidFill>
              </a:rPr>
              <a:t>Get sample data from lucas and </a:t>
            </a:r>
            <a:r>
              <a:rPr lang="en-US" sz="1100">
                <a:solidFill>
                  <a:srgbClr val="333333"/>
                </a:solidFill>
              </a:rPr>
              <a:t>Scrap data from book or internet and annotate them to build a dataset for testing and for providing few shot examples to the VLM model.</a:t>
            </a:r>
            <a:endParaRPr sz="1100">
              <a:solidFill>
                <a:schemeClr val="dk1"/>
              </a:solidFill>
              <a:latin typeface="Calibri"/>
              <a:ea typeface="Calibri"/>
              <a:cs typeface="Calibri"/>
              <a:sym typeface="Calibri"/>
            </a:endParaRPr>
          </a:p>
          <a:p>
            <a:pPr indent="-342900" lvl="0" marL="342900" marR="0" rtl="0" algn="l">
              <a:spcBef>
                <a:spcPts val="0"/>
              </a:spcBef>
              <a:spcAft>
                <a:spcPts val="0"/>
              </a:spcAft>
              <a:buClr>
                <a:srgbClr val="333333"/>
              </a:buClr>
              <a:buSzPts val="1100"/>
              <a:buFont typeface="Arial"/>
              <a:buChar char="•"/>
            </a:pPr>
            <a:r>
              <a:rPr b="0" i="0" lang="en-US" sz="1100" u="none" cap="none" strike="noStrike">
                <a:solidFill>
                  <a:srgbClr val="333333"/>
                </a:solidFill>
                <a:latin typeface="Arial"/>
                <a:ea typeface="Arial"/>
                <a:cs typeface="Arial"/>
                <a:sym typeface="Arial"/>
              </a:rPr>
              <a:t>Integration of RAG database grounded on CHIVA medical literature and inferencing this knowledge as context to the LLM to </a:t>
            </a:r>
            <a:r>
              <a:rPr lang="en-US" sz="1100">
                <a:solidFill>
                  <a:srgbClr val="333333"/>
                </a:solidFill>
              </a:rPr>
              <a:t>improve</a:t>
            </a:r>
            <a:r>
              <a:rPr lang="en-US" sz="1100">
                <a:solidFill>
                  <a:srgbClr val="333333"/>
                </a:solidFill>
              </a:rPr>
              <a:t> the quality of classification by the VLM.</a:t>
            </a:r>
            <a:endParaRPr sz="1100">
              <a:solidFill>
                <a:srgbClr val="333333"/>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191" name="Shape 191"/>
        <p:cNvGrpSpPr/>
        <p:nvPr/>
      </p:nvGrpSpPr>
      <p:grpSpPr>
        <a:xfrm>
          <a:off x="0" y="0"/>
          <a:ext cx="0" cy="0"/>
          <a:chOff x="0" y="0"/>
          <a:chExt cx="0" cy="0"/>
        </a:xfrm>
      </p:grpSpPr>
      <p:sp>
        <p:nvSpPr>
          <p:cNvPr id="192" name="Google Shape;192;p13"/>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3"/>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Task 3: Vein </a:t>
            </a:r>
            <a:r>
              <a:rPr b="1" lang="en-US" sz="2600">
                <a:solidFill>
                  <a:srgbClr val="990000"/>
                </a:solidFill>
                <a:latin typeface="Georgia"/>
                <a:ea typeface="Georgia"/>
                <a:cs typeface="Georgia"/>
                <a:sym typeface="Georgia"/>
              </a:rPr>
              <a:t>classification with LLM</a:t>
            </a:r>
            <a:endParaRPr b="0" i="0" sz="2600" u="none" cap="none" strike="noStrike">
              <a:solidFill>
                <a:schemeClr val="dk1"/>
              </a:solidFill>
              <a:latin typeface="Calibri"/>
              <a:ea typeface="Calibri"/>
              <a:cs typeface="Calibri"/>
              <a:sym typeface="Calibri"/>
            </a:endParaRPr>
          </a:p>
        </p:txBody>
      </p:sp>
      <p:sp>
        <p:nvSpPr>
          <p:cNvPr id="194" name="Google Shape;194;p13"/>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3"/>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196" name="Google Shape;196;p13"/>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197" name="Google Shape;197;p13"/>
          <p:cNvSpPr/>
          <p:nvPr/>
        </p:nvSpPr>
        <p:spPr>
          <a:xfrm>
            <a:off x="457200" y="1005840"/>
            <a:ext cx="8229600" cy="137160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3"/>
          <p:cNvSpPr/>
          <p:nvPr/>
        </p:nvSpPr>
        <p:spPr>
          <a:xfrm>
            <a:off x="640080" y="109728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400"/>
              <a:buFont typeface="Georgia"/>
              <a:buNone/>
            </a:pPr>
            <a:r>
              <a:rPr b="1" i="0" lang="en-US" sz="1400" u="none" cap="none" strike="noStrike">
                <a:solidFill>
                  <a:srgbClr val="990000"/>
                </a:solidFill>
                <a:latin typeface="Georgia"/>
                <a:ea typeface="Georgia"/>
                <a:cs typeface="Georgia"/>
                <a:sym typeface="Georgia"/>
              </a:rPr>
              <a:t>Phase 2 (if needed)</a:t>
            </a:r>
            <a:endParaRPr b="0" i="0" sz="1400" u="none" cap="none" strike="noStrike">
              <a:solidFill>
                <a:schemeClr val="dk1"/>
              </a:solidFill>
              <a:latin typeface="Calibri"/>
              <a:ea typeface="Calibri"/>
              <a:cs typeface="Calibri"/>
              <a:sym typeface="Calibri"/>
            </a:endParaRPr>
          </a:p>
        </p:txBody>
      </p:sp>
      <p:sp>
        <p:nvSpPr>
          <p:cNvPr id="199" name="Google Shape;199;p13"/>
          <p:cNvSpPr/>
          <p:nvPr/>
        </p:nvSpPr>
        <p:spPr>
          <a:xfrm>
            <a:off x="731520" y="1463040"/>
            <a:ext cx="7680960" cy="731520"/>
          </a:xfrm>
          <a:prstGeom prst="rect">
            <a:avLst/>
          </a:prstGeom>
          <a:noFill/>
          <a:ln>
            <a:noFill/>
          </a:ln>
        </p:spPr>
        <p:txBody>
          <a:bodyPr anchorCtr="0" anchor="t" bIns="0" lIns="0" spcFirstLastPara="1" rIns="0" wrap="square" tIns="0">
            <a:noAutofit/>
          </a:bodyPr>
          <a:lstStyle/>
          <a:p>
            <a:pPr indent="-349250" lvl="0" marL="342900" rtl="0" algn="l">
              <a:spcBef>
                <a:spcPts val="0"/>
              </a:spcBef>
              <a:spcAft>
                <a:spcPts val="0"/>
              </a:spcAft>
              <a:buClr>
                <a:srgbClr val="333333"/>
              </a:buClr>
              <a:buSzPts val="1200"/>
              <a:buChar char="•"/>
            </a:pPr>
            <a:r>
              <a:rPr lang="en-US" sz="1200">
                <a:solidFill>
                  <a:srgbClr val="333333"/>
                </a:solidFill>
              </a:rPr>
              <a:t>Achieve Low-latency processing with more efficient context retrieval from RAG and efficient prompting. </a:t>
            </a:r>
            <a:endParaRPr sz="1200">
              <a:solidFill>
                <a:srgbClr val="333333"/>
              </a:solidFill>
            </a:endParaRPr>
          </a:p>
          <a:p>
            <a:pPr indent="-349250" lvl="0" marL="342900" rtl="0" algn="l">
              <a:spcBef>
                <a:spcPts val="0"/>
              </a:spcBef>
              <a:spcAft>
                <a:spcPts val="0"/>
              </a:spcAft>
              <a:buClr>
                <a:srgbClr val="333333"/>
              </a:buClr>
              <a:buSzPts val="1200"/>
              <a:buChar char="•"/>
            </a:pPr>
            <a:r>
              <a:rPr lang="en-US" sz="1200">
                <a:solidFill>
                  <a:srgbClr val="333333"/>
                </a:solidFill>
              </a:rPr>
              <a:t>Fine-tune Vision LLM on labeled ultrasound datasets.</a:t>
            </a:r>
            <a:endParaRPr sz="1200">
              <a:solidFill>
                <a:srgbClr val="333333"/>
              </a:solidFill>
            </a:endParaRPr>
          </a:p>
          <a:p>
            <a:pPr indent="-349250" lvl="0" marL="342900" rtl="0" algn="l">
              <a:spcBef>
                <a:spcPts val="0"/>
              </a:spcBef>
              <a:spcAft>
                <a:spcPts val="0"/>
              </a:spcAft>
              <a:buClr>
                <a:srgbClr val="333333"/>
              </a:buClr>
              <a:buSzPts val="1200"/>
              <a:buChar char="•"/>
            </a:pPr>
            <a:r>
              <a:rPr lang="en-US" sz="1200">
                <a:solidFill>
                  <a:srgbClr val="333333"/>
                </a:solidFill>
              </a:rPr>
              <a:t>Monitor the classification metric and improve accuracy.</a:t>
            </a:r>
            <a:endParaRPr sz="1200">
              <a:solidFill>
                <a:srgbClr val="333333"/>
              </a:solidFill>
            </a:endParaRPr>
          </a:p>
        </p:txBody>
      </p:sp>
      <p:sp>
        <p:nvSpPr>
          <p:cNvPr id="200" name="Google Shape;200;p13"/>
          <p:cNvSpPr/>
          <p:nvPr/>
        </p:nvSpPr>
        <p:spPr>
          <a:xfrm>
            <a:off x="457200" y="2606040"/>
            <a:ext cx="8229600" cy="457200"/>
          </a:xfrm>
          <a:prstGeom prst="rect">
            <a:avLst/>
          </a:prstGeom>
          <a:solidFill>
            <a:srgbClr val="99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3"/>
          <p:cNvSpPr/>
          <p:nvPr/>
        </p:nvSpPr>
        <p:spPr>
          <a:xfrm>
            <a:off x="640080" y="2606040"/>
            <a:ext cx="7863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Tech Stack: </a:t>
            </a:r>
            <a:r>
              <a:rPr b="0" i="0" lang="en-US" sz="1100" u="none" cap="none" strike="noStrike">
                <a:solidFill>
                  <a:srgbClr val="FFFFFF"/>
                </a:solidFill>
                <a:latin typeface="Arial"/>
                <a:ea typeface="Arial"/>
                <a:cs typeface="Arial"/>
                <a:sym typeface="Arial"/>
              </a:rPr>
              <a:t>OpenCV, Claude/OpenAI Vision LLM APIs, Hugging Face Vision LLMs, Ollama</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06" name="Shape 206"/>
        <p:cNvGrpSpPr/>
        <p:nvPr/>
      </p:nvGrpSpPr>
      <p:grpSpPr>
        <a:xfrm>
          <a:off x="0" y="0"/>
          <a:ext cx="0" cy="0"/>
          <a:chOff x="0" y="0"/>
          <a:chExt cx="0" cy="0"/>
        </a:xfrm>
      </p:grpSpPr>
      <p:sp>
        <p:nvSpPr>
          <p:cNvPr id="207" name="Google Shape;207;p14"/>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4"/>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Task 3: Potential Improvements</a:t>
            </a:r>
            <a:endParaRPr b="0" i="0" sz="2600" u="none" cap="none" strike="noStrike">
              <a:solidFill>
                <a:schemeClr val="dk1"/>
              </a:solidFill>
              <a:latin typeface="Calibri"/>
              <a:ea typeface="Calibri"/>
              <a:cs typeface="Calibri"/>
              <a:sym typeface="Calibri"/>
            </a:endParaRPr>
          </a:p>
        </p:txBody>
      </p:sp>
      <p:sp>
        <p:nvSpPr>
          <p:cNvPr id="209" name="Google Shape;209;p14"/>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4"/>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211" name="Google Shape;211;p14"/>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212" name="Google Shape;212;p14"/>
          <p:cNvSpPr/>
          <p:nvPr/>
        </p:nvSpPr>
        <p:spPr>
          <a:xfrm>
            <a:off x="457200" y="1097280"/>
            <a:ext cx="3886200" cy="14630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4"/>
          <p:cNvSpPr/>
          <p:nvPr/>
        </p:nvSpPr>
        <p:spPr>
          <a:xfrm>
            <a:off x="457200" y="1097280"/>
            <a:ext cx="54864" cy="14630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4"/>
          <p:cNvSpPr/>
          <p:nvPr/>
        </p:nvSpPr>
        <p:spPr>
          <a:xfrm>
            <a:off x="640080" y="1188720"/>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Detection Accuracy</a:t>
            </a:r>
            <a:endParaRPr b="0" i="0" sz="1300" u="none" cap="none" strike="noStrike">
              <a:solidFill>
                <a:schemeClr val="dk1"/>
              </a:solidFill>
              <a:latin typeface="Calibri"/>
              <a:ea typeface="Calibri"/>
              <a:cs typeface="Calibri"/>
              <a:sym typeface="Calibri"/>
            </a:endParaRPr>
          </a:p>
        </p:txBody>
      </p:sp>
      <p:sp>
        <p:nvSpPr>
          <p:cNvPr id="215" name="Google Shape;215;p14"/>
          <p:cNvSpPr/>
          <p:nvPr/>
        </p:nvSpPr>
        <p:spPr>
          <a:xfrm>
            <a:off x="685800" y="1554480"/>
            <a:ext cx="3429000" cy="9144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Fine-tune on ultrasound datasets</a:t>
            </a:r>
            <a:endParaRPr b="0" i="0" sz="10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Attention mechanisms and adaptations</a:t>
            </a:r>
            <a:endParaRPr b="0" i="0" sz="1050" u="none" cap="none" strike="noStrike">
              <a:solidFill>
                <a:schemeClr val="dk1"/>
              </a:solidFill>
              <a:latin typeface="Calibri"/>
              <a:ea typeface="Calibri"/>
              <a:cs typeface="Calibri"/>
              <a:sym typeface="Calibri"/>
            </a:endParaRPr>
          </a:p>
        </p:txBody>
      </p:sp>
      <p:sp>
        <p:nvSpPr>
          <p:cNvPr id="216" name="Google Shape;216;p14"/>
          <p:cNvSpPr/>
          <p:nvPr/>
        </p:nvSpPr>
        <p:spPr>
          <a:xfrm>
            <a:off x="4800600" y="1097280"/>
            <a:ext cx="3886200" cy="14630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4"/>
          <p:cNvSpPr/>
          <p:nvPr/>
        </p:nvSpPr>
        <p:spPr>
          <a:xfrm>
            <a:off x="4800600" y="1097280"/>
            <a:ext cx="54864" cy="14630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4"/>
          <p:cNvSpPr/>
          <p:nvPr/>
        </p:nvSpPr>
        <p:spPr>
          <a:xfrm>
            <a:off x="4983480" y="1188720"/>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Speed &amp; Efficiency</a:t>
            </a:r>
            <a:endParaRPr b="0" i="0" sz="1300" u="none" cap="none" strike="noStrike">
              <a:solidFill>
                <a:schemeClr val="dk1"/>
              </a:solidFill>
              <a:latin typeface="Calibri"/>
              <a:ea typeface="Calibri"/>
              <a:cs typeface="Calibri"/>
              <a:sym typeface="Calibri"/>
            </a:endParaRPr>
          </a:p>
        </p:txBody>
      </p:sp>
      <p:sp>
        <p:nvSpPr>
          <p:cNvPr id="219" name="Google Shape;219;p14"/>
          <p:cNvSpPr/>
          <p:nvPr/>
        </p:nvSpPr>
        <p:spPr>
          <a:xfrm>
            <a:off x="5029200" y="1554480"/>
            <a:ext cx="3429000" cy="9144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Model distillation</a:t>
            </a:r>
            <a:endParaRPr b="0" i="0" sz="10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ONNX optimization</a:t>
            </a:r>
            <a:endParaRPr b="0" i="0" sz="10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GPU acceleration</a:t>
            </a:r>
            <a:endParaRPr b="0" i="0" sz="1050" u="none" cap="none" strike="noStrike">
              <a:solidFill>
                <a:schemeClr val="dk1"/>
              </a:solidFill>
              <a:latin typeface="Calibri"/>
              <a:ea typeface="Calibri"/>
              <a:cs typeface="Calibri"/>
              <a:sym typeface="Calibri"/>
            </a:endParaRPr>
          </a:p>
        </p:txBody>
      </p:sp>
      <p:sp>
        <p:nvSpPr>
          <p:cNvPr id="220" name="Google Shape;220;p14"/>
          <p:cNvSpPr/>
          <p:nvPr/>
        </p:nvSpPr>
        <p:spPr>
          <a:xfrm>
            <a:off x="457200" y="2743200"/>
            <a:ext cx="3886200" cy="14630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4"/>
          <p:cNvSpPr/>
          <p:nvPr/>
        </p:nvSpPr>
        <p:spPr>
          <a:xfrm>
            <a:off x="457200" y="2743200"/>
            <a:ext cx="54864" cy="14630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4"/>
          <p:cNvSpPr/>
          <p:nvPr/>
        </p:nvSpPr>
        <p:spPr>
          <a:xfrm>
            <a:off x="640080" y="2834640"/>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Temporal Coherence</a:t>
            </a:r>
            <a:endParaRPr b="0" i="0" sz="1300" u="none" cap="none" strike="noStrike">
              <a:solidFill>
                <a:schemeClr val="dk1"/>
              </a:solidFill>
              <a:latin typeface="Calibri"/>
              <a:ea typeface="Calibri"/>
              <a:cs typeface="Calibri"/>
              <a:sym typeface="Calibri"/>
            </a:endParaRPr>
          </a:p>
        </p:txBody>
      </p:sp>
      <p:sp>
        <p:nvSpPr>
          <p:cNvPr id="223" name="Google Shape;223;p14"/>
          <p:cNvSpPr/>
          <p:nvPr/>
        </p:nvSpPr>
        <p:spPr>
          <a:xfrm>
            <a:off x="685800" y="3200400"/>
            <a:ext cx="3429000" cy="9144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Kalman filtering</a:t>
            </a:r>
            <a:endParaRPr b="0" i="0" sz="10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Using better tracking algorithms using VLMs or finetuned VLMs</a:t>
            </a:r>
            <a:endParaRPr b="0" i="0" sz="1050" u="none" cap="none" strike="noStrike">
              <a:solidFill>
                <a:schemeClr val="dk1"/>
              </a:solidFill>
              <a:latin typeface="Calibri"/>
              <a:ea typeface="Calibri"/>
              <a:cs typeface="Calibri"/>
              <a:sym typeface="Calibri"/>
            </a:endParaRPr>
          </a:p>
        </p:txBody>
      </p:sp>
      <p:sp>
        <p:nvSpPr>
          <p:cNvPr id="224" name="Google Shape;224;p14"/>
          <p:cNvSpPr/>
          <p:nvPr/>
        </p:nvSpPr>
        <p:spPr>
          <a:xfrm>
            <a:off x="4800600" y="2743200"/>
            <a:ext cx="3886200" cy="14630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4"/>
          <p:cNvSpPr/>
          <p:nvPr/>
        </p:nvSpPr>
        <p:spPr>
          <a:xfrm>
            <a:off x="4800600" y="2743200"/>
            <a:ext cx="54864" cy="14630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4"/>
          <p:cNvSpPr/>
          <p:nvPr/>
        </p:nvSpPr>
        <p:spPr>
          <a:xfrm>
            <a:off x="4983480" y="2834640"/>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Robustness</a:t>
            </a:r>
            <a:endParaRPr b="0" i="0" sz="1300" u="none" cap="none" strike="noStrike">
              <a:solidFill>
                <a:schemeClr val="dk1"/>
              </a:solidFill>
              <a:latin typeface="Calibri"/>
              <a:ea typeface="Calibri"/>
              <a:cs typeface="Calibri"/>
              <a:sym typeface="Calibri"/>
            </a:endParaRPr>
          </a:p>
        </p:txBody>
      </p:sp>
      <p:sp>
        <p:nvSpPr>
          <p:cNvPr id="227" name="Google Shape;227;p14"/>
          <p:cNvSpPr/>
          <p:nvPr/>
        </p:nvSpPr>
        <p:spPr>
          <a:xfrm>
            <a:off x="5029200" y="3200400"/>
            <a:ext cx="3429000" cy="9144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Imaging artifact handling</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32" name="Shape 232"/>
        <p:cNvGrpSpPr/>
        <p:nvPr/>
      </p:nvGrpSpPr>
      <p:grpSpPr>
        <a:xfrm>
          <a:off x="0" y="0"/>
          <a:ext cx="0" cy="0"/>
          <a:chOff x="0" y="0"/>
          <a:chExt cx="0" cy="0"/>
        </a:xfrm>
      </p:grpSpPr>
      <p:sp>
        <p:nvSpPr>
          <p:cNvPr id="233" name="Google Shape;233;p15"/>
          <p:cNvSpPr/>
          <p:nvPr/>
        </p:nvSpPr>
        <p:spPr>
          <a:xfrm>
            <a:off x="365760" y="320040"/>
            <a:ext cx="73200" cy="5028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5"/>
          <p:cNvSpPr/>
          <p:nvPr/>
        </p:nvSpPr>
        <p:spPr>
          <a:xfrm>
            <a:off x="548640" y="274320"/>
            <a:ext cx="77724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Task </a:t>
            </a:r>
            <a:r>
              <a:rPr b="1" lang="en-US" sz="2600">
                <a:solidFill>
                  <a:srgbClr val="990000"/>
                </a:solidFill>
                <a:latin typeface="Georgia"/>
                <a:ea typeface="Georgia"/>
                <a:cs typeface="Georgia"/>
                <a:sym typeface="Georgia"/>
              </a:rPr>
              <a:t>4</a:t>
            </a:r>
            <a:r>
              <a:rPr b="1" i="0" lang="en-US" sz="2600" u="none" cap="none" strike="noStrike">
                <a:solidFill>
                  <a:srgbClr val="990000"/>
                </a:solidFill>
                <a:latin typeface="Georgia"/>
                <a:ea typeface="Georgia"/>
                <a:cs typeface="Georgia"/>
                <a:sym typeface="Georgia"/>
              </a:rPr>
              <a:t>:</a:t>
            </a:r>
            <a:r>
              <a:rPr b="1" lang="en-US" sz="2600">
                <a:solidFill>
                  <a:srgbClr val="990000"/>
                </a:solidFill>
                <a:latin typeface="Georgia"/>
                <a:ea typeface="Georgia"/>
                <a:cs typeface="Georgia"/>
                <a:sym typeface="Georgia"/>
              </a:rPr>
              <a:t> VLM Approach</a:t>
            </a:r>
            <a:endParaRPr b="0" i="0" sz="2600" u="none" cap="none" strike="noStrike">
              <a:solidFill>
                <a:schemeClr val="dk1"/>
              </a:solidFill>
              <a:latin typeface="Calibri"/>
              <a:ea typeface="Calibri"/>
              <a:cs typeface="Calibri"/>
              <a:sym typeface="Calibri"/>
            </a:endParaRPr>
          </a:p>
        </p:txBody>
      </p:sp>
      <p:sp>
        <p:nvSpPr>
          <p:cNvPr id="235" name="Google Shape;235;p15"/>
          <p:cNvSpPr/>
          <p:nvPr/>
        </p:nvSpPr>
        <p:spPr>
          <a:xfrm>
            <a:off x="0" y="4709160"/>
            <a:ext cx="9144000" cy="4344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5"/>
          <p:cNvSpPr/>
          <p:nvPr/>
        </p:nvSpPr>
        <p:spPr>
          <a:xfrm>
            <a:off x="457200" y="4709160"/>
            <a:ext cx="4572000" cy="43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237" name="Google Shape;237;p15"/>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238" name="Google Shape;238;p15"/>
          <p:cNvSpPr/>
          <p:nvPr/>
        </p:nvSpPr>
        <p:spPr>
          <a:xfrm>
            <a:off x="457200" y="1005851"/>
            <a:ext cx="8229600" cy="148650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5"/>
          <p:cNvSpPr/>
          <p:nvPr/>
        </p:nvSpPr>
        <p:spPr>
          <a:xfrm>
            <a:off x="640080" y="1097280"/>
            <a:ext cx="3657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400"/>
              <a:buFont typeface="Georgia"/>
              <a:buNone/>
            </a:pPr>
            <a:r>
              <a:rPr b="1" lang="en-US">
                <a:solidFill>
                  <a:srgbClr val="990000"/>
                </a:solidFill>
                <a:latin typeface="Georgia"/>
                <a:ea typeface="Georgia"/>
                <a:cs typeface="Georgia"/>
                <a:sym typeface="Georgia"/>
              </a:rPr>
              <a:t>Approach</a:t>
            </a:r>
            <a:r>
              <a:rPr b="1" i="0" lang="en-US" sz="1400" u="none" cap="none" strike="noStrike">
                <a:solidFill>
                  <a:srgbClr val="990000"/>
                </a:solidFill>
                <a:latin typeface="Georgia"/>
                <a:ea typeface="Georgia"/>
                <a:cs typeface="Georgia"/>
                <a:sym typeface="Georgia"/>
              </a:rPr>
              <a:t> </a:t>
            </a:r>
            <a:endParaRPr b="0" i="0" sz="1400" u="none" cap="none" strike="noStrike">
              <a:solidFill>
                <a:schemeClr val="dk1"/>
              </a:solidFill>
              <a:latin typeface="Calibri"/>
              <a:ea typeface="Calibri"/>
              <a:cs typeface="Calibri"/>
              <a:sym typeface="Calibri"/>
            </a:endParaRPr>
          </a:p>
        </p:txBody>
      </p:sp>
      <p:sp>
        <p:nvSpPr>
          <p:cNvPr id="240" name="Google Shape;240;p15"/>
          <p:cNvSpPr/>
          <p:nvPr/>
        </p:nvSpPr>
        <p:spPr>
          <a:xfrm>
            <a:off x="731520" y="1463040"/>
            <a:ext cx="7680900" cy="731400"/>
          </a:xfrm>
          <a:prstGeom prst="rect">
            <a:avLst/>
          </a:prstGeom>
          <a:noFill/>
          <a:ln>
            <a:noFill/>
          </a:ln>
        </p:spPr>
        <p:txBody>
          <a:bodyPr anchorCtr="0" anchor="t" bIns="0" lIns="0" spcFirstLastPara="1" rIns="0" wrap="square" tIns="0">
            <a:noAutofit/>
          </a:bodyPr>
          <a:lstStyle/>
          <a:p>
            <a:pPr indent="-304800" lvl="0" marL="457200" rtl="0" algn="l">
              <a:spcBef>
                <a:spcPts val="0"/>
              </a:spcBef>
              <a:spcAft>
                <a:spcPts val="0"/>
              </a:spcAft>
              <a:buClr>
                <a:srgbClr val="333333"/>
              </a:buClr>
              <a:buSzPts val="1200"/>
              <a:buChar char="•"/>
            </a:pPr>
            <a:r>
              <a:rPr lang="en-US" sz="1200">
                <a:solidFill>
                  <a:srgbClr val="333333"/>
                </a:solidFill>
              </a:rPr>
              <a:t>Explore different Vision LLMs for ultrasound images and use them for probe guidance and vein classification.</a:t>
            </a:r>
            <a:endParaRPr sz="1200">
              <a:solidFill>
                <a:srgbClr val="333333"/>
              </a:solidFill>
            </a:endParaRPr>
          </a:p>
          <a:p>
            <a:pPr indent="-304800" lvl="0" marL="457200" rtl="0" algn="l">
              <a:spcBef>
                <a:spcPts val="0"/>
              </a:spcBef>
              <a:spcAft>
                <a:spcPts val="0"/>
              </a:spcAft>
              <a:buClr>
                <a:srgbClr val="333333"/>
              </a:buClr>
              <a:buSzPts val="1200"/>
              <a:buChar char="•"/>
            </a:pPr>
            <a:r>
              <a:rPr lang="en-US" sz="1200">
                <a:solidFill>
                  <a:srgbClr val="333333"/>
                </a:solidFill>
              </a:rPr>
              <a:t>Here we use VLM for Task-2 and improvising the Task-3 by providing more contextual understanding to the VLM through more data ingested in RAG and fes shot prompting. </a:t>
            </a:r>
            <a:endParaRPr sz="1200">
              <a:solidFill>
                <a:srgbClr val="333333"/>
              </a:solidFill>
            </a:endParaRPr>
          </a:p>
          <a:p>
            <a:pPr indent="-304800" lvl="0" marL="457200" rtl="0" algn="l">
              <a:spcBef>
                <a:spcPts val="0"/>
              </a:spcBef>
              <a:spcAft>
                <a:spcPts val="0"/>
              </a:spcAft>
              <a:buClr>
                <a:srgbClr val="333333"/>
              </a:buClr>
              <a:buSzPts val="1200"/>
              <a:buChar char="•"/>
            </a:pPr>
            <a:r>
              <a:rPr lang="en-US" sz="1200">
                <a:solidFill>
                  <a:srgbClr val="333333"/>
                </a:solidFill>
              </a:rPr>
              <a:t>Multi modal fusion of image + text inputs for Task-2(Probe Guidance).</a:t>
            </a:r>
            <a:endParaRPr sz="1200">
              <a:solidFill>
                <a:srgbClr val="333333"/>
              </a:solidFill>
            </a:endParaRPr>
          </a:p>
        </p:txBody>
      </p:sp>
      <p:sp>
        <p:nvSpPr>
          <p:cNvPr id="241" name="Google Shape;241;p15"/>
          <p:cNvSpPr/>
          <p:nvPr/>
        </p:nvSpPr>
        <p:spPr>
          <a:xfrm>
            <a:off x="457200" y="2606040"/>
            <a:ext cx="8229600" cy="457200"/>
          </a:xfrm>
          <a:prstGeom prst="rect">
            <a:avLst/>
          </a:prstGeom>
          <a:solidFill>
            <a:srgbClr val="99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5"/>
          <p:cNvSpPr/>
          <p:nvPr/>
        </p:nvSpPr>
        <p:spPr>
          <a:xfrm>
            <a:off x="640080" y="2606040"/>
            <a:ext cx="78639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Tech Stack: </a:t>
            </a:r>
            <a:r>
              <a:rPr b="0" i="0" lang="en-US" sz="1100" u="none" cap="none" strike="noStrike">
                <a:solidFill>
                  <a:srgbClr val="FFFFFF"/>
                </a:solidFill>
                <a:latin typeface="Arial"/>
                <a:ea typeface="Arial"/>
                <a:cs typeface="Arial"/>
                <a:sym typeface="Arial"/>
              </a:rPr>
              <a:t>OpenCV, Claude/OpenAI Vision LLM APIs, Hugging Face Vision LLMs, Ollama</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47" name="Shape 247"/>
        <p:cNvGrpSpPr/>
        <p:nvPr/>
      </p:nvGrpSpPr>
      <p:grpSpPr>
        <a:xfrm>
          <a:off x="0" y="0"/>
          <a:ext cx="0" cy="0"/>
          <a:chOff x="0" y="0"/>
          <a:chExt cx="0" cy="0"/>
        </a:xfrm>
      </p:grpSpPr>
      <p:sp>
        <p:nvSpPr>
          <p:cNvPr id="248" name="Google Shape;248;p16"/>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6"/>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Success Metrics &amp; KPIs</a:t>
            </a:r>
            <a:endParaRPr b="0" i="0" sz="2600" u="none" cap="none" strike="noStrike">
              <a:solidFill>
                <a:schemeClr val="dk1"/>
              </a:solidFill>
              <a:latin typeface="Calibri"/>
              <a:ea typeface="Calibri"/>
              <a:cs typeface="Calibri"/>
              <a:sym typeface="Calibri"/>
            </a:endParaRPr>
          </a:p>
        </p:txBody>
      </p:sp>
      <p:sp>
        <p:nvSpPr>
          <p:cNvPr id="250" name="Google Shape;250;p16"/>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6"/>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252" name="Google Shape;252;p16"/>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253" name="Google Shape;253;p16"/>
          <p:cNvSpPr/>
          <p:nvPr/>
        </p:nvSpPr>
        <p:spPr>
          <a:xfrm>
            <a:off x="457200" y="1051560"/>
            <a:ext cx="8229600" cy="105156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6"/>
          <p:cNvSpPr/>
          <p:nvPr/>
        </p:nvSpPr>
        <p:spPr>
          <a:xfrm>
            <a:off x="457200" y="1051560"/>
            <a:ext cx="54864" cy="105156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6"/>
          <p:cNvSpPr/>
          <p:nvPr/>
        </p:nvSpPr>
        <p:spPr>
          <a:xfrm>
            <a:off x="640080" y="109728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Task 1: Shunt Classification</a:t>
            </a:r>
            <a:endParaRPr b="0" i="0" sz="1300" u="none" cap="none" strike="noStrike">
              <a:solidFill>
                <a:schemeClr val="dk1"/>
              </a:solidFill>
              <a:latin typeface="Calibri"/>
              <a:ea typeface="Calibri"/>
              <a:cs typeface="Calibri"/>
              <a:sym typeface="Calibri"/>
            </a:endParaRPr>
          </a:p>
        </p:txBody>
      </p:sp>
      <p:sp>
        <p:nvSpPr>
          <p:cNvPr id="256" name="Google Shape;256;p16"/>
          <p:cNvSpPr/>
          <p:nvPr/>
        </p:nvSpPr>
        <p:spPr>
          <a:xfrm>
            <a:off x="731520" y="1371600"/>
            <a:ext cx="7680960" cy="640080"/>
          </a:xfrm>
          <a:prstGeom prst="rect">
            <a:avLst/>
          </a:prstGeom>
          <a:noFill/>
          <a:ln>
            <a:noFill/>
          </a:ln>
        </p:spPr>
        <p:txBody>
          <a:bodyPr anchorCtr="0" anchor="t" bIns="0" lIns="0" spcFirstLastPara="1" rIns="0" wrap="square" tIns="0">
            <a:noAutofit/>
          </a:bodyPr>
          <a:lstStyle/>
          <a:p>
            <a:pPr indent="-336550" lvl="0" marL="342900" marR="0" rtl="0" algn="l">
              <a:spcBef>
                <a:spcPts val="0"/>
              </a:spcBef>
              <a:spcAft>
                <a:spcPts val="0"/>
              </a:spcAft>
              <a:buClr>
                <a:srgbClr val="333333"/>
              </a:buClr>
              <a:buSzPts val="950"/>
              <a:buFont typeface="Arial"/>
              <a:buChar char="•"/>
            </a:pPr>
            <a:r>
              <a:rPr b="0" i="0" lang="en-US" sz="950" u="none" cap="none" strike="noStrike">
                <a:solidFill>
                  <a:srgbClr val="333333"/>
                </a:solidFill>
                <a:latin typeface="Arial"/>
                <a:ea typeface="Arial"/>
                <a:cs typeface="Arial"/>
                <a:sym typeface="Arial"/>
              </a:rPr>
              <a:t>Classification Accuracy: ≥85% on labeled cases</a:t>
            </a:r>
            <a:endParaRPr b="0" i="0" sz="950" u="none" cap="none" strike="noStrike">
              <a:solidFill>
                <a:schemeClr val="dk1"/>
              </a:solidFill>
              <a:latin typeface="Calibri"/>
              <a:ea typeface="Calibri"/>
              <a:cs typeface="Calibri"/>
              <a:sym typeface="Calibri"/>
            </a:endParaRPr>
          </a:p>
          <a:p>
            <a:pPr indent="-336550" lvl="0" marL="342900" marR="0" rtl="0" algn="l">
              <a:spcBef>
                <a:spcPts val="300"/>
              </a:spcBef>
              <a:spcAft>
                <a:spcPts val="0"/>
              </a:spcAft>
              <a:buClr>
                <a:srgbClr val="333333"/>
              </a:buClr>
              <a:buSzPts val="950"/>
              <a:buFont typeface="Arial"/>
              <a:buChar char="•"/>
            </a:pPr>
            <a:r>
              <a:rPr b="0" i="0" lang="en-US" sz="950" u="none" cap="none" strike="noStrike">
                <a:solidFill>
                  <a:srgbClr val="333333"/>
                </a:solidFill>
                <a:latin typeface="Arial"/>
                <a:ea typeface="Arial"/>
                <a:cs typeface="Arial"/>
                <a:sym typeface="Arial"/>
              </a:rPr>
              <a:t>Hallucination Rate: &lt;5% with RAG</a:t>
            </a:r>
            <a:endParaRPr b="0" i="0" sz="950" u="none" cap="none" strike="noStrike">
              <a:solidFill>
                <a:schemeClr val="dk1"/>
              </a:solidFill>
              <a:latin typeface="Calibri"/>
              <a:ea typeface="Calibri"/>
              <a:cs typeface="Calibri"/>
              <a:sym typeface="Calibri"/>
            </a:endParaRPr>
          </a:p>
          <a:p>
            <a:pPr indent="-336550" lvl="0" marL="342900" marR="0" rtl="0" algn="l">
              <a:spcBef>
                <a:spcPts val="300"/>
              </a:spcBef>
              <a:spcAft>
                <a:spcPts val="0"/>
              </a:spcAft>
              <a:buClr>
                <a:srgbClr val="333333"/>
              </a:buClr>
              <a:buSzPts val="950"/>
              <a:buFont typeface="Arial"/>
              <a:buChar char="•"/>
            </a:pPr>
            <a:r>
              <a:rPr b="0" i="0" lang="en-US" sz="950" u="none" cap="none" strike="noStrike">
                <a:solidFill>
                  <a:srgbClr val="333333"/>
                </a:solidFill>
                <a:latin typeface="Arial"/>
                <a:ea typeface="Arial"/>
                <a:cs typeface="Arial"/>
                <a:sym typeface="Arial"/>
              </a:rPr>
              <a:t>Latency: &lt;2 seconds per case</a:t>
            </a:r>
            <a:endParaRPr b="0" i="0" sz="950" u="none" cap="none" strike="noStrike">
              <a:solidFill>
                <a:schemeClr val="dk1"/>
              </a:solidFill>
              <a:latin typeface="Calibri"/>
              <a:ea typeface="Calibri"/>
              <a:cs typeface="Calibri"/>
              <a:sym typeface="Calibri"/>
            </a:endParaRPr>
          </a:p>
          <a:p>
            <a:pPr indent="-336550" lvl="0" marL="342900" marR="0" rtl="0" algn="l">
              <a:spcBef>
                <a:spcPts val="300"/>
              </a:spcBef>
              <a:spcAft>
                <a:spcPts val="0"/>
              </a:spcAft>
              <a:buClr>
                <a:srgbClr val="333333"/>
              </a:buClr>
              <a:buSzPts val="950"/>
              <a:buFont typeface="Arial"/>
              <a:buChar char="•"/>
            </a:pPr>
            <a:r>
              <a:rPr b="0" i="0" lang="en-US" sz="950" u="none" cap="none" strike="noStrike">
                <a:solidFill>
                  <a:srgbClr val="333333"/>
                </a:solidFill>
                <a:latin typeface="Arial"/>
                <a:ea typeface="Arial"/>
                <a:cs typeface="Arial"/>
                <a:sym typeface="Arial"/>
              </a:rPr>
              <a:t>Report Quality: Clinician review score ≥4/5</a:t>
            </a:r>
            <a:endParaRPr b="0" i="0" sz="950" u="none" cap="none" strike="noStrike">
              <a:solidFill>
                <a:schemeClr val="dk1"/>
              </a:solidFill>
              <a:latin typeface="Calibri"/>
              <a:ea typeface="Calibri"/>
              <a:cs typeface="Calibri"/>
              <a:sym typeface="Calibri"/>
            </a:endParaRPr>
          </a:p>
        </p:txBody>
      </p:sp>
      <p:sp>
        <p:nvSpPr>
          <p:cNvPr id="257" name="Google Shape;257;p16"/>
          <p:cNvSpPr/>
          <p:nvPr/>
        </p:nvSpPr>
        <p:spPr>
          <a:xfrm>
            <a:off x="457200" y="2286000"/>
            <a:ext cx="8229600" cy="7772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6"/>
          <p:cNvSpPr/>
          <p:nvPr/>
        </p:nvSpPr>
        <p:spPr>
          <a:xfrm>
            <a:off x="457200" y="2286000"/>
            <a:ext cx="54864" cy="7772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6"/>
          <p:cNvSpPr/>
          <p:nvPr/>
        </p:nvSpPr>
        <p:spPr>
          <a:xfrm>
            <a:off x="640080" y="233172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Task 2: Scanning Guidance</a:t>
            </a:r>
            <a:endParaRPr b="0" i="0" sz="1300" u="none" cap="none" strike="noStrike">
              <a:solidFill>
                <a:schemeClr val="dk1"/>
              </a:solidFill>
              <a:latin typeface="Calibri"/>
              <a:ea typeface="Calibri"/>
              <a:cs typeface="Calibri"/>
              <a:sym typeface="Calibri"/>
            </a:endParaRPr>
          </a:p>
        </p:txBody>
      </p:sp>
      <p:sp>
        <p:nvSpPr>
          <p:cNvPr id="260" name="Google Shape;260;p16"/>
          <p:cNvSpPr/>
          <p:nvPr/>
        </p:nvSpPr>
        <p:spPr>
          <a:xfrm>
            <a:off x="731520" y="2606040"/>
            <a:ext cx="7680960" cy="3657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Latency: &lt;500ms per recommendation</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Operator Acceptance: ≥70% useful suggestions</a:t>
            </a:r>
            <a:endParaRPr b="0" i="0" sz="1050" u="none" cap="none" strike="noStrike">
              <a:solidFill>
                <a:schemeClr val="dk1"/>
              </a:solidFill>
              <a:latin typeface="Calibri"/>
              <a:ea typeface="Calibri"/>
              <a:cs typeface="Calibri"/>
              <a:sym typeface="Calibri"/>
            </a:endParaRPr>
          </a:p>
        </p:txBody>
      </p:sp>
      <p:sp>
        <p:nvSpPr>
          <p:cNvPr id="261" name="Google Shape;261;p16"/>
          <p:cNvSpPr/>
          <p:nvPr/>
        </p:nvSpPr>
        <p:spPr>
          <a:xfrm>
            <a:off x="457200" y="3246120"/>
            <a:ext cx="8229600" cy="12344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6"/>
          <p:cNvSpPr/>
          <p:nvPr/>
        </p:nvSpPr>
        <p:spPr>
          <a:xfrm>
            <a:off x="457200" y="3246120"/>
            <a:ext cx="54864" cy="12344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6"/>
          <p:cNvSpPr/>
          <p:nvPr/>
        </p:nvSpPr>
        <p:spPr>
          <a:xfrm>
            <a:off x="640080" y="329184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Task 3: Vein Detection</a:t>
            </a:r>
            <a:endParaRPr b="0" i="0" sz="1300" u="none" cap="none" strike="noStrike">
              <a:solidFill>
                <a:schemeClr val="dk1"/>
              </a:solidFill>
              <a:latin typeface="Calibri"/>
              <a:ea typeface="Calibri"/>
              <a:cs typeface="Calibri"/>
              <a:sym typeface="Calibri"/>
            </a:endParaRPr>
          </a:p>
        </p:txBody>
      </p:sp>
      <p:sp>
        <p:nvSpPr>
          <p:cNvPr id="264" name="Google Shape;264;p16"/>
          <p:cNvSpPr/>
          <p:nvPr/>
        </p:nvSpPr>
        <p:spPr>
          <a:xfrm>
            <a:off x="731520" y="3566160"/>
            <a:ext cx="7680960" cy="8229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Classification Accuracy: ≥90% on labeled cases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Detection Sensitivity: ≥90%</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Segmentation IoU: ≥0.70</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Real-time: ≥30fps (≤33ms/frame)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69" name="Shape 269"/>
        <p:cNvGrpSpPr/>
        <p:nvPr/>
      </p:nvGrpSpPr>
      <p:grpSpPr>
        <a:xfrm>
          <a:off x="0" y="0"/>
          <a:ext cx="0" cy="0"/>
          <a:chOff x="0" y="0"/>
          <a:chExt cx="0" cy="0"/>
        </a:xfrm>
      </p:grpSpPr>
      <p:sp>
        <p:nvSpPr>
          <p:cNvPr id="270" name="Google Shape;270;p17"/>
          <p:cNvSpPr/>
          <p:nvPr/>
        </p:nvSpPr>
        <p:spPr>
          <a:xfrm>
            <a:off x="365760" y="320040"/>
            <a:ext cx="73200" cy="5028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7"/>
          <p:cNvSpPr/>
          <p:nvPr/>
        </p:nvSpPr>
        <p:spPr>
          <a:xfrm>
            <a:off x="548640" y="274320"/>
            <a:ext cx="77724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Full Weekly Plan: Weeks 1-26</a:t>
            </a:r>
            <a:endParaRPr b="0" i="0" sz="2600" u="none" cap="none" strike="noStrike">
              <a:solidFill>
                <a:schemeClr val="dk1"/>
              </a:solidFill>
              <a:latin typeface="Calibri"/>
              <a:ea typeface="Calibri"/>
              <a:cs typeface="Calibri"/>
              <a:sym typeface="Calibri"/>
            </a:endParaRPr>
          </a:p>
        </p:txBody>
      </p:sp>
      <p:sp>
        <p:nvSpPr>
          <p:cNvPr id="272" name="Google Shape;272;p17"/>
          <p:cNvSpPr/>
          <p:nvPr/>
        </p:nvSpPr>
        <p:spPr>
          <a:xfrm>
            <a:off x="0" y="4709160"/>
            <a:ext cx="9144000" cy="4344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7"/>
          <p:cNvSpPr/>
          <p:nvPr/>
        </p:nvSpPr>
        <p:spPr>
          <a:xfrm>
            <a:off x="457200" y="4709160"/>
            <a:ext cx="4572000" cy="43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274" name="Google Shape;274;p17"/>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275" name="Google Shape;275;p17"/>
          <p:cNvSpPr/>
          <p:nvPr/>
        </p:nvSpPr>
        <p:spPr>
          <a:xfrm>
            <a:off x="3566160" y="960120"/>
            <a:ext cx="5486400" cy="2742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7"/>
          <p:cNvSpPr/>
          <p:nvPr/>
        </p:nvSpPr>
        <p:spPr>
          <a:xfrm>
            <a:off x="3566160"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1</a:t>
            </a:r>
            <a:endParaRPr b="0" i="0" sz="800" u="none" cap="none" strike="noStrike">
              <a:solidFill>
                <a:schemeClr val="dk1"/>
              </a:solidFill>
              <a:latin typeface="Calibri"/>
              <a:ea typeface="Calibri"/>
              <a:cs typeface="Calibri"/>
              <a:sym typeface="Calibri"/>
            </a:endParaRPr>
          </a:p>
        </p:txBody>
      </p:sp>
      <p:sp>
        <p:nvSpPr>
          <p:cNvPr id="277" name="Google Shape;277;p17"/>
          <p:cNvSpPr/>
          <p:nvPr/>
        </p:nvSpPr>
        <p:spPr>
          <a:xfrm>
            <a:off x="3777175"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2</a:t>
            </a:r>
            <a:endParaRPr b="0" i="0" sz="800" u="none" cap="none" strike="noStrike">
              <a:solidFill>
                <a:schemeClr val="dk1"/>
              </a:solidFill>
              <a:latin typeface="Calibri"/>
              <a:ea typeface="Calibri"/>
              <a:cs typeface="Calibri"/>
              <a:sym typeface="Calibri"/>
            </a:endParaRPr>
          </a:p>
        </p:txBody>
      </p:sp>
      <p:sp>
        <p:nvSpPr>
          <p:cNvPr id="278" name="Google Shape;278;p17"/>
          <p:cNvSpPr/>
          <p:nvPr/>
        </p:nvSpPr>
        <p:spPr>
          <a:xfrm>
            <a:off x="3988191"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3</a:t>
            </a:r>
            <a:endParaRPr b="0" i="0" sz="800" u="none" cap="none" strike="noStrike">
              <a:solidFill>
                <a:schemeClr val="dk1"/>
              </a:solidFill>
              <a:latin typeface="Calibri"/>
              <a:ea typeface="Calibri"/>
              <a:cs typeface="Calibri"/>
              <a:sym typeface="Calibri"/>
            </a:endParaRPr>
          </a:p>
        </p:txBody>
      </p:sp>
      <p:sp>
        <p:nvSpPr>
          <p:cNvPr id="279" name="Google Shape;279;p17"/>
          <p:cNvSpPr/>
          <p:nvPr/>
        </p:nvSpPr>
        <p:spPr>
          <a:xfrm>
            <a:off x="4199206"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4</a:t>
            </a:r>
            <a:endParaRPr b="0" i="0" sz="800" u="none" cap="none" strike="noStrike">
              <a:solidFill>
                <a:schemeClr val="dk1"/>
              </a:solidFill>
              <a:latin typeface="Calibri"/>
              <a:ea typeface="Calibri"/>
              <a:cs typeface="Calibri"/>
              <a:sym typeface="Calibri"/>
            </a:endParaRPr>
          </a:p>
        </p:txBody>
      </p:sp>
      <p:sp>
        <p:nvSpPr>
          <p:cNvPr id="280" name="Google Shape;280;p17"/>
          <p:cNvSpPr/>
          <p:nvPr/>
        </p:nvSpPr>
        <p:spPr>
          <a:xfrm>
            <a:off x="4410222"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5</a:t>
            </a:r>
            <a:endParaRPr b="0" i="0" sz="800" u="none" cap="none" strike="noStrike">
              <a:solidFill>
                <a:schemeClr val="dk1"/>
              </a:solidFill>
              <a:latin typeface="Calibri"/>
              <a:ea typeface="Calibri"/>
              <a:cs typeface="Calibri"/>
              <a:sym typeface="Calibri"/>
            </a:endParaRPr>
          </a:p>
        </p:txBody>
      </p:sp>
      <p:sp>
        <p:nvSpPr>
          <p:cNvPr id="281" name="Google Shape;281;p17"/>
          <p:cNvSpPr/>
          <p:nvPr/>
        </p:nvSpPr>
        <p:spPr>
          <a:xfrm>
            <a:off x="4621237"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6</a:t>
            </a:r>
            <a:endParaRPr b="0" i="0" sz="800" u="none" cap="none" strike="noStrike">
              <a:solidFill>
                <a:schemeClr val="dk1"/>
              </a:solidFill>
              <a:latin typeface="Calibri"/>
              <a:ea typeface="Calibri"/>
              <a:cs typeface="Calibri"/>
              <a:sym typeface="Calibri"/>
            </a:endParaRPr>
          </a:p>
        </p:txBody>
      </p:sp>
      <p:sp>
        <p:nvSpPr>
          <p:cNvPr id="282" name="Google Shape;282;p17"/>
          <p:cNvSpPr/>
          <p:nvPr/>
        </p:nvSpPr>
        <p:spPr>
          <a:xfrm>
            <a:off x="4832252"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7</a:t>
            </a:r>
            <a:endParaRPr b="0" i="0" sz="800" u="none" cap="none" strike="noStrike">
              <a:solidFill>
                <a:schemeClr val="dk1"/>
              </a:solidFill>
              <a:latin typeface="Calibri"/>
              <a:ea typeface="Calibri"/>
              <a:cs typeface="Calibri"/>
              <a:sym typeface="Calibri"/>
            </a:endParaRPr>
          </a:p>
        </p:txBody>
      </p:sp>
      <p:sp>
        <p:nvSpPr>
          <p:cNvPr id="283" name="Google Shape;283;p17"/>
          <p:cNvSpPr/>
          <p:nvPr/>
        </p:nvSpPr>
        <p:spPr>
          <a:xfrm>
            <a:off x="5043268"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8</a:t>
            </a:r>
            <a:endParaRPr b="0" i="0" sz="800" u="none" cap="none" strike="noStrike">
              <a:solidFill>
                <a:schemeClr val="dk1"/>
              </a:solidFill>
              <a:latin typeface="Calibri"/>
              <a:ea typeface="Calibri"/>
              <a:cs typeface="Calibri"/>
              <a:sym typeface="Calibri"/>
            </a:endParaRPr>
          </a:p>
        </p:txBody>
      </p:sp>
      <p:sp>
        <p:nvSpPr>
          <p:cNvPr id="284" name="Google Shape;284;p17"/>
          <p:cNvSpPr/>
          <p:nvPr/>
        </p:nvSpPr>
        <p:spPr>
          <a:xfrm>
            <a:off x="5254283"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9</a:t>
            </a:r>
            <a:endParaRPr b="0" i="0" sz="800" u="none" cap="none" strike="noStrike">
              <a:solidFill>
                <a:schemeClr val="dk1"/>
              </a:solidFill>
              <a:latin typeface="Calibri"/>
              <a:ea typeface="Calibri"/>
              <a:cs typeface="Calibri"/>
              <a:sym typeface="Calibri"/>
            </a:endParaRPr>
          </a:p>
        </p:txBody>
      </p:sp>
      <p:sp>
        <p:nvSpPr>
          <p:cNvPr id="285" name="Google Shape;285;p17"/>
          <p:cNvSpPr/>
          <p:nvPr/>
        </p:nvSpPr>
        <p:spPr>
          <a:xfrm>
            <a:off x="5465298"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10</a:t>
            </a:r>
            <a:endParaRPr b="0" i="0" sz="800" u="none" cap="none" strike="noStrike">
              <a:solidFill>
                <a:schemeClr val="dk1"/>
              </a:solidFill>
              <a:latin typeface="Calibri"/>
              <a:ea typeface="Calibri"/>
              <a:cs typeface="Calibri"/>
              <a:sym typeface="Calibri"/>
            </a:endParaRPr>
          </a:p>
        </p:txBody>
      </p:sp>
      <p:sp>
        <p:nvSpPr>
          <p:cNvPr id="286" name="Google Shape;286;p17"/>
          <p:cNvSpPr/>
          <p:nvPr/>
        </p:nvSpPr>
        <p:spPr>
          <a:xfrm>
            <a:off x="5676314"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11</a:t>
            </a:r>
            <a:endParaRPr b="0" i="0" sz="800" u="none" cap="none" strike="noStrike">
              <a:solidFill>
                <a:schemeClr val="dk1"/>
              </a:solidFill>
              <a:latin typeface="Calibri"/>
              <a:ea typeface="Calibri"/>
              <a:cs typeface="Calibri"/>
              <a:sym typeface="Calibri"/>
            </a:endParaRPr>
          </a:p>
        </p:txBody>
      </p:sp>
      <p:sp>
        <p:nvSpPr>
          <p:cNvPr id="287" name="Google Shape;287;p17"/>
          <p:cNvSpPr/>
          <p:nvPr/>
        </p:nvSpPr>
        <p:spPr>
          <a:xfrm>
            <a:off x="5887329"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12</a:t>
            </a:r>
            <a:endParaRPr b="0" i="0" sz="800" u="none" cap="none" strike="noStrike">
              <a:solidFill>
                <a:schemeClr val="dk1"/>
              </a:solidFill>
              <a:latin typeface="Calibri"/>
              <a:ea typeface="Calibri"/>
              <a:cs typeface="Calibri"/>
              <a:sym typeface="Calibri"/>
            </a:endParaRPr>
          </a:p>
        </p:txBody>
      </p:sp>
      <p:sp>
        <p:nvSpPr>
          <p:cNvPr id="288" name="Google Shape;288;p17"/>
          <p:cNvSpPr/>
          <p:nvPr/>
        </p:nvSpPr>
        <p:spPr>
          <a:xfrm>
            <a:off x="6098345"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13</a:t>
            </a:r>
            <a:endParaRPr b="0" i="0" sz="800" u="none" cap="none" strike="noStrike">
              <a:solidFill>
                <a:schemeClr val="dk1"/>
              </a:solidFill>
              <a:latin typeface="Calibri"/>
              <a:ea typeface="Calibri"/>
              <a:cs typeface="Calibri"/>
              <a:sym typeface="Calibri"/>
            </a:endParaRPr>
          </a:p>
        </p:txBody>
      </p:sp>
      <p:sp>
        <p:nvSpPr>
          <p:cNvPr id="289" name="Google Shape;289;p17"/>
          <p:cNvSpPr/>
          <p:nvPr/>
        </p:nvSpPr>
        <p:spPr>
          <a:xfrm>
            <a:off x="6309360"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14</a:t>
            </a:r>
            <a:endParaRPr b="0" i="0" sz="800" u="none" cap="none" strike="noStrike">
              <a:solidFill>
                <a:schemeClr val="dk1"/>
              </a:solidFill>
              <a:latin typeface="Calibri"/>
              <a:ea typeface="Calibri"/>
              <a:cs typeface="Calibri"/>
              <a:sym typeface="Calibri"/>
            </a:endParaRPr>
          </a:p>
        </p:txBody>
      </p:sp>
      <p:sp>
        <p:nvSpPr>
          <p:cNvPr id="290" name="Google Shape;290;p17"/>
          <p:cNvSpPr/>
          <p:nvPr/>
        </p:nvSpPr>
        <p:spPr>
          <a:xfrm>
            <a:off x="6520375"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15</a:t>
            </a:r>
            <a:endParaRPr b="0" i="0" sz="800" u="none" cap="none" strike="noStrike">
              <a:solidFill>
                <a:schemeClr val="dk1"/>
              </a:solidFill>
              <a:latin typeface="Calibri"/>
              <a:ea typeface="Calibri"/>
              <a:cs typeface="Calibri"/>
              <a:sym typeface="Calibri"/>
            </a:endParaRPr>
          </a:p>
        </p:txBody>
      </p:sp>
      <p:sp>
        <p:nvSpPr>
          <p:cNvPr id="291" name="Google Shape;291;p17"/>
          <p:cNvSpPr/>
          <p:nvPr/>
        </p:nvSpPr>
        <p:spPr>
          <a:xfrm>
            <a:off x="6731391"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16</a:t>
            </a:r>
            <a:endParaRPr b="0" i="0" sz="800" u="none" cap="none" strike="noStrike">
              <a:solidFill>
                <a:schemeClr val="dk1"/>
              </a:solidFill>
              <a:latin typeface="Calibri"/>
              <a:ea typeface="Calibri"/>
              <a:cs typeface="Calibri"/>
              <a:sym typeface="Calibri"/>
            </a:endParaRPr>
          </a:p>
        </p:txBody>
      </p:sp>
      <p:sp>
        <p:nvSpPr>
          <p:cNvPr id="292" name="Google Shape;292;p17"/>
          <p:cNvSpPr/>
          <p:nvPr/>
        </p:nvSpPr>
        <p:spPr>
          <a:xfrm>
            <a:off x="6942406"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17</a:t>
            </a:r>
            <a:endParaRPr b="0" i="0" sz="800" u="none" cap="none" strike="noStrike">
              <a:solidFill>
                <a:schemeClr val="dk1"/>
              </a:solidFill>
              <a:latin typeface="Calibri"/>
              <a:ea typeface="Calibri"/>
              <a:cs typeface="Calibri"/>
              <a:sym typeface="Calibri"/>
            </a:endParaRPr>
          </a:p>
        </p:txBody>
      </p:sp>
      <p:sp>
        <p:nvSpPr>
          <p:cNvPr id="293" name="Google Shape;293;p17"/>
          <p:cNvSpPr/>
          <p:nvPr/>
        </p:nvSpPr>
        <p:spPr>
          <a:xfrm>
            <a:off x="7153422"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18</a:t>
            </a:r>
            <a:endParaRPr b="0" i="0" sz="800" u="none" cap="none" strike="noStrike">
              <a:solidFill>
                <a:schemeClr val="dk1"/>
              </a:solidFill>
              <a:latin typeface="Calibri"/>
              <a:ea typeface="Calibri"/>
              <a:cs typeface="Calibri"/>
              <a:sym typeface="Calibri"/>
            </a:endParaRPr>
          </a:p>
        </p:txBody>
      </p:sp>
      <p:sp>
        <p:nvSpPr>
          <p:cNvPr id="294" name="Google Shape;294;p17"/>
          <p:cNvSpPr/>
          <p:nvPr/>
        </p:nvSpPr>
        <p:spPr>
          <a:xfrm>
            <a:off x="7364437"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19</a:t>
            </a:r>
            <a:endParaRPr b="0" i="0" sz="800" u="none" cap="none" strike="noStrike">
              <a:solidFill>
                <a:schemeClr val="dk1"/>
              </a:solidFill>
              <a:latin typeface="Calibri"/>
              <a:ea typeface="Calibri"/>
              <a:cs typeface="Calibri"/>
              <a:sym typeface="Calibri"/>
            </a:endParaRPr>
          </a:p>
        </p:txBody>
      </p:sp>
      <p:sp>
        <p:nvSpPr>
          <p:cNvPr id="295" name="Google Shape;295;p17"/>
          <p:cNvSpPr/>
          <p:nvPr/>
        </p:nvSpPr>
        <p:spPr>
          <a:xfrm>
            <a:off x="7575452"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20</a:t>
            </a:r>
            <a:endParaRPr b="0" i="0" sz="800" u="none" cap="none" strike="noStrike">
              <a:solidFill>
                <a:schemeClr val="dk1"/>
              </a:solidFill>
              <a:latin typeface="Calibri"/>
              <a:ea typeface="Calibri"/>
              <a:cs typeface="Calibri"/>
              <a:sym typeface="Calibri"/>
            </a:endParaRPr>
          </a:p>
        </p:txBody>
      </p:sp>
      <p:sp>
        <p:nvSpPr>
          <p:cNvPr id="296" name="Google Shape;296;p17"/>
          <p:cNvSpPr/>
          <p:nvPr/>
        </p:nvSpPr>
        <p:spPr>
          <a:xfrm>
            <a:off x="7786468"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21</a:t>
            </a:r>
            <a:endParaRPr b="0" i="0" sz="800" u="none" cap="none" strike="noStrike">
              <a:solidFill>
                <a:schemeClr val="dk1"/>
              </a:solidFill>
              <a:latin typeface="Calibri"/>
              <a:ea typeface="Calibri"/>
              <a:cs typeface="Calibri"/>
              <a:sym typeface="Calibri"/>
            </a:endParaRPr>
          </a:p>
        </p:txBody>
      </p:sp>
      <p:sp>
        <p:nvSpPr>
          <p:cNvPr id="297" name="Google Shape;297;p17"/>
          <p:cNvSpPr/>
          <p:nvPr/>
        </p:nvSpPr>
        <p:spPr>
          <a:xfrm>
            <a:off x="7997483"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22</a:t>
            </a:r>
            <a:endParaRPr b="0" i="0" sz="800" u="none" cap="none" strike="noStrike">
              <a:solidFill>
                <a:schemeClr val="dk1"/>
              </a:solidFill>
              <a:latin typeface="Calibri"/>
              <a:ea typeface="Calibri"/>
              <a:cs typeface="Calibri"/>
              <a:sym typeface="Calibri"/>
            </a:endParaRPr>
          </a:p>
        </p:txBody>
      </p:sp>
      <p:sp>
        <p:nvSpPr>
          <p:cNvPr id="298" name="Google Shape;298;p17"/>
          <p:cNvSpPr/>
          <p:nvPr/>
        </p:nvSpPr>
        <p:spPr>
          <a:xfrm>
            <a:off x="8208498"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23</a:t>
            </a:r>
            <a:endParaRPr b="0" i="0" sz="800" u="none" cap="none" strike="noStrike">
              <a:solidFill>
                <a:schemeClr val="dk1"/>
              </a:solidFill>
              <a:latin typeface="Calibri"/>
              <a:ea typeface="Calibri"/>
              <a:cs typeface="Calibri"/>
              <a:sym typeface="Calibri"/>
            </a:endParaRPr>
          </a:p>
        </p:txBody>
      </p:sp>
      <p:sp>
        <p:nvSpPr>
          <p:cNvPr id="299" name="Google Shape;299;p17"/>
          <p:cNvSpPr/>
          <p:nvPr/>
        </p:nvSpPr>
        <p:spPr>
          <a:xfrm>
            <a:off x="8419514"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24</a:t>
            </a:r>
            <a:endParaRPr b="0" i="0" sz="800" u="none" cap="none" strike="noStrike">
              <a:solidFill>
                <a:schemeClr val="dk1"/>
              </a:solidFill>
              <a:latin typeface="Calibri"/>
              <a:ea typeface="Calibri"/>
              <a:cs typeface="Calibri"/>
              <a:sym typeface="Calibri"/>
            </a:endParaRPr>
          </a:p>
        </p:txBody>
      </p:sp>
      <p:sp>
        <p:nvSpPr>
          <p:cNvPr id="300" name="Google Shape;300;p17"/>
          <p:cNvSpPr/>
          <p:nvPr/>
        </p:nvSpPr>
        <p:spPr>
          <a:xfrm>
            <a:off x="8630529"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25</a:t>
            </a:r>
            <a:endParaRPr b="0" i="0" sz="800" u="none" cap="none" strike="noStrike">
              <a:solidFill>
                <a:schemeClr val="dk1"/>
              </a:solidFill>
              <a:latin typeface="Calibri"/>
              <a:ea typeface="Calibri"/>
              <a:cs typeface="Calibri"/>
              <a:sym typeface="Calibri"/>
            </a:endParaRPr>
          </a:p>
        </p:txBody>
      </p:sp>
      <p:sp>
        <p:nvSpPr>
          <p:cNvPr id="301" name="Google Shape;301;p17"/>
          <p:cNvSpPr/>
          <p:nvPr/>
        </p:nvSpPr>
        <p:spPr>
          <a:xfrm>
            <a:off x="8841545"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26</a:t>
            </a:r>
            <a:endParaRPr b="0" i="0" sz="800" u="none" cap="none" strike="noStrike">
              <a:solidFill>
                <a:schemeClr val="dk1"/>
              </a:solidFill>
              <a:latin typeface="Calibri"/>
              <a:ea typeface="Calibri"/>
              <a:cs typeface="Calibri"/>
              <a:sym typeface="Calibri"/>
            </a:endParaRPr>
          </a:p>
        </p:txBody>
      </p:sp>
      <p:sp>
        <p:nvSpPr>
          <p:cNvPr id="302" name="Google Shape;302;p17"/>
          <p:cNvSpPr/>
          <p:nvPr/>
        </p:nvSpPr>
        <p:spPr>
          <a:xfrm>
            <a:off x="457200" y="960120"/>
            <a:ext cx="3108900" cy="274200"/>
          </a:xfrm>
          <a:prstGeom prst="rect">
            <a:avLst/>
          </a:prstGeom>
          <a:solidFill>
            <a:srgbClr val="99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7"/>
          <p:cNvSpPr/>
          <p:nvPr/>
        </p:nvSpPr>
        <p:spPr>
          <a:xfrm>
            <a:off x="457200" y="960120"/>
            <a:ext cx="3108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Georgia"/>
              <a:buNone/>
            </a:pPr>
            <a:r>
              <a:rPr b="1" i="0" lang="en-US" sz="1000" u="none" cap="none" strike="noStrike">
                <a:solidFill>
                  <a:srgbClr val="FFFFFF"/>
                </a:solidFill>
                <a:latin typeface="Georgia"/>
                <a:ea typeface="Georgia"/>
                <a:cs typeface="Georgia"/>
                <a:sym typeface="Georgia"/>
              </a:rPr>
              <a:t>Task</a:t>
            </a:r>
            <a:endParaRPr b="0" i="0" sz="1000" u="none" cap="none" strike="noStrike">
              <a:solidFill>
                <a:schemeClr val="dk1"/>
              </a:solidFill>
              <a:latin typeface="Calibri"/>
              <a:ea typeface="Calibri"/>
              <a:cs typeface="Calibri"/>
              <a:sym typeface="Calibri"/>
            </a:endParaRPr>
          </a:p>
        </p:txBody>
      </p:sp>
      <p:sp>
        <p:nvSpPr>
          <p:cNvPr id="304" name="Google Shape;304;p17"/>
          <p:cNvSpPr/>
          <p:nvPr/>
        </p:nvSpPr>
        <p:spPr>
          <a:xfrm>
            <a:off x="457200" y="1280160"/>
            <a:ext cx="8595300" cy="59430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7"/>
          <p:cNvSpPr/>
          <p:nvPr/>
        </p:nvSpPr>
        <p:spPr>
          <a:xfrm>
            <a:off x="594360" y="1280160"/>
            <a:ext cx="28347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000"/>
              <a:buFont typeface="Arial"/>
              <a:buNone/>
            </a:pPr>
            <a:r>
              <a:rPr b="1" i="0" lang="en-US" sz="1000" u="none" cap="none" strike="noStrike">
                <a:solidFill>
                  <a:srgbClr val="333333"/>
                </a:solidFill>
                <a:latin typeface="Arial"/>
                <a:ea typeface="Arial"/>
                <a:cs typeface="Arial"/>
                <a:sym typeface="Arial"/>
              </a:rPr>
              <a:t>Task 1: LLM + RAG for Shunt Classification</a:t>
            </a:r>
            <a:endParaRPr b="0" i="0" sz="1000" u="none" cap="none" strike="noStrike">
              <a:solidFill>
                <a:schemeClr val="dk1"/>
              </a:solidFill>
              <a:latin typeface="Calibri"/>
              <a:ea typeface="Calibri"/>
              <a:cs typeface="Calibri"/>
              <a:sym typeface="Calibri"/>
            </a:endParaRPr>
          </a:p>
        </p:txBody>
      </p:sp>
      <p:cxnSp>
        <p:nvCxnSpPr>
          <p:cNvPr id="306" name="Google Shape;306;p17"/>
          <p:cNvCxnSpPr/>
          <p:nvPr/>
        </p:nvCxnSpPr>
        <p:spPr>
          <a:xfrm>
            <a:off x="3566160"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07" name="Google Shape;307;p17"/>
          <p:cNvCxnSpPr/>
          <p:nvPr/>
        </p:nvCxnSpPr>
        <p:spPr>
          <a:xfrm>
            <a:off x="3777175"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08" name="Google Shape;308;p17"/>
          <p:cNvCxnSpPr/>
          <p:nvPr/>
        </p:nvCxnSpPr>
        <p:spPr>
          <a:xfrm>
            <a:off x="3988191"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09" name="Google Shape;309;p17"/>
          <p:cNvCxnSpPr/>
          <p:nvPr/>
        </p:nvCxnSpPr>
        <p:spPr>
          <a:xfrm>
            <a:off x="4199206"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10" name="Google Shape;310;p17"/>
          <p:cNvCxnSpPr/>
          <p:nvPr/>
        </p:nvCxnSpPr>
        <p:spPr>
          <a:xfrm>
            <a:off x="4410222"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11" name="Google Shape;311;p17"/>
          <p:cNvCxnSpPr/>
          <p:nvPr/>
        </p:nvCxnSpPr>
        <p:spPr>
          <a:xfrm>
            <a:off x="4621237"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12" name="Google Shape;312;p17"/>
          <p:cNvCxnSpPr/>
          <p:nvPr/>
        </p:nvCxnSpPr>
        <p:spPr>
          <a:xfrm>
            <a:off x="4832252"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13" name="Google Shape;313;p17"/>
          <p:cNvCxnSpPr/>
          <p:nvPr/>
        </p:nvCxnSpPr>
        <p:spPr>
          <a:xfrm>
            <a:off x="5043268"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14" name="Google Shape;314;p17"/>
          <p:cNvCxnSpPr/>
          <p:nvPr/>
        </p:nvCxnSpPr>
        <p:spPr>
          <a:xfrm>
            <a:off x="5254283"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15" name="Google Shape;315;p17"/>
          <p:cNvCxnSpPr/>
          <p:nvPr/>
        </p:nvCxnSpPr>
        <p:spPr>
          <a:xfrm>
            <a:off x="5465298"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16" name="Google Shape;316;p17"/>
          <p:cNvCxnSpPr/>
          <p:nvPr/>
        </p:nvCxnSpPr>
        <p:spPr>
          <a:xfrm>
            <a:off x="5676314"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17" name="Google Shape;317;p17"/>
          <p:cNvCxnSpPr/>
          <p:nvPr/>
        </p:nvCxnSpPr>
        <p:spPr>
          <a:xfrm>
            <a:off x="5887329"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18" name="Google Shape;318;p17"/>
          <p:cNvCxnSpPr/>
          <p:nvPr/>
        </p:nvCxnSpPr>
        <p:spPr>
          <a:xfrm>
            <a:off x="6098345"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19" name="Google Shape;319;p17"/>
          <p:cNvCxnSpPr/>
          <p:nvPr/>
        </p:nvCxnSpPr>
        <p:spPr>
          <a:xfrm>
            <a:off x="6309360"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20" name="Google Shape;320;p17"/>
          <p:cNvCxnSpPr/>
          <p:nvPr/>
        </p:nvCxnSpPr>
        <p:spPr>
          <a:xfrm>
            <a:off x="6520375"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21" name="Google Shape;321;p17"/>
          <p:cNvCxnSpPr/>
          <p:nvPr/>
        </p:nvCxnSpPr>
        <p:spPr>
          <a:xfrm>
            <a:off x="6731391"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22" name="Google Shape;322;p17"/>
          <p:cNvCxnSpPr/>
          <p:nvPr/>
        </p:nvCxnSpPr>
        <p:spPr>
          <a:xfrm>
            <a:off x="6942406"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23" name="Google Shape;323;p17"/>
          <p:cNvCxnSpPr/>
          <p:nvPr/>
        </p:nvCxnSpPr>
        <p:spPr>
          <a:xfrm>
            <a:off x="7153422"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24" name="Google Shape;324;p17"/>
          <p:cNvCxnSpPr/>
          <p:nvPr/>
        </p:nvCxnSpPr>
        <p:spPr>
          <a:xfrm>
            <a:off x="7364437"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25" name="Google Shape;325;p17"/>
          <p:cNvCxnSpPr/>
          <p:nvPr/>
        </p:nvCxnSpPr>
        <p:spPr>
          <a:xfrm>
            <a:off x="7575452"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26" name="Google Shape;326;p17"/>
          <p:cNvCxnSpPr/>
          <p:nvPr/>
        </p:nvCxnSpPr>
        <p:spPr>
          <a:xfrm>
            <a:off x="7786468"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27" name="Google Shape;327;p17"/>
          <p:cNvCxnSpPr/>
          <p:nvPr/>
        </p:nvCxnSpPr>
        <p:spPr>
          <a:xfrm>
            <a:off x="7997483"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28" name="Google Shape;328;p17"/>
          <p:cNvCxnSpPr/>
          <p:nvPr/>
        </p:nvCxnSpPr>
        <p:spPr>
          <a:xfrm>
            <a:off x="8208498"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29" name="Google Shape;329;p17"/>
          <p:cNvCxnSpPr/>
          <p:nvPr/>
        </p:nvCxnSpPr>
        <p:spPr>
          <a:xfrm>
            <a:off x="8419514"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30" name="Google Shape;330;p17"/>
          <p:cNvCxnSpPr/>
          <p:nvPr/>
        </p:nvCxnSpPr>
        <p:spPr>
          <a:xfrm>
            <a:off x="8630529"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31" name="Google Shape;331;p17"/>
          <p:cNvCxnSpPr/>
          <p:nvPr/>
        </p:nvCxnSpPr>
        <p:spPr>
          <a:xfrm>
            <a:off x="8841545" y="1280160"/>
            <a:ext cx="0" cy="594300"/>
          </a:xfrm>
          <a:prstGeom prst="straightConnector1">
            <a:avLst/>
          </a:prstGeom>
          <a:noFill/>
          <a:ln cap="flat" cmpd="sng" w="9525">
            <a:solidFill>
              <a:srgbClr val="E0E0E0"/>
            </a:solidFill>
            <a:prstDash val="solid"/>
            <a:round/>
            <a:headEnd len="sm" w="sm" type="none"/>
            <a:tailEnd len="sm" w="sm" type="none"/>
          </a:ln>
        </p:spPr>
      </p:cxnSp>
      <p:sp>
        <p:nvSpPr>
          <p:cNvPr id="332" name="Google Shape;332;p17"/>
          <p:cNvSpPr/>
          <p:nvPr/>
        </p:nvSpPr>
        <p:spPr>
          <a:xfrm>
            <a:off x="3566160" y="1389888"/>
            <a:ext cx="1477200" cy="3750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7"/>
          <p:cNvSpPr/>
          <p:nvPr/>
        </p:nvSpPr>
        <p:spPr>
          <a:xfrm>
            <a:off x="3566160" y="1389888"/>
            <a:ext cx="1477200" cy="375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W1 – W7</a:t>
            </a:r>
            <a:endParaRPr b="0" i="0" sz="900" u="none" cap="none" strike="noStrike">
              <a:solidFill>
                <a:schemeClr val="dk1"/>
              </a:solidFill>
              <a:latin typeface="Calibri"/>
              <a:ea typeface="Calibri"/>
              <a:cs typeface="Calibri"/>
              <a:sym typeface="Calibri"/>
            </a:endParaRPr>
          </a:p>
        </p:txBody>
      </p:sp>
      <p:sp>
        <p:nvSpPr>
          <p:cNvPr id="334" name="Google Shape;334;p17"/>
          <p:cNvSpPr/>
          <p:nvPr/>
        </p:nvSpPr>
        <p:spPr>
          <a:xfrm>
            <a:off x="457200" y="2103120"/>
            <a:ext cx="8595300" cy="59430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7"/>
          <p:cNvSpPr/>
          <p:nvPr/>
        </p:nvSpPr>
        <p:spPr>
          <a:xfrm>
            <a:off x="594360" y="2103120"/>
            <a:ext cx="28347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000"/>
              <a:buFont typeface="Arial"/>
              <a:buNone/>
            </a:pPr>
            <a:r>
              <a:rPr b="1" i="0" lang="en-US" sz="1000" u="none" cap="none" strike="noStrike">
                <a:solidFill>
                  <a:srgbClr val="333333"/>
                </a:solidFill>
                <a:latin typeface="Arial"/>
                <a:ea typeface="Arial"/>
                <a:cs typeface="Arial"/>
                <a:sym typeface="Arial"/>
              </a:rPr>
              <a:t>Task 2: Active Scanning Guidance</a:t>
            </a:r>
            <a:endParaRPr b="0" i="0" sz="1000" u="none" cap="none" strike="noStrike">
              <a:solidFill>
                <a:schemeClr val="dk1"/>
              </a:solidFill>
              <a:latin typeface="Calibri"/>
              <a:ea typeface="Calibri"/>
              <a:cs typeface="Calibri"/>
              <a:sym typeface="Calibri"/>
            </a:endParaRPr>
          </a:p>
        </p:txBody>
      </p:sp>
      <p:cxnSp>
        <p:nvCxnSpPr>
          <p:cNvPr id="336" name="Google Shape;336;p17"/>
          <p:cNvCxnSpPr/>
          <p:nvPr/>
        </p:nvCxnSpPr>
        <p:spPr>
          <a:xfrm>
            <a:off x="3566160"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37" name="Google Shape;337;p17"/>
          <p:cNvCxnSpPr/>
          <p:nvPr/>
        </p:nvCxnSpPr>
        <p:spPr>
          <a:xfrm>
            <a:off x="3777175"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38" name="Google Shape;338;p17"/>
          <p:cNvCxnSpPr/>
          <p:nvPr/>
        </p:nvCxnSpPr>
        <p:spPr>
          <a:xfrm>
            <a:off x="3988191"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39" name="Google Shape;339;p17"/>
          <p:cNvCxnSpPr/>
          <p:nvPr/>
        </p:nvCxnSpPr>
        <p:spPr>
          <a:xfrm>
            <a:off x="4199206"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40" name="Google Shape;340;p17"/>
          <p:cNvCxnSpPr/>
          <p:nvPr/>
        </p:nvCxnSpPr>
        <p:spPr>
          <a:xfrm>
            <a:off x="4410222"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41" name="Google Shape;341;p17"/>
          <p:cNvCxnSpPr/>
          <p:nvPr/>
        </p:nvCxnSpPr>
        <p:spPr>
          <a:xfrm>
            <a:off x="4621237"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42" name="Google Shape;342;p17"/>
          <p:cNvCxnSpPr/>
          <p:nvPr/>
        </p:nvCxnSpPr>
        <p:spPr>
          <a:xfrm>
            <a:off x="4832252"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43" name="Google Shape;343;p17"/>
          <p:cNvCxnSpPr/>
          <p:nvPr/>
        </p:nvCxnSpPr>
        <p:spPr>
          <a:xfrm>
            <a:off x="5043268"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44" name="Google Shape;344;p17"/>
          <p:cNvCxnSpPr/>
          <p:nvPr/>
        </p:nvCxnSpPr>
        <p:spPr>
          <a:xfrm>
            <a:off x="5254283"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45" name="Google Shape;345;p17"/>
          <p:cNvCxnSpPr/>
          <p:nvPr/>
        </p:nvCxnSpPr>
        <p:spPr>
          <a:xfrm>
            <a:off x="5465298"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46" name="Google Shape;346;p17"/>
          <p:cNvCxnSpPr/>
          <p:nvPr/>
        </p:nvCxnSpPr>
        <p:spPr>
          <a:xfrm>
            <a:off x="5676314"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47" name="Google Shape;347;p17"/>
          <p:cNvCxnSpPr/>
          <p:nvPr/>
        </p:nvCxnSpPr>
        <p:spPr>
          <a:xfrm>
            <a:off x="5887329"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48" name="Google Shape;348;p17"/>
          <p:cNvCxnSpPr/>
          <p:nvPr/>
        </p:nvCxnSpPr>
        <p:spPr>
          <a:xfrm>
            <a:off x="6098345"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49" name="Google Shape;349;p17"/>
          <p:cNvCxnSpPr/>
          <p:nvPr/>
        </p:nvCxnSpPr>
        <p:spPr>
          <a:xfrm>
            <a:off x="6309360"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50" name="Google Shape;350;p17"/>
          <p:cNvCxnSpPr/>
          <p:nvPr/>
        </p:nvCxnSpPr>
        <p:spPr>
          <a:xfrm>
            <a:off x="6520375"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51" name="Google Shape;351;p17"/>
          <p:cNvCxnSpPr/>
          <p:nvPr/>
        </p:nvCxnSpPr>
        <p:spPr>
          <a:xfrm>
            <a:off x="6731391"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52" name="Google Shape;352;p17"/>
          <p:cNvCxnSpPr/>
          <p:nvPr/>
        </p:nvCxnSpPr>
        <p:spPr>
          <a:xfrm>
            <a:off x="6942406"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53" name="Google Shape;353;p17"/>
          <p:cNvCxnSpPr/>
          <p:nvPr/>
        </p:nvCxnSpPr>
        <p:spPr>
          <a:xfrm>
            <a:off x="7153422"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54" name="Google Shape;354;p17"/>
          <p:cNvCxnSpPr/>
          <p:nvPr/>
        </p:nvCxnSpPr>
        <p:spPr>
          <a:xfrm>
            <a:off x="7364437"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55" name="Google Shape;355;p17"/>
          <p:cNvCxnSpPr/>
          <p:nvPr/>
        </p:nvCxnSpPr>
        <p:spPr>
          <a:xfrm>
            <a:off x="7575452"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56" name="Google Shape;356;p17"/>
          <p:cNvCxnSpPr/>
          <p:nvPr/>
        </p:nvCxnSpPr>
        <p:spPr>
          <a:xfrm>
            <a:off x="7786468"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57" name="Google Shape;357;p17"/>
          <p:cNvCxnSpPr/>
          <p:nvPr/>
        </p:nvCxnSpPr>
        <p:spPr>
          <a:xfrm>
            <a:off x="7997483"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58" name="Google Shape;358;p17"/>
          <p:cNvCxnSpPr/>
          <p:nvPr/>
        </p:nvCxnSpPr>
        <p:spPr>
          <a:xfrm>
            <a:off x="8208498"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59" name="Google Shape;359;p17"/>
          <p:cNvCxnSpPr/>
          <p:nvPr/>
        </p:nvCxnSpPr>
        <p:spPr>
          <a:xfrm>
            <a:off x="8419514"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60" name="Google Shape;360;p17"/>
          <p:cNvCxnSpPr/>
          <p:nvPr/>
        </p:nvCxnSpPr>
        <p:spPr>
          <a:xfrm>
            <a:off x="8630529"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61" name="Google Shape;361;p17"/>
          <p:cNvCxnSpPr/>
          <p:nvPr/>
        </p:nvCxnSpPr>
        <p:spPr>
          <a:xfrm>
            <a:off x="8841545" y="2103120"/>
            <a:ext cx="0" cy="594300"/>
          </a:xfrm>
          <a:prstGeom prst="straightConnector1">
            <a:avLst/>
          </a:prstGeom>
          <a:noFill/>
          <a:ln cap="flat" cmpd="sng" w="9525">
            <a:solidFill>
              <a:srgbClr val="E0E0E0"/>
            </a:solidFill>
            <a:prstDash val="solid"/>
            <a:round/>
            <a:headEnd len="sm" w="sm" type="none"/>
            <a:tailEnd len="sm" w="sm" type="none"/>
          </a:ln>
        </p:spPr>
      </p:cxnSp>
      <p:sp>
        <p:nvSpPr>
          <p:cNvPr id="362" name="Google Shape;362;p17"/>
          <p:cNvSpPr/>
          <p:nvPr/>
        </p:nvSpPr>
        <p:spPr>
          <a:xfrm>
            <a:off x="5043268" y="2212848"/>
            <a:ext cx="1477200" cy="375000"/>
          </a:xfrm>
          <a:prstGeom prst="rect">
            <a:avLst/>
          </a:prstGeom>
          <a:solidFill>
            <a:srgbClr val="99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7"/>
          <p:cNvSpPr/>
          <p:nvPr/>
        </p:nvSpPr>
        <p:spPr>
          <a:xfrm>
            <a:off x="5043268" y="2212848"/>
            <a:ext cx="1477200" cy="375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W8 – W14</a:t>
            </a:r>
            <a:endParaRPr b="0" i="0" sz="900" u="none" cap="none" strike="noStrike">
              <a:solidFill>
                <a:schemeClr val="dk1"/>
              </a:solidFill>
              <a:latin typeface="Calibri"/>
              <a:ea typeface="Calibri"/>
              <a:cs typeface="Calibri"/>
              <a:sym typeface="Calibri"/>
            </a:endParaRPr>
          </a:p>
        </p:txBody>
      </p:sp>
      <p:sp>
        <p:nvSpPr>
          <p:cNvPr id="364" name="Google Shape;364;p17"/>
          <p:cNvSpPr/>
          <p:nvPr/>
        </p:nvSpPr>
        <p:spPr>
          <a:xfrm>
            <a:off x="457200" y="2926080"/>
            <a:ext cx="8595300" cy="59430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7"/>
          <p:cNvSpPr/>
          <p:nvPr/>
        </p:nvSpPr>
        <p:spPr>
          <a:xfrm>
            <a:off x="594360" y="2926080"/>
            <a:ext cx="28347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000"/>
              <a:buFont typeface="Arial"/>
              <a:buNone/>
            </a:pPr>
            <a:r>
              <a:rPr b="1" i="0" lang="en-US" sz="1000" u="none" cap="none" strike="noStrike">
                <a:solidFill>
                  <a:srgbClr val="333333"/>
                </a:solidFill>
                <a:latin typeface="Arial"/>
                <a:ea typeface="Arial"/>
                <a:cs typeface="Arial"/>
                <a:sym typeface="Arial"/>
              </a:rPr>
              <a:t>Task 3: Vein Identification &amp; Segmentation</a:t>
            </a:r>
            <a:endParaRPr b="0" i="0" sz="1000" u="none" cap="none" strike="noStrike">
              <a:solidFill>
                <a:schemeClr val="dk1"/>
              </a:solidFill>
              <a:latin typeface="Calibri"/>
              <a:ea typeface="Calibri"/>
              <a:cs typeface="Calibri"/>
              <a:sym typeface="Calibri"/>
            </a:endParaRPr>
          </a:p>
        </p:txBody>
      </p:sp>
      <p:cxnSp>
        <p:nvCxnSpPr>
          <p:cNvPr id="366" name="Google Shape;366;p17"/>
          <p:cNvCxnSpPr/>
          <p:nvPr/>
        </p:nvCxnSpPr>
        <p:spPr>
          <a:xfrm>
            <a:off x="3566160"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67" name="Google Shape;367;p17"/>
          <p:cNvCxnSpPr/>
          <p:nvPr/>
        </p:nvCxnSpPr>
        <p:spPr>
          <a:xfrm>
            <a:off x="3777175"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68" name="Google Shape;368;p17"/>
          <p:cNvCxnSpPr/>
          <p:nvPr/>
        </p:nvCxnSpPr>
        <p:spPr>
          <a:xfrm>
            <a:off x="3988191"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69" name="Google Shape;369;p17"/>
          <p:cNvCxnSpPr/>
          <p:nvPr/>
        </p:nvCxnSpPr>
        <p:spPr>
          <a:xfrm>
            <a:off x="4199206"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70" name="Google Shape;370;p17"/>
          <p:cNvCxnSpPr/>
          <p:nvPr/>
        </p:nvCxnSpPr>
        <p:spPr>
          <a:xfrm>
            <a:off x="4410222"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71" name="Google Shape;371;p17"/>
          <p:cNvCxnSpPr/>
          <p:nvPr/>
        </p:nvCxnSpPr>
        <p:spPr>
          <a:xfrm>
            <a:off x="4621237"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72" name="Google Shape;372;p17"/>
          <p:cNvCxnSpPr/>
          <p:nvPr/>
        </p:nvCxnSpPr>
        <p:spPr>
          <a:xfrm>
            <a:off x="4832252"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73" name="Google Shape;373;p17"/>
          <p:cNvCxnSpPr/>
          <p:nvPr/>
        </p:nvCxnSpPr>
        <p:spPr>
          <a:xfrm>
            <a:off x="5043268"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74" name="Google Shape;374;p17"/>
          <p:cNvCxnSpPr/>
          <p:nvPr/>
        </p:nvCxnSpPr>
        <p:spPr>
          <a:xfrm>
            <a:off x="5254283"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75" name="Google Shape;375;p17"/>
          <p:cNvCxnSpPr/>
          <p:nvPr/>
        </p:nvCxnSpPr>
        <p:spPr>
          <a:xfrm>
            <a:off x="5465298"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76" name="Google Shape;376;p17"/>
          <p:cNvCxnSpPr/>
          <p:nvPr/>
        </p:nvCxnSpPr>
        <p:spPr>
          <a:xfrm>
            <a:off x="5676314"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77" name="Google Shape;377;p17"/>
          <p:cNvCxnSpPr/>
          <p:nvPr/>
        </p:nvCxnSpPr>
        <p:spPr>
          <a:xfrm>
            <a:off x="5887329"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78" name="Google Shape;378;p17"/>
          <p:cNvCxnSpPr/>
          <p:nvPr/>
        </p:nvCxnSpPr>
        <p:spPr>
          <a:xfrm>
            <a:off x="6098345"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79" name="Google Shape;379;p17"/>
          <p:cNvCxnSpPr/>
          <p:nvPr/>
        </p:nvCxnSpPr>
        <p:spPr>
          <a:xfrm>
            <a:off x="6309360"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80" name="Google Shape;380;p17"/>
          <p:cNvCxnSpPr/>
          <p:nvPr/>
        </p:nvCxnSpPr>
        <p:spPr>
          <a:xfrm>
            <a:off x="6520375"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81" name="Google Shape;381;p17"/>
          <p:cNvCxnSpPr/>
          <p:nvPr/>
        </p:nvCxnSpPr>
        <p:spPr>
          <a:xfrm>
            <a:off x="6731391"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82" name="Google Shape;382;p17"/>
          <p:cNvCxnSpPr/>
          <p:nvPr/>
        </p:nvCxnSpPr>
        <p:spPr>
          <a:xfrm>
            <a:off x="6942406"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83" name="Google Shape;383;p17"/>
          <p:cNvCxnSpPr/>
          <p:nvPr/>
        </p:nvCxnSpPr>
        <p:spPr>
          <a:xfrm>
            <a:off x="7153422"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84" name="Google Shape;384;p17"/>
          <p:cNvCxnSpPr/>
          <p:nvPr/>
        </p:nvCxnSpPr>
        <p:spPr>
          <a:xfrm>
            <a:off x="7364437"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85" name="Google Shape;385;p17"/>
          <p:cNvCxnSpPr/>
          <p:nvPr/>
        </p:nvCxnSpPr>
        <p:spPr>
          <a:xfrm>
            <a:off x="7575452"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86" name="Google Shape;386;p17"/>
          <p:cNvCxnSpPr/>
          <p:nvPr/>
        </p:nvCxnSpPr>
        <p:spPr>
          <a:xfrm>
            <a:off x="7786468"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87" name="Google Shape;387;p17"/>
          <p:cNvCxnSpPr/>
          <p:nvPr/>
        </p:nvCxnSpPr>
        <p:spPr>
          <a:xfrm>
            <a:off x="7997483"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88" name="Google Shape;388;p17"/>
          <p:cNvCxnSpPr/>
          <p:nvPr/>
        </p:nvCxnSpPr>
        <p:spPr>
          <a:xfrm>
            <a:off x="8208498"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89" name="Google Shape;389;p17"/>
          <p:cNvCxnSpPr/>
          <p:nvPr/>
        </p:nvCxnSpPr>
        <p:spPr>
          <a:xfrm>
            <a:off x="8419514"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90" name="Google Shape;390;p17"/>
          <p:cNvCxnSpPr/>
          <p:nvPr/>
        </p:nvCxnSpPr>
        <p:spPr>
          <a:xfrm>
            <a:off x="8630529"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91" name="Google Shape;391;p17"/>
          <p:cNvCxnSpPr/>
          <p:nvPr/>
        </p:nvCxnSpPr>
        <p:spPr>
          <a:xfrm>
            <a:off x="8841545" y="2926080"/>
            <a:ext cx="0" cy="594300"/>
          </a:xfrm>
          <a:prstGeom prst="straightConnector1">
            <a:avLst/>
          </a:prstGeom>
          <a:noFill/>
          <a:ln cap="flat" cmpd="sng" w="9525">
            <a:solidFill>
              <a:srgbClr val="E0E0E0"/>
            </a:solidFill>
            <a:prstDash val="solid"/>
            <a:round/>
            <a:headEnd len="sm" w="sm" type="none"/>
            <a:tailEnd len="sm" w="sm" type="none"/>
          </a:ln>
        </p:spPr>
      </p:cxnSp>
      <p:sp>
        <p:nvSpPr>
          <p:cNvPr id="392" name="Google Shape;392;p17"/>
          <p:cNvSpPr/>
          <p:nvPr/>
        </p:nvSpPr>
        <p:spPr>
          <a:xfrm>
            <a:off x="6520375" y="3035808"/>
            <a:ext cx="1477200" cy="375000"/>
          </a:xfrm>
          <a:prstGeom prst="rect">
            <a:avLst/>
          </a:prstGeom>
          <a:solidFill>
            <a:srgbClr val="B3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7"/>
          <p:cNvSpPr/>
          <p:nvPr/>
        </p:nvSpPr>
        <p:spPr>
          <a:xfrm>
            <a:off x="6520375" y="3035808"/>
            <a:ext cx="1477200" cy="375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W15 – W21</a:t>
            </a:r>
            <a:endParaRPr b="0" i="0" sz="900" u="none" cap="none" strike="noStrike">
              <a:solidFill>
                <a:schemeClr val="dk1"/>
              </a:solidFill>
              <a:latin typeface="Calibri"/>
              <a:ea typeface="Calibri"/>
              <a:cs typeface="Calibri"/>
              <a:sym typeface="Calibri"/>
            </a:endParaRPr>
          </a:p>
        </p:txBody>
      </p:sp>
      <p:sp>
        <p:nvSpPr>
          <p:cNvPr id="394" name="Google Shape;394;p17"/>
          <p:cNvSpPr/>
          <p:nvPr/>
        </p:nvSpPr>
        <p:spPr>
          <a:xfrm>
            <a:off x="457200" y="3749040"/>
            <a:ext cx="8595300" cy="59430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7"/>
          <p:cNvSpPr/>
          <p:nvPr/>
        </p:nvSpPr>
        <p:spPr>
          <a:xfrm>
            <a:off x="594360" y="3749040"/>
            <a:ext cx="28347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000"/>
              <a:buFont typeface="Arial"/>
              <a:buNone/>
            </a:pPr>
            <a:r>
              <a:rPr b="1" i="0" lang="en-US" sz="1000" u="none" cap="none" strike="noStrike">
                <a:solidFill>
                  <a:srgbClr val="333333"/>
                </a:solidFill>
                <a:latin typeface="Arial"/>
                <a:ea typeface="Arial"/>
                <a:cs typeface="Arial"/>
                <a:sym typeface="Arial"/>
              </a:rPr>
              <a:t>Task 4: VLM Approach for Task 2 &amp; 3</a:t>
            </a:r>
            <a:endParaRPr b="0" i="0" sz="1000" u="none" cap="none" strike="noStrike">
              <a:solidFill>
                <a:schemeClr val="dk1"/>
              </a:solidFill>
              <a:latin typeface="Calibri"/>
              <a:ea typeface="Calibri"/>
              <a:cs typeface="Calibri"/>
              <a:sym typeface="Calibri"/>
            </a:endParaRPr>
          </a:p>
        </p:txBody>
      </p:sp>
      <p:cxnSp>
        <p:nvCxnSpPr>
          <p:cNvPr id="396" name="Google Shape;396;p17"/>
          <p:cNvCxnSpPr/>
          <p:nvPr/>
        </p:nvCxnSpPr>
        <p:spPr>
          <a:xfrm>
            <a:off x="3566160"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97" name="Google Shape;397;p17"/>
          <p:cNvCxnSpPr/>
          <p:nvPr/>
        </p:nvCxnSpPr>
        <p:spPr>
          <a:xfrm>
            <a:off x="3777175"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98" name="Google Shape;398;p17"/>
          <p:cNvCxnSpPr/>
          <p:nvPr/>
        </p:nvCxnSpPr>
        <p:spPr>
          <a:xfrm>
            <a:off x="3988191"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99" name="Google Shape;399;p17"/>
          <p:cNvCxnSpPr/>
          <p:nvPr/>
        </p:nvCxnSpPr>
        <p:spPr>
          <a:xfrm>
            <a:off x="4199206"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400" name="Google Shape;400;p17"/>
          <p:cNvCxnSpPr/>
          <p:nvPr/>
        </p:nvCxnSpPr>
        <p:spPr>
          <a:xfrm>
            <a:off x="4410222"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401" name="Google Shape;401;p17"/>
          <p:cNvCxnSpPr/>
          <p:nvPr/>
        </p:nvCxnSpPr>
        <p:spPr>
          <a:xfrm>
            <a:off x="4621237"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402" name="Google Shape;402;p17"/>
          <p:cNvCxnSpPr/>
          <p:nvPr/>
        </p:nvCxnSpPr>
        <p:spPr>
          <a:xfrm>
            <a:off x="4832252"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403" name="Google Shape;403;p17"/>
          <p:cNvCxnSpPr/>
          <p:nvPr/>
        </p:nvCxnSpPr>
        <p:spPr>
          <a:xfrm>
            <a:off x="5043268"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404" name="Google Shape;404;p17"/>
          <p:cNvCxnSpPr/>
          <p:nvPr/>
        </p:nvCxnSpPr>
        <p:spPr>
          <a:xfrm>
            <a:off x="5254283"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405" name="Google Shape;405;p17"/>
          <p:cNvCxnSpPr/>
          <p:nvPr/>
        </p:nvCxnSpPr>
        <p:spPr>
          <a:xfrm>
            <a:off x="5465298"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406" name="Google Shape;406;p17"/>
          <p:cNvCxnSpPr/>
          <p:nvPr/>
        </p:nvCxnSpPr>
        <p:spPr>
          <a:xfrm>
            <a:off x="5676314"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407" name="Google Shape;407;p17"/>
          <p:cNvCxnSpPr/>
          <p:nvPr/>
        </p:nvCxnSpPr>
        <p:spPr>
          <a:xfrm>
            <a:off x="5887329"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408" name="Google Shape;408;p17"/>
          <p:cNvCxnSpPr/>
          <p:nvPr/>
        </p:nvCxnSpPr>
        <p:spPr>
          <a:xfrm>
            <a:off x="6098345"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409" name="Google Shape;409;p17"/>
          <p:cNvCxnSpPr/>
          <p:nvPr/>
        </p:nvCxnSpPr>
        <p:spPr>
          <a:xfrm>
            <a:off x="6309360"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410" name="Google Shape;410;p17"/>
          <p:cNvCxnSpPr/>
          <p:nvPr/>
        </p:nvCxnSpPr>
        <p:spPr>
          <a:xfrm>
            <a:off x="6520375"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411" name="Google Shape;411;p17"/>
          <p:cNvCxnSpPr/>
          <p:nvPr/>
        </p:nvCxnSpPr>
        <p:spPr>
          <a:xfrm>
            <a:off x="6731391"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412" name="Google Shape;412;p17"/>
          <p:cNvCxnSpPr/>
          <p:nvPr/>
        </p:nvCxnSpPr>
        <p:spPr>
          <a:xfrm>
            <a:off x="6942406"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413" name="Google Shape;413;p17"/>
          <p:cNvCxnSpPr/>
          <p:nvPr/>
        </p:nvCxnSpPr>
        <p:spPr>
          <a:xfrm>
            <a:off x="7153422"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414" name="Google Shape;414;p17"/>
          <p:cNvCxnSpPr/>
          <p:nvPr/>
        </p:nvCxnSpPr>
        <p:spPr>
          <a:xfrm>
            <a:off x="7364437"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415" name="Google Shape;415;p17"/>
          <p:cNvCxnSpPr/>
          <p:nvPr/>
        </p:nvCxnSpPr>
        <p:spPr>
          <a:xfrm>
            <a:off x="7575452"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416" name="Google Shape;416;p17"/>
          <p:cNvCxnSpPr/>
          <p:nvPr/>
        </p:nvCxnSpPr>
        <p:spPr>
          <a:xfrm>
            <a:off x="7786468"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417" name="Google Shape;417;p17"/>
          <p:cNvCxnSpPr/>
          <p:nvPr/>
        </p:nvCxnSpPr>
        <p:spPr>
          <a:xfrm>
            <a:off x="7997483"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418" name="Google Shape;418;p17"/>
          <p:cNvCxnSpPr/>
          <p:nvPr/>
        </p:nvCxnSpPr>
        <p:spPr>
          <a:xfrm>
            <a:off x="8208498"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419" name="Google Shape;419;p17"/>
          <p:cNvCxnSpPr/>
          <p:nvPr/>
        </p:nvCxnSpPr>
        <p:spPr>
          <a:xfrm>
            <a:off x="8419514"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420" name="Google Shape;420;p17"/>
          <p:cNvCxnSpPr/>
          <p:nvPr/>
        </p:nvCxnSpPr>
        <p:spPr>
          <a:xfrm>
            <a:off x="8630529"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421" name="Google Shape;421;p17"/>
          <p:cNvCxnSpPr/>
          <p:nvPr/>
        </p:nvCxnSpPr>
        <p:spPr>
          <a:xfrm>
            <a:off x="8841545" y="3749040"/>
            <a:ext cx="0" cy="594300"/>
          </a:xfrm>
          <a:prstGeom prst="straightConnector1">
            <a:avLst/>
          </a:prstGeom>
          <a:noFill/>
          <a:ln cap="flat" cmpd="sng" w="9525">
            <a:solidFill>
              <a:srgbClr val="E0E0E0"/>
            </a:solidFill>
            <a:prstDash val="solid"/>
            <a:round/>
            <a:headEnd len="sm" w="sm" type="none"/>
            <a:tailEnd len="sm" w="sm" type="none"/>
          </a:ln>
        </p:spPr>
      </p:cxnSp>
      <p:sp>
        <p:nvSpPr>
          <p:cNvPr id="422" name="Google Shape;422;p17"/>
          <p:cNvSpPr/>
          <p:nvPr/>
        </p:nvSpPr>
        <p:spPr>
          <a:xfrm>
            <a:off x="7997483" y="3858768"/>
            <a:ext cx="1055100" cy="375000"/>
          </a:xfrm>
          <a:prstGeom prst="rect">
            <a:avLst/>
          </a:prstGeom>
          <a:solidFill>
            <a:srgbClr val="66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7"/>
          <p:cNvSpPr/>
          <p:nvPr/>
        </p:nvSpPr>
        <p:spPr>
          <a:xfrm>
            <a:off x="7997483" y="3858768"/>
            <a:ext cx="1055100" cy="375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W22 – W26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428" name="Shape 428"/>
        <p:cNvGrpSpPr/>
        <p:nvPr/>
      </p:nvGrpSpPr>
      <p:grpSpPr>
        <a:xfrm>
          <a:off x="0" y="0"/>
          <a:ext cx="0" cy="0"/>
          <a:chOff x="0" y="0"/>
          <a:chExt cx="0" cy="0"/>
        </a:xfrm>
      </p:grpSpPr>
      <p:sp>
        <p:nvSpPr>
          <p:cNvPr id="429" name="Google Shape;429;p18"/>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8"/>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End-of-Internship Deliverables</a:t>
            </a:r>
            <a:endParaRPr b="0" i="0" sz="2600" u="none" cap="none" strike="noStrike">
              <a:solidFill>
                <a:schemeClr val="dk1"/>
              </a:solidFill>
              <a:latin typeface="Calibri"/>
              <a:ea typeface="Calibri"/>
              <a:cs typeface="Calibri"/>
              <a:sym typeface="Calibri"/>
            </a:endParaRPr>
          </a:p>
        </p:txBody>
      </p:sp>
      <p:sp>
        <p:nvSpPr>
          <p:cNvPr id="431" name="Google Shape;431;p18"/>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8"/>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433" name="Google Shape;433;p18"/>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434" name="Google Shape;434;p18"/>
          <p:cNvSpPr/>
          <p:nvPr/>
        </p:nvSpPr>
        <p:spPr>
          <a:xfrm>
            <a:off x="457200" y="1051560"/>
            <a:ext cx="8229600" cy="7772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8"/>
          <p:cNvSpPr/>
          <p:nvPr/>
        </p:nvSpPr>
        <p:spPr>
          <a:xfrm>
            <a:off x="457200" y="1051560"/>
            <a:ext cx="54864" cy="7772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8"/>
          <p:cNvSpPr/>
          <p:nvPr/>
        </p:nvSpPr>
        <p:spPr>
          <a:xfrm>
            <a:off x="640080" y="109728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Code &amp; Systems</a:t>
            </a:r>
            <a:endParaRPr b="0" i="0" sz="1300" u="none" cap="none" strike="noStrike">
              <a:solidFill>
                <a:schemeClr val="dk1"/>
              </a:solidFill>
              <a:latin typeface="Calibri"/>
              <a:ea typeface="Calibri"/>
              <a:cs typeface="Calibri"/>
              <a:sym typeface="Calibri"/>
            </a:endParaRPr>
          </a:p>
        </p:txBody>
      </p:sp>
      <p:sp>
        <p:nvSpPr>
          <p:cNvPr id="437" name="Google Shape;437;p18"/>
          <p:cNvSpPr/>
          <p:nvPr/>
        </p:nvSpPr>
        <p:spPr>
          <a:xfrm>
            <a:off x="731520" y="1371600"/>
            <a:ext cx="7680960" cy="3657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Working prototype with all three tasks integrated</a:t>
            </a:r>
            <a:endParaRPr b="0" i="0" sz="10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Production-ready API with documentation</a:t>
            </a:r>
            <a:endParaRPr b="0" i="0" sz="1050" u="none" cap="none" strike="noStrike">
              <a:solidFill>
                <a:schemeClr val="dk1"/>
              </a:solidFill>
              <a:latin typeface="Calibri"/>
              <a:ea typeface="Calibri"/>
              <a:cs typeface="Calibri"/>
              <a:sym typeface="Calibri"/>
            </a:endParaRPr>
          </a:p>
        </p:txBody>
      </p:sp>
      <p:sp>
        <p:nvSpPr>
          <p:cNvPr id="438" name="Google Shape;438;p18"/>
          <p:cNvSpPr/>
          <p:nvPr/>
        </p:nvSpPr>
        <p:spPr>
          <a:xfrm>
            <a:off x="457200" y="2194560"/>
            <a:ext cx="8229600" cy="10058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8"/>
          <p:cNvSpPr/>
          <p:nvPr/>
        </p:nvSpPr>
        <p:spPr>
          <a:xfrm>
            <a:off x="457200" y="2194560"/>
            <a:ext cx="54864" cy="10058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8"/>
          <p:cNvSpPr/>
          <p:nvPr/>
        </p:nvSpPr>
        <p:spPr>
          <a:xfrm>
            <a:off x="640080" y="224028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Documentation</a:t>
            </a:r>
            <a:endParaRPr b="0" i="0" sz="1300" u="none" cap="none" strike="noStrike">
              <a:solidFill>
                <a:schemeClr val="dk1"/>
              </a:solidFill>
              <a:latin typeface="Calibri"/>
              <a:ea typeface="Calibri"/>
              <a:cs typeface="Calibri"/>
              <a:sym typeface="Calibri"/>
            </a:endParaRPr>
          </a:p>
        </p:txBody>
      </p:sp>
      <p:sp>
        <p:nvSpPr>
          <p:cNvPr id="441" name="Google Shape;441;p18"/>
          <p:cNvSpPr/>
          <p:nvPr/>
        </p:nvSpPr>
        <p:spPr>
          <a:xfrm>
            <a:off x="731520" y="2514600"/>
            <a:ext cx="7680960" cy="5943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Comprehensive technical documentation &amp; API specs</a:t>
            </a:r>
            <a:endParaRPr b="0" i="0" sz="10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Deployment guide &amp; infrastructure recommendations</a:t>
            </a:r>
            <a:endParaRPr b="0" i="0" sz="10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Clinical validation results</a:t>
            </a:r>
            <a:endParaRPr b="0" i="0" sz="1050" u="none" cap="none" strike="noStrike">
              <a:solidFill>
                <a:schemeClr val="dk1"/>
              </a:solidFill>
              <a:latin typeface="Calibri"/>
              <a:ea typeface="Calibri"/>
              <a:cs typeface="Calibri"/>
              <a:sym typeface="Calibri"/>
            </a:endParaRPr>
          </a:p>
        </p:txBody>
      </p:sp>
      <p:sp>
        <p:nvSpPr>
          <p:cNvPr id="442" name="Google Shape;442;p18"/>
          <p:cNvSpPr/>
          <p:nvPr/>
        </p:nvSpPr>
        <p:spPr>
          <a:xfrm>
            <a:off x="457200" y="3337560"/>
            <a:ext cx="8229600" cy="7772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8"/>
          <p:cNvSpPr/>
          <p:nvPr/>
        </p:nvSpPr>
        <p:spPr>
          <a:xfrm>
            <a:off x="457200" y="3337560"/>
            <a:ext cx="54864" cy="7772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8"/>
          <p:cNvSpPr/>
          <p:nvPr/>
        </p:nvSpPr>
        <p:spPr>
          <a:xfrm>
            <a:off x="640080" y="338328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Evaluation</a:t>
            </a:r>
            <a:endParaRPr b="0" i="0" sz="1300" u="none" cap="none" strike="noStrike">
              <a:solidFill>
                <a:schemeClr val="dk1"/>
              </a:solidFill>
              <a:latin typeface="Calibri"/>
              <a:ea typeface="Calibri"/>
              <a:cs typeface="Calibri"/>
              <a:sym typeface="Calibri"/>
            </a:endParaRPr>
          </a:p>
        </p:txBody>
      </p:sp>
      <p:sp>
        <p:nvSpPr>
          <p:cNvPr id="445" name="Google Shape;445;p18"/>
          <p:cNvSpPr/>
          <p:nvPr/>
        </p:nvSpPr>
        <p:spPr>
          <a:xfrm>
            <a:off x="731520" y="3657600"/>
            <a:ext cx="7680960" cy="3657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Performance benchmarks &amp; evaluation reports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