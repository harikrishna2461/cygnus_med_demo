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457200"/>
            <a:ext cx="2286000" cy="2212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CHIVA Ultrasound AI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Roadmap &amp; System Architecture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Core Tasks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3886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188720"/>
            <a:ext cx="411480" cy="41148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11612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+ RAG for Shunt Classification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16002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shunt types based on escape/re-entry points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decisions based on CHIVA literature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structured clinical reports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1051560"/>
            <a:ext cx="3886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188720"/>
            <a:ext cx="411480" cy="41148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40680" y="11612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for Active Scanning Guidance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16002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probe positioning recommendations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guidance using real-time session findings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low latency (&lt;500ms target)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captured findings to improve guidance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880360"/>
            <a:ext cx="3886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" y="3017520"/>
            <a:ext cx="411480" cy="41148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97280" y="29900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LLM-based Vein Identification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" y="34290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vein detection and segmentation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 processing (&lt;33ms per frame)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00600" y="2880360"/>
            <a:ext cx="3886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937760" y="3017520"/>
            <a:ext cx="411480" cy="411480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49377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40680" y="29900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VLM Approach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29200" y="34290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approach for task 2 and task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1: LLM + RAG for Shunt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shunt type identification after the assessment (not live)     </a:t>
            </a:r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all input points are already ready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Approach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Integration: Local Ollama Models like Mistral or Llama 1B/GPT-4/Claude for zero-shot classification. Identify suitable LLM for the usecase through literature review of LLMs. Also compute the rough licensing and cost for these services.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Pipeline: CHIVA literature + hemodynamic rules as context stored in Qdrant DB.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Output: JSON schema for consistent results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Engineering: Multi-shot examples + chain-of-thought reasoning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Jefry to collect some ground truth examples and use it to validate the LLM responses.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app sent to surgeons so that they can provide review and suggestions which can be used to improve LLM's precision.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1: LLM + RAG for Shunt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(if needed)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4630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 &amp; Uncertainty quantification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LLM on labeled datasets of input flow data and shunt classification output with ligation suggestions based on CHIVA literature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more relevant CHIVA literature books to improve the quality of responses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optimization with semantic chunking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hallucination with better prompting and schema relevant RAG retrieval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Ollama, OpenAI/Claude/Groq API, LangChain, FAISS, ChromaDB, Pydantic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1: Potential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9728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Enhancement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554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quantification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109728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09728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Optimization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1554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Distillation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 deployment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74320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Integration &amp; Compliance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3200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feedback loops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HIPAA-compliant handling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00600" y="274320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00600" y="274320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498348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0" y="3200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testing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 handling and testing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2: Active Scanning Guidance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AI co-pilot for ultrasound operators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Approach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Agent: Few-shot prompting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Management: Session state + captured findings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Reasoning: Rule-based probe guidance logic with rules formulated by the LLM based on the RAG context it has from the medical literature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Survey: Explore the benchmark Vision Transformers for ultrasound images and use them for probe guidance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2: Active Scanning Guidance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(if needed)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fine-tuning on ultrasound medical images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fusion of image + text inputs for probe guidance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Latency-optimized model serving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Ollama, Crew-AI/LangChain Agents, CLIP, Redis, FastAPI, vLLM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2: Potential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9728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Performance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554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inference with Low Latency and Memory Usages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optimization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109728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09728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 Integration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1554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aided Image feature extraction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74320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Experience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3200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Confidence-ranked suggestions and reduce dismissible recommendations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learning (a subfield of ML that models and predicts user preferences based on observed data)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00600" y="274320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00600" y="274320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498348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0" y="3200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guidance quality consistency by quality scoring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3: Vein Identification &amp;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vision-based vein detection     </a:t>
            </a:r>
            <a:pPr indent="0" marL="0">
              <a:buNone/>
            </a:pPr>
            <a:r>
              <a:rPr lang="en-US" sz="11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annotated image with fascia and vein annotations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Approach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192024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vein classification in annotated ultrasound streams using Vision LLMs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RAG database grounded on CHIVA medical literature and inferencing this knowledge as context to the LLM to help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Inferencing RAG knowledge as context to the LLM to help the model make high quality and high precision classifications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Low-latency processing (&lt;33ms for 30fps)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3: Vein Identification &amp;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(if needed)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Vision LLM on labeled ultrasound datasets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OpenCV, Claude/OpenAI Vision LLM APIs, Hugging Face Vision LLMs, Ollama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3: Potential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9728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9728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Accuracy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554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on ultrasound datasets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mechanisms adaptations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0600" y="109728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09728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&amp; Efficiency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1554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distillation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optimization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acceleration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74320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74320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Coherence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3200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filtering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better tracking algorithms using VLMs or finetuned VLMs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00600" y="2743200"/>
            <a:ext cx="3886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00600" y="2743200"/>
            <a:ext cx="54864" cy="14630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498348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29200" y="320040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Imaging artifact handling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Plan: Weeks 1-2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1247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1: Foundation &amp; Setup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43560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setup &amp; environment configuration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review: CHIVA guidelines &amp; hemodynamics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scaffolding with LangChain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VLM models (CLIP, DINOv2, LLaVA)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existing vein detection code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2816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2: Task 1 Foundation (Shunt Classification)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12724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zero-shot LLM classification with GPT-4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CHIVA literature embedding database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JSON schema for classification output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Pydantic models for structured output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initial prompt templates with chain-of-thought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Plan: Weeks 3-4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1247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3: Task 1 RAG &amp; Task 2 Start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43560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RAG pipeline with FAISS/ChromaDB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shunt classification on labeled case studies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clinical report generation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LLM Agent design for guidance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protocol rule-based system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2816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4: Task 2 &amp; Task 3 Enhancement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12724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real-time guidance LLM agent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session state management (Redis)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vein detection for speed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temporal smoothing for vein segmentation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profiling &amp; latency benchmarking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Plan: Weeks 5-6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1247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5: Integration &amp; Testing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143560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all three tasks into unified API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 with real ultrasound data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classification accuracy on test set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guidance quality and adherence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latency across all components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8229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28163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6: Optimization &amp; Documentation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312724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experiments if performance gaps exist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distillation for inference optimization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documentation &amp; API specs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readiness assessment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presentation &amp; findings report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Weekly Plan: Weeks 1-26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0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3418449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636498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854548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072597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290646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508695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726745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944794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162843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5380892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598942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816991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035040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6253089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471138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689188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907237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125286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7343335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561385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7779434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997483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8215532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8433582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8651631" y="914400"/>
            <a:ext cx="2180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57200" y="1143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Setup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3200400" y="1143000"/>
            <a:ext cx="56692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3200400" y="1170432"/>
            <a:ext cx="218049" cy="14630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13624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Shunt Classification (Phase 1)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3200400" y="1362456"/>
            <a:ext cx="5669280" cy="20116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8" name="Shape 35"/>
          <p:cNvSpPr/>
          <p:nvPr/>
        </p:nvSpPr>
        <p:spPr>
          <a:xfrm>
            <a:off x="3418449" y="1389888"/>
            <a:ext cx="654148" cy="1463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" y="15819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RAG Integration &amp; Validation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3200400" y="1581912"/>
            <a:ext cx="56692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3636498" y="1609344"/>
            <a:ext cx="654148" cy="1463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2" name="Text 39"/>
          <p:cNvSpPr/>
          <p:nvPr/>
        </p:nvSpPr>
        <p:spPr>
          <a:xfrm>
            <a:off x="457200" y="1801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Scanning Guidance (Phase 1)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3200400" y="1801368"/>
            <a:ext cx="5669280" cy="20116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4" name="Shape 41"/>
          <p:cNvSpPr/>
          <p:nvPr/>
        </p:nvSpPr>
        <p:spPr>
          <a:xfrm>
            <a:off x="3854548" y="1828800"/>
            <a:ext cx="872197" cy="14630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45" name="Text 42"/>
          <p:cNvSpPr/>
          <p:nvPr/>
        </p:nvSpPr>
        <p:spPr>
          <a:xfrm>
            <a:off x="457200" y="2020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Vein Identification (Phase 1)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3200400" y="2020824"/>
            <a:ext cx="56692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4072597" y="2048256"/>
            <a:ext cx="872197" cy="14630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48" name="Text 45"/>
          <p:cNvSpPr/>
          <p:nvPr/>
        </p:nvSpPr>
        <p:spPr>
          <a:xfrm>
            <a:off x="457200" y="22402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End-to-End Testing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3200400" y="2240280"/>
            <a:ext cx="5669280" cy="20116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0" name="Shape 47"/>
          <p:cNvSpPr/>
          <p:nvPr/>
        </p:nvSpPr>
        <p:spPr>
          <a:xfrm>
            <a:off x="4726745" y="2267712"/>
            <a:ext cx="654148" cy="146304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51" name="Text 48"/>
          <p:cNvSpPr/>
          <p:nvPr/>
        </p:nvSpPr>
        <p:spPr>
          <a:xfrm>
            <a:off x="457200" y="24597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Phase 2 (Fine-tuning &amp; Confidence)</a:t>
            </a:r>
            <a:endParaRPr lang="en-US" sz="700" dirty="0"/>
          </a:p>
        </p:txBody>
      </p:sp>
      <p:sp>
        <p:nvSpPr>
          <p:cNvPr id="52" name="Shape 49"/>
          <p:cNvSpPr/>
          <p:nvPr/>
        </p:nvSpPr>
        <p:spPr>
          <a:xfrm>
            <a:off x="3200400" y="2459736"/>
            <a:ext cx="56692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0"/>
          <p:cNvSpPr/>
          <p:nvPr/>
        </p:nvSpPr>
        <p:spPr>
          <a:xfrm>
            <a:off x="5162843" y="2487168"/>
            <a:ext cx="872197" cy="1463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4" name="Text 51"/>
          <p:cNvSpPr/>
          <p:nvPr/>
        </p:nvSpPr>
        <p:spPr>
          <a:xfrm>
            <a:off x="457200" y="2679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Phase 2 (VLM Fine-tuning)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3200400" y="2679192"/>
            <a:ext cx="5669280" cy="20116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6" name="Shape 53"/>
          <p:cNvSpPr/>
          <p:nvPr/>
        </p:nvSpPr>
        <p:spPr>
          <a:xfrm>
            <a:off x="5380892" y="2706624"/>
            <a:ext cx="872197" cy="14630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57" name="Text 54"/>
          <p:cNvSpPr/>
          <p:nvPr/>
        </p:nvSpPr>
        <p:spPr>
          <a:xfrm>
            <a:off x="457200" y="28986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Phase 2 (VLM Fine-tuning)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3200400" y="2898648"/>
            <a:ext cx="56692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6"/>
          <p:cNvSpPr/>
          <p:nvPr/>
        </p:nvSpPr>
        <p:spPr>
          <a:xfrm>
            <a:off x="5598942" y="2926080"/>
            <a:ext cx="872197" cy="146304"/>
          </a:xfrm>
          <a:prstGeom prst="rect">
            <a:avLst/>
          </a:prstGeom>
          <a:solidFill>
            <a:srgbClr val="B30000"/>
          </a:solidFill>
          <a:ln/>
        </p:spPr>
      </p:sp>
      <p:sp>
        <p:nvSpPr>
          <p:cNvPr id="60" name="Text 57"/>
          <p:cNvSpPr/>
          <p:nvPr/>
        </p:nvSpPr>
        <p:spPr>
          <a:xfrm>
            <a:off x="457200" y="31181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4: VLM Approach for Tasks 2 &amp; 3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3200400" y="3118104"/>
            <a:ext cx="5669280" cy="20116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62" name="Shape 59"/>
          <p:cNvSpPr/>
          <p:nvPr/>
        </p:nvSpPr>
        <p:spPr>
          <a:xfrm>
            <a:off x="6035040" y="3145536"/>
            <a:ext cx="1090246" cy="146304"/>
          </a:xfrm>
          <a:prstGeom prst="rect">
            <a:avLst/>
          </a:prstGeom>
          <a:solidFill>
            <a:srgbClr val="660000"/>
          </a:solidFill>
          <a:ln/>
        </p:spPr>
      </p:sp>
      <p:sp>
        <p:nvSpPr>
          <p:cNvPr id="63" name="Text 60"/>
          <p:cNvSpPr/>
          <p:nvPr/>
        </p:nvSpPr>
        <p:spPr>
          <a:xfrm>
            <a:off x="457200" y="3337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 &amp; Benchmarking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3200400" y="3337560"/>
            <a:ext cx="56692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2"/>
          <p:cNvSpPr/>
          <p:nvPr/>
        </p:nvSpPr>
        <p:spPr>
          <a:xfrm>
            <a:off x="6907237" y="3364992"/>
            <a:ext cx="872197" cy="146304"/>
          </a:xfrm>
          <a:prstGeom prst="rect">
            <a:avLst/>
          </a:prstGeom>
          <a:solidFill>
            <a:srgbClr val="800000"/>
          </a:solidFill>
          <a:ln/>
        </p:spPr>
      </p:sp>
      <p:sp>
        <p:nvSpPr>
          <p:cNvPr id="66" name="Text 63"/>
          <p:cNvSpPr/>
          <p:nvPr/>
        </p:nvSpPr>
        <p:spPr>
          <a:xfrm>
            <a:off x="457200" y="3557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Validation &amp; Surgeon Feedback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00400" y="3557016"/>
            <a:ext cx="5669280" cy="20116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68" name="Shape 65"/>
          <p:cNvSpPr/>
          <p:nvPr/>
        </p:nvSpPr>
        <p:spPr>
          <a:xfrm>
            <a:off x="7343335" y="3584448"/>
            <a:ext cx="872197" cy="14630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9" name="Text 66"/>
          <p:cNvSpPr/>
          <p:nvPr/>
        </p:nvSpPr>
        <p:spPr>
          <a:xfrm>
            <a:off x="457200" y="37764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Preparation &amp; Documentation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3200400" y="3776472"/>
            <a:ext cx="566928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hape 68"/>
          <p:cNvSpPr/>
          <p:nvPr/>
        </p:nvSpPr>
        <p:spPr>
          <a:xfrm>
            <a:off x="7997483" y="3803904"/>
            <a:ext cx="654148" cy="146304"/>
          </a:xfrm>
          <a:prstGeom prst="rect">
            <a:avLst/>
          </a:prstGeom>
          <a:solidFill>
            <a:srgbClr val="990000"/>
          </a:solidFill>
          <a:ln/>
        </p:spPr>
      </p:sp>
      <p:sp>
        <p:nvSpPr>
          <p:cNvPr id="72" name="Text 69"/>
          <p:cNvSpPr/>
          <p:nvPr/>
        </p:nvSpPr>
        <p:spPr>
          <a:xfrm>
            <a:off x="457200" y="3995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 &amp; Presentation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3200400" y="3995928"/>
            <a:ext cx="5669280" cy="20116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4" name="Shape 71"/>
          <p:cNvSpPr/>
          <p:nvPr/>
        </p:nvSpPr>
        <p:spPr>
          <a:xfrm>
            <a:off x="8433582" y="4023360"/>
            <a:ext cx="436098" cy="146304"/>
          </a:xfrm>
          <a:prstGeom prst="rect">
            <a:avLst/>
          </a:prstGeom>
          <a:solidFill>
            <a:srgbClr val="66000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 &amp; KPIs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51560"/>
            <a:ext cx="54864" cy="10515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1: Shunt Classification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Accuracy: ≥85% on labeled cases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Rate: &lt;5% with RAG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Latency: &lt;2 seconds per case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Quality: Clinician review score ≥4/5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54864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2: Scanning Guidance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Latency: &lt;500ms per recommendation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Acceptance: ≥70% useful suggestions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246120"/>
            <a:ext cx="8229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246120"/>
            <a:ext cx="54864" cy="12344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3: Vein Detection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Accuracy: ≥90% on labeled cases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Sensitivity: ≥90%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IoU: ≥0.70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Real-time: ≥30fps (≤33ms/frame)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51560"/>
            <a:ext cx="2651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Options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15087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Cloud-First: OpenAI API for LLMs, CloudGPU for VLM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Local serving for latency-critical tasks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On-device inference using ONNX/TensorRT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051560"/>
            <a:ext cx="2651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Requirements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29000" y="15087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 NVIDIA T4/RTX 3060+ (8GB+ VRAM)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CPU: 8-core Intel/AMD processor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RAM: 16GB minimum, 32GB recommended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50GB SSD for models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1051560"/>
            <a:ext cx="2651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Security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3640" y="15087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HIPAA-compliant data handling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for all decisions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explainability (SHAP/attention)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Mitigation &amp; Contingencies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1: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Hallucination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13990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Mitigation: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pipeline, better prompt engineering, confidence thresholding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920240"/>
            <a:ext cx="54864" cy="7315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965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2: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Latency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22677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Mitigation: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Optimization, local inference, caching, early exit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78892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788920"/>
            <a:ext cx="54864" cy="7315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834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3: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Classification Accuracy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31363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Mitigation: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Fine-tuning, domain adaptation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3657600"/>
            <a:ext cx="54864" cy="7315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4: </a:t>
            </a:r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Vein Detection Failure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" y="40050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Mitigation: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Classical CV + VLMs, fallback to classical CV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51560"/>
            <a:ext cx="2651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AI/ML Frameworks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15087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LLMs: OpenAI GPT-4, Anthropic Claude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VLMs: CLIP, LLaVA, DINOv2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Frameworks: PyTorch, TensorFlow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LangChain, ChromaDB, FAISS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051560"/>
            <a:ext cx="2651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Infrastructure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29000" y="15087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FastAPI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PostgreSQL, Redis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Serving: vLLM, TensorRT, ONNX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Docker, Kubernetes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1051560"/>
            <a:ext cx="2651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1051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&amp; Monitoring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3640" y="15087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pytest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Monitoring: Prometheus, Grafana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Control: Git, GitHub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End-of-Internship Deliverables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09160"/>
            <a:ext cx="4572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CHIVA Ultrasound AI</a:t>
            </a:r>
            <a:endParaRPr lang="en-US" sz="900" dirty="0"/>
          </a:p>
        </p:txBody>
      </p:sp>
      <p:pic>
        <p:nvPicPr>
          <p:cNvPr id="6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4736592"/>
            <a:ext cx="320040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&amp; Systems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with all three tasks integrated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API with documentation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194560"/>
            <a:ext cx="54864" cy="10058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25146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technical documentation &amp; API specs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guide &amp; infrastructure recommendations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validation results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337560"/>
            <a:ext cx="8229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337560"/>
            <a:ext cx="54864" cy="7772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benchmarks &amp; evaluation reports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CHIVA Ultrasound AI - Internship Roadmap &amp; System Architecture</dc:title>
  <dc:subject>PptxGenJS Presentation</dc:subject>
  <dc:creator>CHIVA</dc:creator>
  <cp:lastModifiedBy>CHIVA</cp:lastModifiedBy>
  <cp:revision>1</cp:revision>
  <dcterms:created xsi:type="dcterms:W3CDTF">2026-04-08T19:54:35Z</dcterms:created>
  <dcterms:modified xsi:type="dcterms:W3CDTF">2026-04-08T19:54:35Z</dcterms:modified>
</cp:coreProperties>
</file>